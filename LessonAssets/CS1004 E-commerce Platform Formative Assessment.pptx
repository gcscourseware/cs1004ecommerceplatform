
<file path=[Content_Types].xml><?xml version="1.0" encoding="utf-8"?>
<Types xmlns="http://schemas.openxmlformats.org/package/2006/content-types">
  <Default Extension="jp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9" r:id="rId2"/>
    <p:sldId id="310" r:id="rId3"/>
    <p:sldId id="299" r:id="rId4"/>
    <p:sldId id="300" r:id="rId5"/>
    <p:sldId id="301" r:id="rId6"/>
    <p:sldId id="304" r:id="rId7"/>
    <p:sldId id="305" r:id="rId8"/>
    <p:sldId id="306" r:id="rId9"/>
    <p:sldId id="307" r:id="rId10"/>
    <p:sldId id="308" r:id="rId11"/>
    <p:sldId id="309"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55" d="100"/>
          <a:sy n="55" d="100"/>
        </p:scale>
        <p:origin x="98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F9933D-76A3-4713-BA17-0ACC5F61C70A}" type="datetimeFigureOut">
              <a:rPr lang="en-SG" smtClean="0"/>
              <a:t>19/3/2026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B8D8D-F2A5-47A4-8DF0-653802A2F3D3}" type="slidenum">
              <a:rPr lang="en-SG" smtClean="0"/>
              <a:t>‹#›</a:t>
            </a:fld>
            <a:endParaRPr lang="en-SG"/>
          </a:p>
        </p:txBody>
      </p:sp>
    </p:spTree>
    <p:extLst>
      <p:ext uri="{BB962C8B-B14F-4D97-AF65-F5344CB8AC3E}">
        <p14:creationId xmlns:p14="http://schemas.microsoft.com/office/powerpoint/2010/main" val="378261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61447-B444-43F2-8A34-98132DC1DF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dirty="0"/>
          </a:p>
        </p:txBody>
      </p:sp>
      <p:sp>
        <p:nvSpPr>
          <p:cNvPr id="3" name="Subtitle 2">
            <a:extLst>
              <a:ext uri="{FF2B5EF4-FFF2-40B4-BE49-F238E27FC236}">
                <a16:creationId xmlns:a16="http://schemas.microsoft.com/office/drawing/2014/main" id="{BD4CD788-F5A3-4B0E-82BA-20FE133FD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dirty="0"/>
          </a:p>
        </p:txBody>
      </p:sp>
      <p:sp>
        <p:nvSpPr>
          <p:cNvPr id="4" name="Date Placeholder 3">
            <a:extLst>
              <a:ext uri="{FF2B5EF4-FFF2-40B4-BE49-F238E27FC236}">
                <a16:creationId xmlns:a16="http://schemas.microsoft.com/office/drawing/2014/main" id="{509F5B45-3AD3-44F8-9D20-193D07010AA4}"/>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145B1800-E834-4A71-8E48-4037017344A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23E7BA7-2F2E-4BAB-A9DF-8B72384EEB38}"/>
              </a:ext>
            </a:extLst>
          </p:cNvPr>
          <p:cNvSpPr>
            <a:spLocks noGrp="1"/>
          </p:cNvSpPr>
          <p:nvPr>
            <p:ph type="sldNum" sz="quarter" idx="12"/>
          </p:nvPr>
        </p:nvSpPr>
        <p:spPr/>
        <p:txBody>
          <a:bodyPr/>
          <a:lstStyle/>
          <a:p>
            <a:fld id="{BD3DB6AF-6051-4A0F-9624-8CD5960808BD}" type="slidenum">
              <a:rPr lang="en-SG" smtClean="0"/>
              <a:t>‹#›</a:t>
            </a:fld>
            <a:endParaRPr lang="en-SG"/>
          </a:p>
        </p:txBody>
      </p:sp>
      <p:cxnSp>
        <p:nvCxnSpPr>
          <p:cNvPr id="9" name="Straight Connector 8">
            <a:extLst>
              <a:ext uri="{FF2B5EF4-FFF2-40B4-BE49-F238E27FC236}">
                <a16:creationId xmlns:a16="http://schemas.microsoft.com/office/drawing/2014/main" id="{EE5AC3CB-FC01-4B16-A955-28BD71ED9F43}"/>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A820F14F-6BB9-40B6-AFA7-E962CFEDA40A}"/>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CS1004 – E-commerce Platform</a:t>
            </a:r>
          </a:p>
        </p:txBody>
      </p:sp>
      <p:sp>
        <p:nvSpPr>
          <p:cNvPr id="11" name="Rectangle 10">
            <a:extLst>
              <a:ext uri="{FF2B5EF4-FFF2-40B4-BE49-F238E27FC236}">
                <a16:creationId xmlns:a16="http://schemas.microsoft.com/office/drawing/2014/main" id="{E806B02D-6E28-4CA2-A598-3992331417F2}"/>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2" name="Picture 11" descr="A picture containing clipart&#10;&#10;Description automatically generated">
            <a:extLst>
              <a:ext uri="{FF2B5EF4-FFF2-40B4-BE49-F238E27FC236}">
                <a16:creationId xmlns:a16="http://schemas.microsoft.com/office/drawing/2014/main" id="{D67A5063-F5F0-4E17-9B04-31DD5E5398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36525"/>
            <a:ext cx="1364857" cy="737891"/>
          </a:xfrm>
          <a:prstGeom prst="rect">
            <a:avLst/>
          </a:prstGeom>
        </p:spPr>
      </p:pic>
    </p:spTree>
    <p:extLst>
      <p:ext uri="{BB962C8B-B14F-4D97-AF65-F5344CB8AC3E}">
        <p14:creationId xmlns:p14="http://schemas.microsoft.com/office/powerpoint/2010/main" val="3376594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4B487-4B8D-49A9-8575-6AC3A18C2BD0}"/>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F4ED7219-D296-48DE-B18E-BF594AFA12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AA40184-BACC-4792-A4D6-566AB6683E56}"/>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F423E331-50B5-4DF3-8C16-6E997FD4789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8EBA7F0-6146-412C-A9DA-8FDD776CC81B}"/>
              </a:ext>
            </a:extLst>
          </p:cNvPr>
          <p:cNvSpPr>
            <a:spLocks noGrp="1"/>
          </p:cNvSpPr>
          <p:nvPr>
            <p:ph type="sldNum" sz="quarter" idx="12"/>
          </p:nvPr>
        </p:nvSpPr>
        <p:spPr/>
        <p:txBody>
          <a:bodyPr/>
          <a:lstStyle/>
          <a:p>
            <a:fld id="{BD3DB6AF-6051-4A0F-9624-8CD5960808BD}" type="slidenum">
              <a:rPr lang="en-SG" smtClean="0"/>
              <a:t>‹#›</a:t>
            </a:fld>
            <a:endParaRPr lang="en-SG"/>
          </a:p>
        </p:txBody>
      </p:sp>
      <p:cxnSp>
        <p:nvCxnSpPr>
          <p:cNvPr id="9" name="Straight Connector 8">
            <a:extLst>
              <a:ext uri="{FF2B5EF4-FFF2-40B4-BE49-F238E27FC236}">
                <a16:creationId xmlns:a16="http://schemas.microsoft.com/office/drawing/2014/main" id="{7F73F560-53E8-44BC-9DA6-264598EBB9A2}"/>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6F418F93-90E8-45FD-8BCB-10503F7AB85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2" name="Picture 11" descr="A picture containing clipart&#10;&#10;Description automatically generated">
            <a:extLst>
              <a:ext uri="{FF2B5EF4-FFF2-40B4-BE49-F238E27FC236}">
                <a16:creationId xmlns:a16="http://schemas.microsoft.com/office/drawing/2014/main" id="{E5E6404B-CF19-4AB8-9483-677E4EEE8D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136525"/>
            <a:ext cx="1364857" cy="737891"/>
          </a:xfrm>
          <a:prstGeom prst="rect">
            <a:avLst/>
          </a:prstGeom>
        </p:spPr>
      </p:pic>
      <p:sp>
        <p:nvSpPr>
          <p:cNvPr id="7" name="Rectangle 6">
            <a:extLst>
              <a:ext uri="{FF2B5EF4-FFF2-40B4-BE49-F238E27FC236}">
                <a16:creationId xmlns:a16="http://schemas.microsoft.com/office/drawing/2014/main" id="{F696B559-D481-F72B-F0AE-E662796769D2}"/>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CS1004 – E-commerce Platform</a:t>
            </a:r>
          </a:p>
        </p:txBody>
      </p:sp>
    </p:spTree>
    <p:extLst>
      <p:ext uri="{BB962C8B-B14F-4D97-AF65-F5344CB8AC3E}">
        <p14:creationId xmlns:p14="http://schemas.microsoft.com/office/powerpoint/2010/main" val="255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85DE-BB38-4E44-888F-48814BF003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27CC9B50-38D2-454E-8097-D70E24E453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9A6819-75AA-4A3F-948B-028820A95FF3}"/>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EDDC1A4A-AF03-450B-AD38-B477F10667B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CE55ABD-AF51-4647-8FA3-E340481ED8D1}"/>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818736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7A4A-957C-41A9-BE31-6D1B6FF1CEB2}"/>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9F9CE808-E60C-4E5A-873C-F9609D8BD7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2F0EE9D-59D5-480F-A286-46042DF58C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3838D38E-499E-4C14-9ED4-2E06586FCD93}"/>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6" name="Footer Placeholder 5">
            <a:extLst>
              <a:ext uri="{FF2B5EF4-FFF2-40B4-BE49-F238E27FC236}">
                <a16:creationId xmlns:a16="http://schemas.microsoft.com/office/drawing/2014/main" id="{C7B72310-4C55-4AE1-9C76-BECAD983EFA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D075886-47C7-4251-9EEA-2123E113BBC6}"/>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858134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733F-638B-434C-BF67-6B16A4504068}"/>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7C06F2B5-5B3D-4CE3-AC67-A3DD539318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68CA23-6F63-4D05-8887-9B9CBEE6F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F88E8A94-387D-40D4-9E69-4219F3417A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54DA84-F08A-4892-95CE-A0AC8D6BC9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F477C99E-797D-4811-B63F-0429F70EEE41}"/>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8" name="Footer Placeholder 7">
            <a:extLst>
              <a:ext uri="{FF2B5EF4-FFF2-40B4-BE49-F238E27FC236}">
                <a16:creationId xmlns:a16="http://schemas.microsoft.com/office/drawing/2014/main" id="{23750CEE-B2EF-4F99-B896-DB732E77B98D}"/>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60FF745A-65EC-4BBE-AD47-73CAC76087DB}"/>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1729006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1067-ADF9-4E36-B131-80F716AD303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79E715DA-4EA0-4D0C-A7B1-75AFA4A381DC}"/>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4" name="Footer Placeholder 3">
            <a:extLst>
              <a:ext uri="{FF2B5EF4-FFF2-40B4-BE49-F238E27FC236}">
                <a16:creationId xmlns:a16="http://schemas.microsoft.com/office/drawing/2014/main" id="{6D228E58-6F09-4B44-B8C9-69E45557B6C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5DDA3E0-100C-4DB4-AD03-05F929858760}"/>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445631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7DA86-BA46-4A94-8030-50BDD53EEE52}"/>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3" name="Footer Placeholder 2">
            <a:extLst>
              <a:ext uri="{FF2B5EF4-FFF2-40B4-BE49-F238E27FC236}">
                <a16:creationId xmlns:a16="http://schemas.microsoft.com/office/drawing/2014/main" id="{C8074C45-BB22-4C8F-A26F-C1EE854E69E2}"/>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B6DD6BE8-06C1-440A-B72F-6C629F6BF558}"/>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3500212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D596-A316-42CB-8EBA-E289BDC54A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989EB968-F3A1-42E8-A8E4-FB4C96C854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21F77055-738F-46AB-9126-EF45B09C12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2447E6-8CA0-45CB-ABE3-54EA3654423D}"/>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6" name="Footer Placeholder 5">
            <a:extLst>
              <a:ext uri="{FF2B5EF4-FFF2-40B4-BE49-F238E27FC236}">
                <a16:creationId xmlns:a16="http://schemas.microsoft.com/office/drawing/2014/main" id="{4673B57A-D30B-4DA3-B95B-DCC50065439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469A50B-8E51-4645-BE3C-1DEFC177F1C8}"/>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4124755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3606-95D2-461E-ADAD-836665DF2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AEA5F61-B4E3-4F3B-902F-13D04B757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AE57F163-4B1B-4953-B1B7-C3E889662A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E1455C-8DDC-4E8E-A83C-A72DB358772A}"/>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6" name="Footer Placeholder 5">
            <a:extLst>
              <a:ext uri="{FF2B5EF4-FFF2-40B4-BE49-F238E27FC236}">
                <a16:creationId xmlns:a16="http://schemas.microsoft.com/office/drawing/2014/main" id="{3D71FB97-AD0C-4A5B-9CAE-34C733B92F41}"/>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1DFBF65-B6AE-4D61-9FD4-3D0B919BCF04}"/>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703805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CBDE3-9398-4121-815A-62743BE6CDA4}"/>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98A5190-EBC8-4DA8-9B67-B67D5E1542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401FE5C-D662-422F-8382-2EE4E0464542}"/>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7E6DB556-D37D-434D-9628-C9BAE6DB33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04BEF01-B45B-4E54-B05B-0C8CBB7C613A}"/>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158773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802E40-32E7-44A9-8BF4-32FAA9B0E5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8A28C05C-1D3E-4B3B-B223-73852A065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ED8AB1E-D84D-4F78-8205-57C5D2DD9AE1}"/>
              </a:ext>
            </a:extLst>
          </p:cNvPr>
          <p:cNvSpPr>
            <a:spLocks noGrp="1"/>
          </p:cNvSpPr>
          <p:nvPr>
            <p:ph type="dt" sz="half" idx="10"/>
          </p:nvPr>
        </p:nvSpPr>
        <p:spPr/>
        <p:txBody>
          <a:body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B562A0C2-0682-47E6-8D2C-F7BE53C4CE1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E4952B5-E37F-43A3-ABCA-B9AC2F22DB0D}"/>
              </a:ext>
            </a:extLst>
          </p:cNvPr>
          <p:cNvSpPr>
            <a:spLocks noGrp="1"/>
          </p:cNvSpPr>
          <p:nvPr>
            <p:ph type="sldNum" sz="quarter" idx="12"/>
          </p:nvPr>
        </p:nvSpPr>
        <p:spPr/>
        <p:txBody>
          <a:bodyPr/>
          <a:lstStyle/>
          <a:p>
            <a:fld id="{BD3DB6AF-6051-4A0F-9624-8CD5960808BD}" type="slidenum">
              <a:rPr lang="en-SG" smtClean="0"/>
              <a:t>‹#›</a:t>
            </a:fld>
            <a:endParaRPr lang="en-SG"/>
          </a:p>
        </p:txBody>
      </p:sp>
    </p:spTree>
    <p:extLst>
      <p:ext uri="{BB962C8B-B14F-4D97-AF65-F5344CB8AC3E}">
        <p14:creationId xmlns:p14="http://schemas.microsoft.com/office/powerpoint/2010/main" val="2700388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4A05A8-9416-4EBF-A6D3-BA5F7EB9BB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6E107F0-23DF-474F-A9D0-3A4FBBE415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EA78A3E-85E8-40F5-8B21-FBF4E3855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CCEB45-63C5-425B-8D13-3F29452E1276}" type="datetimeFigureOut">
              <a:rPr lang="en-SG" smtClean="0"/>
              <a:t>19/3/2026</a:t>
            </a:fld>
            <a:endParaRPr lang="en-SG"/>
          </a:p>
        </p:txBody>
      </p:sp>
      <p:sp>
        <p:nvSpPr>
          <p:cNvPr id="5" name="Footer Placeholder 4">
            <a:extLst>
              <a:ext uri="{FF2B5EF4-FFF2-40B4-BE49-F238E27FC236}">
                <a16:creationId xmlns:a16="http://schemas.microsoft.com/office/drawing/2014/main" id="{56B8D8C3-7CC6-4473-8575-91E3FF4FD9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E42EEC86-BE78-4779-ABFD-99BC06C523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3DB6AF-6051-4A0F-9624-8CD5960808BD}" type="slidenum">
              <a:rPr lang="en-SG" smtClean="0"/>
              <a:t>‹#›</a:t>
            </a:fld>
            <a:endParaRPr lang="en-SG"/>
          </a:p>
        </p:txBody>
      </p:sp>
    </p:spTree>
    <p:extLst>
      <p:ext uri="{BB962C8B-B14F-4D97-AF65-F5344CB8AC3E}">
        <p14:creationId xmlns:p14="http://schemas.microsoft.com/office/powerpoint/2010/main" val="3082186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FCE3D-499A-49AB-ADD8-785D0A08B3ED}"/>
              </a:ext>
            </a:extLst>
          </p:cNvPr>
          <p:cNvSpPr>
            <a:spLocks noGrp="1"/>
          </p:cNvSpPr>
          <p:nvPr>
            <p:ph type="ctrTitle"/>
          </p:nvPr>
        </p:nvSpPr>
        <p:spPr>
          <a:xfrm>
            <a:off x="1524000" y="710588"/>
            <a:ext cx="9144000" cy="2387600"/>
          </a:xfrm>
        </p:spPr>
        <p:txBody>
          <a:bodyPr>
            <a:normAutofit/>
          </a:bodyPr>
          <a:lstStyle/>
          <a:p>
            <a:r>
              <a:rPr lang="en-US" b="1" dirty="0"/>
              <a:t>CS1004 – E-Commerce Platform</a:t>
            </a:r>
            <a:endParaRPr lang="en-SG" b="1" dirty="0"/>
          </a:p>
        </p:txBody>
      </p:sp>
      <p:graphicFrame>
        <p:nvGraphicFramePr>
          <p:cNvPr id="4" name="Table 4">
            <a:extLst>
              <a:ext uri="{FF2B5EF4-FFF2-40B4-BE49-F238E27FC236}">
                <a16:creationId xmlns:a16="http://schemas.microsoft.com/office/drawing/2014/main" id="{FCE6FD10-A894-4A74-B2A3-FB6AAED316A9}"/>
              </a:ext>
            </a:extLst>
          </p:cNvPr>
          <p:cNvGraphicFramePr>
            <a:graphicFrameLocks noGrp="1"/>
          </p:cNvGraphicFramePr>
          <p:nvPr>
            <p:extLst>
              <p:ext uri="{D42A27DB-BD31-4B8C-83A1-F6EECF244321}">
                <p14:modId xmlns:p14="http://schemas.microsoft.com/office/powerpoint/2010/main" val="963178594"/>
              </p:ext>
            </p:extLst>
          </p:nvPr>
        </p:nvGraphicFramePr>
        <p:xfrm>
          <a:off x="1313542" y="3263318"/>
          <a:ext cx="9929845" cy="1057012"/>
        </p:xfrm>
        <a:graphic>
          <a:graphicData uri="http://schemas.openxmlformats.org/drawingml/2006/table">
            <a:tbl>
              <a:tblPr firstRow="1" bandRow="1">
                <a:tableStyleId>{5C22544A-7EE6-4342-B048-85BDC9FD1C3A}</a:tableStyleId>
              </a:tblPr>
              <a:tblGrid>
                <a:gridCol w="9929845">
                  <a:extLst>
                    <a:ext uri="{9D8B030D-6E8A-4147-A177-3AD203B41FA5}">
                      <a16:colId xmlns:a16="http://schemas.microsoft.com/office/drawing/2014/main" val="2563540020"/>
                    </a:ext>
                  </a:extLst>
                </a:gridCol>
              </a:tblGrid>
              <a:tr h="1057012">
                <a:tc>
                  <a:txBody>
                    <a:bodyPr/>
                    <a:lstStyle/>
                    <a:p>
                      <a:pPr algn="ctr"/>
                      <a:r>
                        <a:rPr lang="en-SG" sz="3600" b="0" dirty="0"/>
                        <a:t>Formative Assessment (3 Hours and 10 Mins)</a:t>
                      </a:r>
                    </a:p>
                  </a:txBody>
                  <a:tcPr/>
                </a:tc>
                <a:extLst>
                  <a:ext uri="{0D108BD9-81ED-4DB2-BD59-A6C34878D82A}">
                    <a16:rowId xmlns:a16="http://schemas.microsoft.com/office/drawing/2014/main" val="3643198376"/>
                  </a:ext>
                </a:extLst>
              </a:tr>
            </a:tbl>
          </a:graphicData>
        </a:graphic>
      </p:graphicFrame>
      <p:graphicFrame>
        <p:nvGraphicFramePr>
          <p:cNvPr id="6" name="Table 6">
            <a:extLst>
              <a:ext uri="{FF2B5EF4-FFF2-40B4-BE49-F238E27FC236}">
                <a16:creationId xmlns:a16="http://schemas.microsoft.com/office/drawing/2014/main" id="{4C499F40-ED94-4A54-A6C0-2660AE997D04}"/>
              </a:ext>
            </a:extLst>
          </p:cNvPr>
          <p:cNvGraphicFramePr>
            <a:graphicFrameLocks noGrp="1"/>
          </p:cNvGraphicFramePr>
          <p:nvPr>
            <p:extLst>
              <p:ext uri="{D42A27DB-BD31-4B8C-83A1-F6EECF244321}">
                <p14:modId xmlns:p14="http://schemas.microsoft.com/office/powerpoint/2010/main" val="925370098"/>
              </p:ext>
            </p:extLst>
          </p:nvPr>
        </p:nvGraphicFramePr>
        <p:xfrm>
          <a:off x="1313541" y="4657740"/>
          <a:ext cx="9929846" cy="1463040"/>
        </p:xfrm>
        <a:graphic>
          <a:graphicData uri="http://schemas.openxmlformats.org/drawingml/2006/table">
            <a:tbl>
              <a:tblPr firstRow="1" bandRow="1">
                <a:tableStyleId>{5C22544A-7EE6-4342-B048-85BDC9FD1C3A}</a:tableStyleId>
              </a:tblPr>
              <a:tblGrid>
                <a:gridCol w="6374883">
                  <a:extLst>
                    <a:ext uri="{9D8B030D-6E8A-4147-A177-3AD203B41FA5}">
                      <a16:colId xmlns:a16="http://schemas.microsoft.com/office/drawing/2014/main" val="776233894"/>
                    </a:ext>
                  </a:extLst>
                </a:gridCol>
                <a:gridCol w="3554963">
                  <a:extLst>
                    <a:ext uri="{9D8B030D-6E8A-4147-A177-3AD203B41FA5}">
                      <a16:colId xmlns:a16="http://schemas.microsoft.com/office/drawing/2014/main" val="34218562"/>
                    </a:ext>
                  </a:extLst>
                </a:gridCol>
              </a:tblGrid>
              <a:tr h="370840">
                <a:tc>
                  <a:txBody>
                    <a:bodyPr/>
                    <a:lstStyle/>
                    <a:p>
                      <a:endParaRPr lang="en-SG" b="1" dirty="0">
                        <a:solidFill>
                          <a:schemeClr val="tx1"/>
                        </a:solidFill>
                      </a:endParaRPr>
                    </a:p>
                    <a:p>
                      <a:r>
                        <a:rPr lang="en-SG" b="1" dirty="0">
                          <a:solidFill>
                            <a:schemeClr val="tx1"/>
                          </a:solidFill>
                        </a:rPr>
                        <a:t>Learner Name: </a:t>
                      </a:r>
                    </a:p>
                    <a:p>
                      <a:endParaRPr lang="en-SG" b="1" dirty="0">
                        <a:solidFill>
                          <a:schemeClr val="tx1"/>
                        </a:solidFill>
                      </a:endParaRPr>
                    </a:p>
                    <a:p>
                      <a:r>
                        <a:rPr lang="en-SG" b="1" dirty="0">
                          <a:solidFill>
                            <a:schemeClr val="tx1"/>
                          </a:solidFill>
                        </a:rPr>
                        <a:t>Learner NRIC / FIN No.: [last 3 digits and letter]</a:t>
                      </a:r>
                    </a:p>
                    <a:p>
                      <a:endParaRPr lang="en-SG" b="1" dirty="0">
                        <a:solidFill>
                          <a:schemeClr val="tx1"/>
                        </a:solidFill>
                      </a:endParaRPr>
                    </a:p>
                  </a:txBody>
                  <a:tcPr>
                    <a:solidFill>
                      <a:schemeClr val="bg1"/>
                    </a:solidFill>
                  </a:tcPr>
                </a:tc>
                <a:tc>
                  <a:txBody>
                    <a:bodyPr/>
                    <a:lstStyle/>
                    <a:p>
                      <a:endParaRPr lang="en-SG" dirty="0">
                        <a:solidFill>
                          <a:schemeClr val="tx1"/>
                        </a:solidFill>
                      </a:endParaRPr>
                    </a:p>
                    <a:p>
                      <a:r>
                        <a:rPr lang="en-SG" dirty="0">
                          <a:solidFill>
                            <a:schemeClr val="tx1"/>
                          </a:solidFill>
                        </a:rPr>
                        <a:t>Date: </a:t>
                      </a:r>
                    </a:p>
                  </a:txBody>
                  <a:tcPr>
                    <a:solidFill>
                      <a:schemeClr val="bg1"/>
                    </a:solidFill>
                  </a:tcPr>
                </a:tc>
                <a:extLst>
                  <a:ext uri="{0D108BD9-81ED-4DB2-BD59-A6C34878D82A}">
                    <a16:rowId xmlns:a16="http://schemas.microsoft.com/office/drawing/2014/main" val="1470501566"/>
                  </a:ext>
                </a:extLst>
              </a:tr>
            </a:tbl>
          </a:graphicData>
        </a:graphic>
      </p:graphicFrame>
    </p:spTree>
    <p:extLst>
      <p:ext uri="{BB962C8B-B14F-4D97-AF65-F5344CB8AC3E}">
        <p14:creationId xmlns:p14="http://schemas.microsoft.com/office/powerpoint/2010/main" val="2493723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7214-C74C-91A3-C04D-3D6BE16E8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E5BAD-838E-24D7-5DC1-AEB6B74928AA}"/>
              </a:ext>
            </a:extLst>
          </p:cNvPr>
          <p:cNvSpPr>
            <a:spLocks noGrp="1"/>
          </p:cNvSpPr>
          <p:nvPr>
            <p:ph type="title"/>
          </p:nvPr>
        </p:nvSpPr>
        <p:spPr>
          <a:xfrm>
            <a:off x="838200" y="330401"/>
            <a:ext cx="10515600" cy="1325563"/>
          </a:xfrm>
        </p:spPr>
        <p:txBody>
          <a:bodyPr/>
          <a:lstStyle/>
          <a:p>
            <a:pPr algn="ctr"/>
            <a:r>
              <a:rPr lang="en-SG" dirty="0"/>
              <a:t>Domain Activity (10 Marks) </a:t>
            </a:r>
          </a:p>
        </p:txBody>
      </p:sp>
      <p:sp>
        <p:nvSpPr>
          <p:cNvPr id="4" name="Title 1">
            <a:extLst>
              <a:ext uri="{FF2B5EF4-FFF2-40B4-BE49-F238E27FC236}">
                <a16:creationId xmlns:a16="http://schemas.microsoft.com/office/drawing/2014/main" id="{93A03CD9-9C39-138C-8B30-0697C09CCB7D}"/>
              </a:ext>
            </a:extLst>
          </p:cNvPr>
          <p:cNvSpPr txBox="1">
            <a:spLocks/>
          </p:cNvSpPr>
          <p:nvPr/>
        </p:nvSpPr>
        <p:spPr>
          <a:xfrm>
            <a:off x="1048473" y="12698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BDBE79EF-26C7-F69A-14B0-BDDB13D52965}"/>
              </a:ext>
            </a:extLst>
          </p:cNvPr>
          <p:cNvGraphicFramePr>
            <a:graphicFrameLocks noGrp="1"/>
          </p:cNvGraphicFramePr>
          <p:nvPr>
            <p:extLst>
              <p:ext uri="{D42A27DB-BD31-4B8C-83A1-F6EECF244321}">
                <p14:modId xmlns:p14="http://schemas.microsoft.com/office/powerpoint/2010/main" val="773459186"/>
              </p:ext>
            </p:extLst>
          </p:nvPr>
        </p:nvGraphicFramePr>
        <p:xfrm>
          <a:off x="1048473" y="2410023"/>
          <a:ext cx="8127999" cy="2473960"/>
        </p:xfrm>
        <a:graphic>
          <a:graphicData uri="http://schemas.openxmlformats.org/drawingml/2006/table">
            <a:tbl>
              <a:tblPr firstRow="1" bandRow="1">
                <a:tableStyleId>{5C22544A-7EE6-4342-B048-85BDC9FD1C3A}</a:tableStyleId>
              </a:tblPr>
              <a:tblGrid>
                <a:gridCol w="1486383">
                  <a:extLst>
                    <a:ext uri="{9D8B030D-6E8A-4147-A177-3AD203B41FA5}">
                      <a16:colId xmlns:a16="http://schemas.microsoft.com/office/drawing/2014/main" val="1800813412"/>
                    </a:ext>
                  </a:extLst>
                </a:gridCol>
                <a:gridCol w="3932283">
                  <a:extLst>
                    <a:ext uri="{9D8B030D-6E8A-4147-A177-3AD203B41FA5}">
                      <a16:colId xmlns:a16="http://schemas.microsoft.com/office/drawing/2014/main" val="4080650455"/>
                    </a:ext>
                  </a:extLst>
                </a:gridCol>
                <a:gridCol w="2709333">
                  <a:extLst>
                    <a:ext uri="{9D8B030D-6E8A-4147-A177-3AD203B41FA5}">
                      <a16:colId xmlns:a16="http://schemas.microsoft.com/office/drawing/2014/main" val="2770320181"/>
                    </a:ext>
                  </a:extLst>
                </a:gridCol>
              </a:tblGrid>
              <a:tr h="370840">
                <a:tc>
                  <a:txBody>
                    <a:bodyPr/>
                    <a:lstStyle/>
                    <a:p>
                      <a:r>
                        <a:rPr lang="en-SG" dirty="0"/>
                        <a:t>Activity #</a:t>
                      </a:r>
                    </a:p>
                  </a:txBody>
                  <a:tcPr/>
                </a:tc>
                <a:tc>
                  <a:txBody>
                    <a:bodyPr/>
                    <a:lstStyle/>
                    <a:p>
                      <a:r>
                        <a:rPr lang="en-SG" dirty="0"/>
                        <a:t>Requirements</a:t>
                      </a:r>
                    </a:p>
                  </a:txBody>
                  <a:tcPr/>
                </a:tc>
                <a:tc>
                  <a:txBody>
                    <a:bodyPr/>
                    <a:lstStyle/>
                    <a:p>
                      <a:r>
                        <a:rPr lang="en-SG" dirty="0"/>
                        <a:t>Marks</a:t>
                      </a:r>
                    </a:p>
                  </a:txBody>
                  <a:tcPr/>
                </a:tc>
                <a:extLst>
                  <a:ext uri="{0D108BD9-81ED-4DB2-BD59-A6C34878D82A}">
                    <a16:rowId xmlns:a16="http://schemas.microsoft.com/office/drawing/2014/main" val="3814175881"/>
                  </a:ext>
                </a:extLst>
              </a:tr>
              <a:tr h="370840">
                <a:tc>
                  <a:txBody>
                    <a:bodyPr/>
                    <a:lstStyle/>
                    <a:p>
                      <a:r>
                        <a:rPr lang="en-SG" dirty="0"/>
                        <a:t>Activity 1</a:t>
                      </a:r>
                    </a:p>
                  </a:txBody>
                  <a:tcPr/>
                </a:tc>
                <a:tc>
                  <a:txBody>
                    <a:bodyPr/>
                    <a:lstStyle/>
                    <a:p>
                      <a:r>
                        <a:rPr lang="en-SG" dirty="0"/>
                        <a:t>Provided the domain for Shopify, Wix and WordPress (Note: Can be the subdomain or the main domain purchased (if any))</a:t>
                      </a:r>
                    </a:p>
                  </a:txBody>
                  <a:tcPr/>
                </a:tc>
                <a:tc>
                  <a:txBody>
                    <a:bodyPr/>
                    <a:lstStyle/>
                    <a:p>
                      <a:r>
                        <a:rPr lang="en-SG" dirty="0"/>
                        <a:t>5</a:t>
                      </a:r>
                    </a:p>
                  </a:txBody>
                  <a:tcPr/>
                </a:tc>
                <a:extLst>
                  <a:ext uri="{0D108BD9-81ED-4DB2-BD59-A6C34878D82A}">
                    <a16:rowId xmlns:a16="http://schemas.microsoft.com/office/drawing/2014/main" val="3863238905"/>
                  </a:ext>
                </a:extLst>
              </a:tr>
              <a:tr h="370840">
                <a:tc>
                  <a:txBody>
                    <a:bodyPr/>
                    <a:lstStyle/>
                    <a:p>
                      <a:r>
                        <a:rPr lang="en-SG" dirty="0"/>
                        <a:t>Activity 2</a:t>
                      </a:r>
                    </a:p>
                  </a:txBody>
                  <a:tcPr/>
                </a:tc>
                <a:tc>
                  <a:txBody>
                    <a:bodyPr/>
                    <a:lstStyle/>
                    <a:p>
                      <a:r>
                        <a:rPr lang="en-SG" dirty="0"/>
                        <a:t>Provided the correct screenshots of the registered domain for each CMS (Shopify, Wix and WordPress)</a:t>
                      </a:r>
                    </a:p>
                  </a:txBody>
                  <a:tcPr/>
                </a:tc>
                <a:tc>
                  <a:txBody>
                    <a:bodyPr/>
                    <a:lstStyle/>
                    <a:p>
                      <a:r>
                        <a:rPr lang="en-SG" dirty="0"/>
                        <a:t>5</a:t>
                      </a:r>
                    </a:p>
                  </a:txBody>
                  <a:tcPr/>
                </a:tc>
                <a:extLst>
                  <a:ext uri="{0D108BD9-81ED-4DB2-BD59-A6C34878D82A}">
                    <a16:rowId xmlns:a16="http://schemas.microsoft.com/office/drawing/2014/main" val="1740075226"/>
                  </a:ext>
                </a:extLst>
              </a:tr>
            </a:tbl>
          </a:graphicData>
        </a:graphic>
      </p:graphicFrame>
    </p:spTree>
    <p:extLst>
      <p:ext uri="{BB962C8B-B14F-4D97-AF65-F5344CB8AC3E}">
        <p14:creationId xmlns:p14="http://schemas.microsoft.com/office/powerpoint/2010/main" val="1713266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2544A-968A-4A75-BB9D-CE1D7A4DA16D}"/>
              </a:ext>
            </a:extLst>
          </p:cNvPr>
          <p:cNvSpPr>
            <a:spLocks noGrp="1"/>
          </p:cNvSpPr>
          <p:nvPr>
            <p:ph type="title"/>
          </p:nvPr>
        </p:nvSpPr>
        <p:spPr/>
        <p:txBody>
          <a:bodyPr/>
          <a:lstStyle/>
          <a:p>
            <a:r>
              <a:rPr lang="en-SG" b="1" dirty="0"/>
              <a:t>Activity 1  - 1/2 </a:t>
            </a:r>
          </a:p>
        </p:txBody>
      </p:sp>
      <p:sp>
        <p:nvSpPr>
          <p:cNvPr id="3" name="Content Placeholder 2">
            <a:extLst>
              <a:ext uri="{FF2B5EF4-FFF2-40B4-BE49-F238E27FC236}">
                <a16:creationId xmlns:a16="http://schemas.microsoft.com/office/drawing/2014/main" id="{ACCF6043-3130-42A3-A78E-4001D742F59E}"/>
              </a:ext>
            </a:extLst>
          </p:cNvPr>
          <p:cNvSpPr>
            <a:spLocks noGrp="1"/>
          </p:cNvSpPr>
          <p:nvPr>
            <p:ph idx="1"/>
          </p:nvPr>
        </p:nvSpPr>
        <p:spPr/>
        <p:txBody>
          <a:bodyPr/>
          <a:lstStyle/>
          <a:p>
            <a:pPr marL="0" indent="0">
              <a:buNone/>
            </a:pPr>
            <a:r>
              <a:rPr lang="en-SG" dirty="0"/>
              <a:t>Write the domain name generated by each CMS for your business </a:t>
            </a:r>
          </a:p>
          <a:p>
            <a:pPr marL="0" indent="0">
              <a:buNone/>
            </a:pPr>
            <a:endParaRPr lang="en-SG" dirty="0">
              <a:solidFill>
                <a:srgbClr val="FF0000"/>
              </a:solidFill>
            </a:endParaRPr>
          </a:p>
        </p:txBody>
      </p:sp>
      <p:pic>
        <p:nvPicPr>
          <p:cNvPr id="4" name="Picture 3">
            <a:extLst>
              <a:ext uri="{FF2B5EF4-FFF2-40B4-BE49-F238E27FC236}">
                <a16:creationId xmlns:a16="http://schemas.microsoft.com/office/drawing/2014/main" id="{7C779B16-065B-4A24-9281-BE30DB5379C3}"/>
              </a:ext>
            </a:extLst>
          </p:cNvPr>
          <p:cNvPicPr>
            <a:picLocks noChangeAspect="1"/>
          </p:cNvPicPr>
          <p:nvPr/>
        </p:nvPicPr>
        <p:blipFill>
          <a:blip r:embed="rId2"/>
          <a:stretch>
            <a:fillRect/>
          </a:stretch>
        </p:blipFill>
        <p:spPr>
          <a:xfrm>
            <a:off x="5769428" y="620923"/>
            <a:ext cx="653143" cy="653143"/>
          </a:xfrm>
          <a:prstGeom prst="rect">
            <a:avLst/>
          </a:prstGeom>
        </p:spPr>
      </p:pic>
      <p:graphicFrame>
        <p:nvGraphicFramePr>
          <p:cNvPr id="5" name="Table 5">
            <a:extLst>
              <a:ext uri="{FF2B5EF4-FFF2-40B4-BE49-F238E27FC236}">
                <a16:creationId xmlns:a16="http://schemas.microsoft.com/office/drawing/2014/main" id="{A14C2E2C-0CBD-4858-8383-1C625AE5AD21}"/>
              </a:ext>
            </a:extLst>
          </p:cNvPr>
          <p:cNvGraphicFramePr>
            <a:graphicFrameLocks noGrp="1"/>
          </p:cNvGraphicFramePr>
          <p:nvPr>
            <p:extLst>
              <p:ext uri="{D42A27DB-BD31-4B8C-83A1-F6EECF244321}">
                <p14:modId xmlns:p14="http://schemas.microsoft.com/office/powerpoint/2010/main" val="3751650743"/>
              </p:ext>
            </p:extLst>
          </p:nvPr>
        </p:nvGraphicFramePr>
        <p:xfrm>
          <a:off x="974986" y="3116020"/>
          <a:ext cx="10599698" cy="2127099"/>
        </p:xfrm>
        <a:graphic>
          <a:graphicData uri="http://schemas.openxmlformats.org/drawingml/2006/table">
            <a:tbl>
              <a:tblPr firstRow="1" bandRow="1">
                <a:tableStyleId>{5C22544A-7EE6-4342-B048-85BDC9FD1C3A}</a:tableStyleId>
              </a:tblPr>
              <a:tblGrid>
                <a:gridCol w="5223026">
                  <a:extLst>
                    <a:ext uri="{9D8B030D-6E8A-4147-A177-3AD203B41FA5}">
                      <a16:colId xmlns:a16="http://schemas.microsoft.com/office/drawing/2014/main" val="1142797428"/>
                    </a:ext>
                  </a:extLst>
                </a:gridCol>
                <a:gridCol w="5376672">
                  <a:extLst>
                    <a:ext uri="{9D8B030D-6E8A-4147-A177-3AD203B41FA5}">
                      <a16:colId xmlns:a16="http://schemas.microsoft.com/office/drawing/2014/main" val="3733657391"/>
                    </a:ext>
                  </a:extLst>
                </a:gridCol>
              </a:tblGrid>
              <a:tr h="709033">
                <a:tc>
                  <a:txBody>
                    <a:bodyPr/>
                    <a:lstStyle/>
                    <a:p>
                      <a:r>
                        <a:rPr lang="en-SG" sz="2800" dirty="0"/>
                        <a:t>Shopify Domain/URL</a:t>
                      </a:r>
                    </a:p>
                  </a:txBody>
                  <a:tcPr/>
                </a:tc>
                <a:tc>
                  <a:txBody>
                    <a:bodyPr/>
                    <a:lstStyle/>
                    <a:p>
                      <a:endParaRPr lang="en-SG" sz="2800" dirty="0"/>
                    </a:p>
                  </a:txBody>
                  <a:tcPr/>
                </a:tc>
                <a:extLst>
                  <a:ext uri="{0D108BD9-81ED-4DB2-BD59-A6C34878D82A}">
                    <a16:rowId xmlns:a16="http://schemas.microsoft.com/office/drawing/2014/main" val="3241149498"/>
                  </a:ext>
                </a:extLst>
              </a:tr>
              <a:tr h="709033">
                <a:tc>
                  <a:txBody>
                    <a:bodyPr/>
                    <a:lstStyle/>
                    <a:p>
                      <a:r>
                        <a:rPr lang="en-SG" sz="2800" dirty="0"/>
                        <a:t>Wix Domain/URL</a:t>
                      </a:r>
                    </a:p>
                  </a:txBody>
                  <a:tcPr/>
                </a:tc>
                <a:tc>
                  <a:txBody>
                    <a:bodyPr/>
                    <a:lstStyle/>
                    <a:p>
                      <a:endParaRPr lang="en-SG" sz="2800" dirty="0"/>
                    </a:p>
                  </a:txBody>
                  <a:tcPr/>
                </a:tc>
                <a:extLst>
                  <a:ext uri="{0D108BD9-81ED-4DB2-BD59-A6C34878D82A}">
                    <a16:rowId xmlns:a16="http://schemas.microsoft.com/office/drawing/2014/main" val="3981513686"/>
                  </a:ext>
                </a:extLst>
              </a:tr>
              <a:tr h="709033">
                <a:tc>
                  <a:txBody>
                    <a:bodyPr/>
                    <a:lstStyle/>
                    <a:p>
                      <a:r>
                        <a:rPr lang="en-SG" sz="2800" dirty="0"/>
                        <a:t>WordPress Domain/URL</a:t>
                      </a:r>
                    </a:p>
                  </a:txBody>
                  <a:tcPr/>
                </a:tc>
                <a:tc>
                  <a:txBody>
                    <a:bodyPr/>
                    <a:lstStyle/>
                    <a:p>
                      <a:endParaRPr lang="en-SG" sz="2800" dirty="0"/>
                    </a:p>
                  </a:txBody>
                  <a:tcPr/>
                </a:tc>
                <a:extLst>
                  <a:ext uri="{0D108BD9-81ED-4DB2-BD59-A6C34878D82A}">
                    <a16:rowId xmlns:a16="http://schemas.microsoft.com/office/drawing/2014/main" val="389805479"/>
                  </a:ext>
                </a:extLst>
              </a:tr>
            </a:tbl>
          </a:graphicData>
        </a:graphic>
      </p:graphicFrame>
      <p:pic>
        <p:nvPicPr>
          <p:cNvPr id="6" name="Picture 5">
            <a:extLst>
              <a:ext uri="{FF2B5EF4-FFF2-40B4-BE49-F238E27FC236}">
                <a16:creationId xmlns:a16="http://schemas.microsoft.com/office/drawing/2014/main" id="{A544BDAB-D132-B1BB-BAAB-A72B7F21496F}"/>
              </a:ext>
            </a:extLst>
          </p:cNvPr>
          <p:cNvPicPr>
            <a:picLocks noChangeAspect="1"/>
          </p:cNvPicPr>
          <p:nvPr/>
        </p:nvPicPr>
        <p:blipFill rotWithShape="1">
          <a:blip r:embed="rId3"/>
          <a:srcRect l="5441" t="21126" r="5209" b="8571"/>
          <a:stretch/>
        </p:blipFill>
        <p:spPr>
          <a:xfrm>
            <a:off x="6592661" y="655647"/>
            <a:ext cx="830102" cy="653142"/>
          </a:xfrm>
          <a:prstGeom prst="rect">
            <a:avLst/>
          </a:prstGeom>
        </p:spPr>
      </p:pic>
    </p:spTree>
    <p:extLst>
      <p:ext uri="{BB962C8B-B14F-4D97-AF65-F5344CB8AC3E}">
        <p14:creationId xmlns:p14="http://schemas.microsoft.com/office/powerpoint/2010/main" val="201382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39BB-8FFD-9BF1-4F21-8D9B9EA36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52BBE-4E94-A5A5-9B40-95C19BD06602}"/>
              </a:ext>
            </a:extLst>
          </p:cNvPr>
          <p:cNvSpPr>
            <a:spLocks noGrp="1"/>
          </p:cNvSpPr>
          <p:nvPr>
            <p:ph type="title"/>
          </p:nvPr>
        </p:nvSpPr>
        <p:spPr/>
        <p:txBody>
          <a:bodyPr/>
          <a:lstStyle/>
          <a:p>
            <a:r>
              <a:rPr lang="en-SG" b="1" dirty="0"/>
              <a:t>Activity 1  - 2/2 </a:t>
            </a:r>
          </a:p>
        </p:txBody>
      </p:sp>
      <p:sp>
        <p:nvSpPr>
          <p:cNvPr id="3" name="Content Placeholder 2">
            <a:extLst>
              <a:ext uri="{FF2B5EF4-FFF2-40B4-BE49-F238E27FC236}">
                <a16:creationId xmlns:a16="http://schemas.microsoft.com/office/drawing/2014/main" id="{878EBF48-E0A0-D712-1F21-C54403414AE4}"/>
              </a:ext>
            </a:extLst>
          </p:cNvPr>
          <p:cNvSpPr>
            <a:spLocks noGrp="1"/>
          </p:cNvSpPr>
          <p:nvPr>
            <p:ph idx="1"/>
          </p:nvPr>
        </p:nvSpPr>
        <p:spPr/>
        <p:txBody>
          <a:bodyPr/>
          <a:lstStyle/>
          <a:p>
            <a:pPr marL="0" indent="0">
              <a:buNone/>
            </a:pPr>
            <a:r>
              <a:rPr lang="en-SG" dirty="0"/>
              <a:t>Screenshot and paste here the Shopify, Wix and WordPress domain/URL</a:t>
            </a:r>
            <a:endParaRPr lang="en-SG" dirty="0">
              <a:solidFill>
                <a:srgbClr val="FF0000"/>
              </a:solidFill>
            </a:endParaRPr>
          </a:p>
        </p:txBody>
      </p:sp>
      <p:pic>
        <p:nvPicPr>
          <p:cNvPr id="6" name="Picture 5">
            <a:extLst>
              <a:ext uri="{FF2B5EF4-FFF2-40B4-BE49-F238E27FC236}">
                <a16:creationId xmlns:a16="http://schemas.microsoft.com/office/drawing/2014/main" id="{4DBFEB8F-47A0-2AFE-494E-F942CFCDA6D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7455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C3A1B-1669-548A-BD3D-AC846D8ACA03}"/>
              </a:ext>
            </a:extLst>
          </p:cNvPr>
          <p:cNvSpPr>
            <a:spLocks noGrp="1"/>
          </p:cNvSpPr>
          <p:nvPr>
            <p:ph type="title"/>
          </p:nvPr>
        </p:nvSpPr>
        <p:spPr>
          <a:xfrm>
            <a:off x="838200" y="330401"/>
            <a:ext cx="10515600" cy="1325563"/>
          </a:xfrm>
        </p:spPr>
        <p:txBody>
          <a:bodyPr/>
          <a:lstStyle/>
          <a:p>
            <a:pPr algn="ctr"/>
            <a:r>
              <a:rPr lang="en-SG" dirty="0"/>
              <a:t>Shopify Activities (30 Marks) </a:t>
            </a:r>
          </a:p>
        </p:txBody>
      </p:sp>
      <p:sp>
        <p:nvSpPr>
          <p:cNvPr id="4" name="Title 1">
            <a:extLst>
              <a:ext uri="{FF2B5EF4-FFF2-40B4-BE49-F238E27FC236}">
                <a16:creationId xmlns:a16="http://schemas.microsoft.com/office/drawing/2014/main" id="{281D01DC-5A18-5A8E-3738-D14A0E12A7DF}"/>
              </a:ext>
            </a:extLst>
          </p:cNvPr>
          <p:cNvSpPr txBox="1">
            <a:spLocks/>
          </p:cNvSpPr>
          <p:nvPr/>
        </p:nvSpPr>
        <p:spPr>
          <a:xfrm>
            <a:off x="1071622" y="11425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7750E914-F5CB-B17F-27C9-791BED41EB1C}"/>
              </a:ext>
            </a:extLst>
          </p:cNvPr>
          <p:cNvGraphicFramePr>
            <a:graphicFrameLocks noGrp="1"/>
          </p:cNvGraphicFramePr>
          <p:nvPr>
            <p:extLst>
              <p:ext uri="{D42A27DB-BD31-4B8C-83A1-F6EECF244321}">
                <p14:modId xmlns:p14="http://schemas.microsoft.com/office/powerpoint/2010/main" val="1695790243"/>
              </p:ext>
            </p:extLst>
          </p:nvPr>
        </p:nvGraphicFramePr>
        <p:xfrm>
          <a:off x="1175794" y="2350260"/>
          <a:ext cx="8127999" cy="4348480"/>
        </p:xfrm>
        <a:graphic>
          <a:graphicData uri="http://schemas.openxmlformats.org/drawingml/2006/table">
            <a:tbl>
              <a:tblPr firstRow="1" bandRow="1">
                <a:tableStyleId>{5C22544A-7EE6-4342-B048-85BDC9FD1C3A}</a:tableStyleId>
              </a:tblPr>
              <a:tblGrid>
                <a:gridCol w="1486383">
                  <a:extLst>
                    <a:ext uri="{9D8B030D-6E8A-4147-A177-3AD203B41FA5}">
                      <a16:colId xmlns:a16="http://schemas.microsoft.com/office/drawing/2014/main" val="1800813412"/>
                    </a:ext>
                  </a:extLst>
                </a:gridCol>
                <a:gridCol w="5509550">
                  <a:extLst>
                    <a:ext uri="{9D8B030D-6E8A-4147-A177-3AD203B41FA5}">
                      <a16:colId xmlns:a16="http://schemas.microsoft.com/office/drawing/2014/main" val="4080650455"/>
                    </a:ext>
                  </a:extLst>
                </a:gridCol>
                <a:gridCol w="1132066">
                  <a:extLst>
                    <a:ext uri="{9D8B030D-6E8A-4147-A177-3AD203B41FA5}">
                      <a16:colId xmlns:a16="http://schemas.microsoft.com/office/drawing/2014/main" val="2770320181"/>
                    </a:ext>
                  </a:extLst>
                </a:gridCol>
              </a:tblGrid>
              <a:tr h="370840">
                <a:tc>
                  <a:txBody>
                    <a:bodyPr/>
                    <a:lstStyle/>
                    <a:p>
                      <a:r>
                        <a:rPr lang="en-SG" dirty="0"/>
                        <a:t>Activity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Activity 2</a:t>
                      </a:r>
                    </a:p>
                  </a:txBody>
                  <a:tcPr/>
                </a:tc>
                <a:tc>
                  <a:txBody>
                    <a:bodyPr/>
                    <a:lstStyle/>
                    <a:p>
                      <a:r>
                        <a:rPr lang="en-SG" dirty="0"/>
                        <a:t>Screenshot the current Shopify Plan</a:t>
                      </a:r>
                    </a:p>
                  </a:txBody>
                  <a:tcPr/>
                </a:tc>
                <a:tc>
                  <a:txBody>
                    <a:bodyPr/>
                    <a:lstStyle/>
                    <a:p>
                      <a:pPr algn="ctr"/>
                      <a:r>
                        <a:rPr lang="en-SG" dirty="0"/>
                        <a:t>3</a:t>
                      </a:r>
                    </a:p>
                  </a:txBody>
                  <a:tcPr/>
                </a:tc>
                <a:extLst>
                  <a:ext uri="{0D108BD9-81ED-4DB2-BD59-A6C34878D82A}">
                    <a16:rowId xmlns:a16="http://schemas.microsoft.com/office/drawing/2014/main" val="1740075226"/>
                  </a:ext>
                </a:extLst>
              </a:tr>
              <a:tr h="370840">
                <a:tc>
                  <a:txBody>
                    <a:bodyPr/>
                    <a:lstStyle/>
                    <a:p>
                      <a:r>
                        <a:rPr lang="en-SG" dirty="0"/>
                        <a:t>Activity 3</a:t>
                      </a:r>
                    </a:p>
                  </a:txBody>
                  <a:tcPr/>
                </a:tc>
                <a:tc>
                  <a:txBody>
                    <a:bodyPr/>
                    <a:lstStyle/>
                    <a:p>
                      <a:r>
                        <a:rPr lang="en-SG" dirty="0"/>
                        <a:t>Identify the correct allowable user of the current plan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620873852"/>
                  </a:ext>
                </a:extLst>
              </a:tr>
              <a:tr h="370840">
                <a:tc>
                  <a:txBody>
                    <a:bodyPr/>
                    <a:lstStyle/>
                    <a:p>
                      <a:r>
                        <a:rPr lang="en-SG" dirty="0"/>
                        <a:t>Activity 4</a:t>
                      </a:r>
                    </a:p>
                  </a:txBody>
                  <a:tcPr/>
                </a:tc>
                <a:tc>
                  <a:txBody>
                    <a:bodyPr/>
                    <a:lstStyle/>
                    <a:p>
                      <a:r>
                        <a:rPr lang="en-SG" dirty="0"/>
                        <a:t>Created the Bank Deposit Manual Payment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894768120"/>
                  </a:ext>
                </a:extLst>
              </a:tr>
              <a:tr h="370840">
                <a:tc>
                  <a:txBody>
                    <a:bodyPr/>
                    <a:lstStyle/>
                    <a:p>
                      <a:r>
                        <a:rPr lang="en-SG" dirty="0"/>
                        <a:t>Activity 5</a:t>
                      </a:r>
                    </a:p>
                  </a:txBody>
                  <a:tcPr/>
                </a:tc>
                <a:tc>
                  <a:txBody>
                    <a:bodyPr/>
                    <a:lstStyle/>
                    <a:p>
                      <a:r>
                        <a:rPr lang="en-SG" dirty="0"/>
                        <a:t>Added the Facebook and Instagram Sales Channel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58842797"/>
                  </a:ext>
                </a:extLst>
              </a:tr>
              <a:tr h="370840">
                <a:tc>
                  <a:txBody>
                    <a:bodyPr/>
                    <a:lstStyle/>
                    <a:p>
                      <a:r>
                        <a:rPr lang="en-SG" dirty="0"/>
                        <a:t>Activity 6</a:t>
                      </a:r>
                    </a:p>
                  </a:txBody>
                  <a:tcPr/>
                </a:tc>
                <a:tc>
                  <a:txBody>
                    <a:bodyPr/>
                    <a:lstStyle/>
                    <a:p>
                      <a:r>
                        <a:rPr lang="en-SG" dirty="0"/>
                        <a:t>Added a new product in relation to the business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19941182"/>
                  </a:ext>
                </a:extLst>
              </a:tr>
              <a:tr h="370840">
                <a:tc>
                  <a:txBody>
                    <a:bodyPr/>
                    <a:lstStyle/>
                    <a:p>
                      <a:r>
                        <a:rPr lang="en-SG" dirty="0"/>
                        <a:t>Activity 7</a:t>
                      </a:r>
                    </a:p>
                  </a:txBody>
                  <a:tcPr/>
                </a:tc>
                <a:tc>
                  <a:txBody>
                    <a:bodyPr/>
                    <a:lstStyle/>
                    <a:p>
                      <a:r>
                        <a:rPr lang="en-SG" dirty="0"/>
                        <a:t>Created a new collection/category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50886459"/>
                  </a:ext>
                </a:extLst>
              </a:tr>
              <a:tr h="370840">
                <a:tc>
                  <a:txBody>
                    <a:bodyPr/>
                    <a:lstStyle/>
                    <a:p>
                      <a:r>
                        <a:rPr lang="en-SG" dirty="0"/>
                        <a:t>Activity 8</a:t>
                      </a:r>
                    </a:p>
                  </a:txBody>
                  <a:tcPr/>
                </a:tc>
                <a:tc>
                  <a:txBody>
                    <a:bodyPr/>
                    <a:lstStyle/>
                    <a:p>
                      <a:r>
                        <a:rPr lang="en-SG" dirty="0"/>
                        <a:t>Created a new gift card product with denominations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26637090"/>
                  </a:ext>
                </a:extLst>
              </a:tr>
              <a:tr h="370840">
                <a:tc>
                  <a:txBody>
                    <a:bodyPr/>
                    <a:lstStyle/>
                    <a:p>
                      <a:r>
                        <a:rPr lang="en-SG" dirty="0"/>
                        <a:t>Activity 9</a:t>
                      </a:r>
                    </a:p>
                  </a:txBody>
                  <a:tcPr/>
                </a:tc>
                <a:tc>
                  <a:txBody>
                    <a:bodyPr/>
                    <a:lstStyle/>
                    <a:p>
                      <a:r>
                        <a:rPr lang="en-SG" dirty="0"/>
                        <a:t>Added a new theme into the Shopify Account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259208184"/>
                  </a:ext>
                </a:extLst>
              </a:tr>
              <a:tr h="370840">
                <a:tc>
                  <a:txBody>
                    <a:bodyPr/>
                    <a:lstStyle/>
                    <a:p>
                      <a:r>
                        <a:rPr lang="en-SG" dirty="0"/>
                        <a:t>Activity 10</a:t>
                      </a:r>
                    </a:p>
                  </a:txBody>
                  <a:tcPr/>
                </a:tc>
                <a:tc>
                  <a:txBody>
                    <a:bodyPr/>
                    <a:lstStyle/>
                    <a:p>
                      <a:r>
                        <a:rPr lang="en-SG" dirty="0"/>
                        <a:t>Added a new Gallery Page and make the Visibility to “Visible”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99691059"/>
                  </a:ext>
                </a:extLst>
              </a:tr>
              <a:tr h="370840">
                <a:tc>
                  <a:txBody>
                    <a:bodyPr/>
                    <a:lstStyle/>
                    <a:p>
                      <a:r>
                        <a:rPr lang="en-SG" dirty="0"/>
                        <a:t>Activity 11</a:t>
                      </a:r>
                    </a:p>
                  </a:txBody>
                  <a:tcPr/>
                </a:tc>
                <a:tc>
                  <a:txBody>
                    <a:bodyPr/>
                    <a:lstStyle/>
                    <a:p>
                      <a:r>
                        <a:rPr lang="en-SG" dirty="0"/>
                        <a:t>Turn-off the password protect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1076195146"/>
                  </a:ext>
                </a:extLst>
              </a:tr>
            </a:tbl>
          </a:graphicData>
        </a:graphic>
      </p:graphicFrame>
    </p:spTree>
    <p:extLst>
      <p:ext uri="{BB962C8B-B14F-4D97-AF65-F5344CB8AC3E}">
        <p14:creationId xmlns:p14="http://schemas.microsoft.com/office/powerpoint/2010/main" val="1384818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E6D08-7D30-7D7E-A7BD-86ACA10DB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97887-6BF3-833A-8CB7-DA62299D43A8}"/>
              </a:ext>
            </a:extLst>
          </p:cNvPr>
          <p:cNvSpPr>
            <a:spLocks noGrp="1"/>
          </p:cNvSpPr>
          <p:nvPr>
            <p:ph type="title"/>
          </p:nvPr>
        </p:nvSpPr>
        <p:spPr/>
        <p:txBody>
          <a:bodyPr/>
          <a:lstStyle/>
          <a:p>
            <a:r>
              <a:rPr lang="en-SG" b="1" dirty="0"/>
              <a:t>Activity 2  </a:t>
            </a:r>
          </a:p>
        </p:txBody>
      </p:sp>
      <p:sp>
        <p:nvSpPr>
          <p:cNvPr id="3" name="Content Placeholder 2">
            <a:extLst>
              <a:ext uri="{FF2B5EF4-FFF2-40B4-BE49-F238E27FC236}">
                <a16:creationId xmlns:a16="http://schemas.microsoft.com/office/drawing/2014/main" id="{627F234C-FC68-81E5-8FAD-F5F4E5F46D4D}"/>
              </a:ext>
            </a:extLst>
          </p:cNvPr>
          <p:cNvSpPr>
            <a:spLocks noGrp="1"/>
          </p:cNvSpPr>
          <p:nvPr>
            <p:ph idx="1"/>
          </p:nvPr>
        </p:nvSpPr>
        <p:spPr/>
        <p:txBody>
          <a:bodyPr/>
          <a:lstStyle/>
          <a:p>
            <a:pPr marL="0" indent="0">
              <a:buNone/>
            </a:pPr>
            <a:r>
              <a:rPr lang="en-SG" dirty="0"/>
              <a:t>Screenshot and paste here the current plan of your Shopify Account</a:t>
            </a:r>
          </a:p>
          <a:p>
            <a:pPr marL="0" indent="0">
              <a:buNone/>
            </a:pPr>
            <a:endParaRPr lang="en-SG" dirty="0">
              <a:solidFill>
                <a:srgbClr val="FF0000"/>
              </a:solidFill>
            </a:endParaRPr>
          </a:p>
        </p:txBody>
      </p:sp>
      <p:pic>
        <p:nvPicPr>
          <p:cNvPr id="6" name="Picture 5">
            <a:extLst>
              <a:ext uri="{FF2B5EF4-FFF2-40B4-BE49-F238E27FC236}">
                <a16:creationId xmlns:a16="http://schemas.microsoft.com/office/drawing/2014/main" id="{D2BBE4C4-5015-08BD-1EDA-62EE2B10E551}"/>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14136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CC64D-97E5-2D9E-83A9-0846BA96A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F2606-32A0-AC0D-70C1-707B9C120647}"/>
              </a:ext>
            </a:extLst>
          </p:cNvPr>
          <p:cNvSpPr>
            <a:spLocks noGrp="1"/>
          </p:cNvSpPr>
          <p:nvPr>
            <p:ph type="title"/>
          </p:nvPr>
        </p:nvSpPr>
        <p:spPr/>
        <p:txBody>
          <a:bodyPr/>
          <a:lstStyle/>
          <a:p>
            <a:r>
              <a:rPr lang="en-SG" b="1" dirty="0"/>
              <a:t>Activity 3  </a:t>
            </a:r>
          </a:p>
        </p:txBody>
      </p:sp>
      <p:pic>
        <p:nvPicPr>
          <p:cNvPr id="4" name="Picture 3">
            <a:extLst>
              <a:ext uri="{FF2B5EF4-FFF2-40B4-BE49-F238E27FC236}">
                <a16:creationId xmlns:a16="http://schemas.microsoft.com/office/drawing/2014/main" id="{B5723660-5B10-7B21-31C1-7A71137E7EB0}"/>
              </a:ext>
            </a:extLst>
          </p:cNvPr>
          <p:cNvPicPr>
            <a:picLocks noChangeAspect="1"/>
          </p:cNvPicPr>
          <p:nvPr/>
        </p:nvPicPr>
        <p:blipFill>
          <a:blip r:embed="rId2"/>
          <a:stretch>
            <a:fillRect/>
          </a:stretch>
        </p:blipFill>
        <p:spPr>
          <a:xfrm>
            <a:off x="3859605" y="681037"/>
            <a:ext cx="653143" cy="653143"/>
          </a:xfrm>
          <a:prstGeom prst="rect">
            <a:avLst/>
          </a:prstGeom>
        </p:spPr>
      </p:pic>
      <p:graphicFrame>
        <p:nvGraphicFramePr>
          <p:cNvPr id="9" name="Table 5">
            <a:extLst>
              <a:ext uri="{FF2B5EF4-FFF2-40B4-BE49-F238E27FC236}">
                <a16:creationId xmlns:a16="http://schemas.microsoft.com/office/drawing/2014/main" id="{BE6FD3D5-C9E0-2397-DF20-FADA38FD6F70}"/>
              </a:ext>
            </a:extLst>
          </p:cNvPr>
          <p:cNvGraphicFramePr>
            <a:graphicFrameLocks noGrp="1"/>
          </p:cNvGraphicFramePr>
          <p:nvPr>
            <p:extLst>
              <p:ext uri="{D42A27DB-BD31-4B8C-83A1-F6EECF244321}">
                <p14:modId xmlns:p14="http://schemas.microsoft.com/office/powerpoint/2010/main" val="2498465430"/>
              </p:ext>
            </p:extLst>
          </p:nvPr>
        </p:nvGraphicFramePr>
        <p:xfrm>
          <a:off x="1102307" y="2057400"/>
          <a:ext cx="9813256" cy="1371600"/>
        </p:xfrm>
        <a:graphic>
          <a:graphicData uri="http://schemas.openxmlformats.org/drawingml/2006/table">
            <a:tbl>
              <a:tblPr firstRow="1" bandRow="1">
                <a:tableStyleId>{5C22544A-7EE6-4342-B048-85BDC9FD1C3A}</a:tableStyleId>
              </a:tblPr>
              <a:tblGrid>
                <a:gridCol w="3643313">
                  <a:extLst>
                    <a:ext uri="{9D8B030D-6E8A-4147-A177-3AD203B41FA5}">
                      <a16:colId xmlns:a16="http://schemas.microsoft.com/office/drawing/2014/main" val="1142797428"/>
                    </a:ext>
                  </a:extLst>
                </a:gridCol>
                <a:gridCol w="6169943">
                  <a:extLst>
                    <a:ext uri="{9D8B030D-6E8A-4147-A177-3AD203B41FA5}">
                      <a16:colId xmlns:a16="http://schemas.microsoft.com/office/drawing/2014/main" val="3733657391"/>
                    </a:ext>
                  </a:extLst>
                </a:gridCol>
              </a:tblGrid>
              <a:tr h="709033">
                <a:tc>
                  <a:txBody>
                    <a:bodyPr/>
                    <a:lstStyle/>
                    <a:p>
                      <a:r>
                        <a:rPr lang="en-SG" sz="2800" dirty="0"/>
                        <a:t>How many users you can add for your current Shopify Plan?</a:t>
                      </a:r>
                    </a:p>
                  </a:txBody>
                  <a:tcPr/>
                </a:tc>
                <a:tc>
                  <a:txBody>
                    <a:bodyPr/>
                    <a:lstStyle/>
                    <a:p>
                      <a:endParaRPr lang="en-SG" sz="2800" dirty="0"/>
                    </a:p>
                  </a:txBody>
                  <a:tcPr/>
                </a:tc>
                <a:extLst>
                  <a:ext uri="{0D108BD9-81ED-4DB2-BD59-A6C34878D82A}">
                    <a16:rowId xmlns:a16="http://schemas.microsoft.com/office/drawing/2014/main" val="3241149498"/>
                  </a:ext>
                </a:extLst>
              </a:tr>
            </a:tbl>
          </a:graphicData>
        </a:graphic>
      </p:graphicFrame>
    </p:spTree>
    <p:extLst>
      <p:ext uri="{BB962C8B-B14F-4D97-AF65-F5344CB8AC3E}">
        <p14:creationId xmlns:p14="http://schemas.microsoft.com/office/powerpoint/2010/main" val="3943475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BE2B9-630B-F45A-9AA0-127B763AA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E5750-B8B1-5E44-D218-F6FFB6E508B9}"/>
              </a:ext>
            </a:extLst>
          </p:cNvPr>
          <p:cNvSpPr>
            <a:spLocks noGrp="1"/>
          </p:cNvSpPr>
          <p:nvPr>
            <p:ph type="title"/>
          </p:nvPr>
        </p:nvSpPr>
        <p:spPr/>
        <p:txBody>
          <a:bodyPr/>
          <a:lstStyle/>
          <a:p>
            <a:r>
              <a:rPr lang="en-SG" b="1" dirty="0"/>
              <a:t>Activity 4  </a:t>
            </a:r>
          </a:p>
        </p:txBody>
      </p:sp>
      <p:sp>
        <p:nvSpPr>
          <p:cNvPr id="3" name="Content Placeholder 2">
            <a:extLst>
              <a:ext uri="{FF2B5EF4-FFF2-40B4-BE49-F238E27FC236}">
                <a16:creationId xmlns:a16="http://schemas.microsoft.com/office/drawing/2014/main" id="{77B4196E-F3AB-5086-142C-4F8E746EE17F}"/>
              </a:ext>
            </a:extLst>
          </p:cNvPr>
          <p:cNvSpPr>
            <a:spLocks noGrp="1"/>
          </p:cNvSpPr>
          <p:nvPr>
            <p:ph idx="1"/>
          </p:nvPr>
        </p:nvSpPr>
        <p:spPr/>
        <p:txBody>
          <a:bodyPr/>
          <a:lstStyle/>
          <a:p>
            <a:pPr marL="0" indent="0">
              <a:buNone/>
            </a:pPr>
            <a:r>
              <a:rPr lang="en-SG" dirty="0"/>
              <a:t>Set-up a manual payment (Bank Deposit) on your Shopify Account. Screenshot and paste here the configurations/settings of the manual payment.</a:t>
            </a:r>
          </a:p>
          <a:p>
            <a:pPr marL="0" indent="0">
              <a:buNone/>
            </a:pPr>
            <a:endParaRPr lang="en-SG" dirty="0">
              <a:solidFill>
                <a:srgbClr val="FF0000"/>
              </a:solidFill>
            </a:endParaRPr>
          </a:p>
        </p:txBody>
      </p:sp>
      <p:pic>
        <p:nvPicPr>
          <p:cNvPr id="6" name="Picture 5">
            <a:extLst>
              <a:ext uri="{FF2B5EF4-FFF2-40B4-BE49-F238E27FC236}">
                <a16:creationId xmlns:a16="http://schemas.microsoft.com/office/drawing/2014/main" id="{9471B012-6C22-16BE-C3AC-FF4648B5CF9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103800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C1DAF-D695-FD3C-F003-92A8E3AA1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1805AD-9755-5E38-B90C-B456C1960DF8}"/>
              </a:ext>
            </a:extLst>
          </p:cNvPr>
          <p:cNvSpPr>
            <a:spLocks noGrp="1"/>
          </p:cNvSpPr>
          <p:nvPr>
            <p:ph type="title"/>
          </p:nvPr>
        </p:nvSpPr>
        <p:spPr/>
        <p:txBody>
          <a:bodyPr/>
          <a:lstStyle/>
          <a:p>
            <a:r>
              <a:rPr lang="en-SG" b="1" dirty="0"/>
              <a:t>Activity 5  </a:t>
            </a:r>
          </a:p>
        </p:txBody>
      </p:sp>
      <p:sp>
        <p:nvSpPr>
          <p:cNvPr id="3" name="Content Placeholder 2">
            <a:extLst>
              <a:ext uri="{FF2B5EF4-FFF2-40B4-BE49-F238E27FC236}">
                <a16:creationId xmlns:a16="http://schemas.microsoft.com/office/drawing/2014/main" id="{22558008-2F5A-9F95-7009-F86CCFBB10DA}"/>
              </a:ext>
            </a:extLst>
          </p:cNvPr>
          <p:cNvSpPr>
            <a:spLocks noGrp="1"/>
          </p:cNvSpPr>
          <p:nvPr>
            <p:ph idx="1"/>
          </p:nvPr>
        </p:nvSpPr>
        <p:spPr/>
        <p:txBody>
          <a:bodyPr/>
          <a:lstStyle/>
          <a:p>
            <a:pPr marL="0" indent="0">
              <a:buNone/>
            </a:pPr>
            <a:r>
              <a:rPr lang="en-SG" dirty="0"/>
              <a:t>In your Sales Channel Settings, add Facebook and Instagram sales channel. Screenshot and paste it here</a:t>
            </a:r>
          </a:p>
          <a:p>
            <a:pPr marL="0" indent="0">
              <a:buNone/>
            </a:pPr>
            <a:endParaRPr lang="en-SG" dirty="0">
              <a:solidFill>
                <a:srgbClr val="FF0000"/>
              </a:solidFill>
            </a:endParaRPr>
          </a:p>
        </p:txBody>
      </p:sp>
      <p:pic>
        <p:nvPicPr>
          <p:cNvPr id="6" name="Picture 5">
            <a:extLst>
              <a:ext uri="{FF2B5EF4-FFF2-40B4-BE49-F238E27FC236}">
                <a16:creationId xmlns:a16="http://schemas.microsoft.com/office/drawing/2014/main" id="{24C9F3FE-9DAD-16BB-113C-0CE3FD682FC4}"/>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664655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49EBD-E0F0-6068-F2CC-3A4FF6028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3FE53-C2DE-67F8-883E-2182A931CE95}"/>
              </a:ext>
            </a:extLst>
          </p:cNvPr>
          <p:cNvSpPr>
            <a:spLocks noGrp="1"/>
          </p:cNvSpPr>
          <p:nvPr>
            <p:ph type="title"/>
          </p:nvPr>
        </p:nvSpPr>
        <p:spPr/>
        <p:txBody>
          <a:bodyPr/>
          <a:lstStyle/>
          <a:p>
            <a:r>
              <a:rPr lang="en-SG" b="1" dirty="0"/>
              <a:t>Activity 6  </a:t>
            </a:r>
          </a:p>
        </p:txBody>
      </p:sp>
      <p:pic>
        <p:nvPicPr>
          <p:cNvPr id="6" name="Picture 5">
            <a:extLst>
              <a:ext uri="{FF2B5EF4-FFF2-40B4-BE49-F238E27FC236}">
                <a16:creationId xmlns:a16="http://schemas.microsoft.com/office/drawing/2014/main" id="{C90CBB22-ACA0-7C72-0B27-A2E55906494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
        <p:nvSpPr>
          <p:cNvPr id="4" name="Content Placeholder 2">
            <a:extLst>
              <a:ext uri="{FF2B5EF4-FFF2-40B4-BE49-F238E27FC236}">
                <a16:creationId xmlns:a16="http://schemas.microsoft.com/office/drawing/2014/main" id="{42A59BF4-8A93-0A45-9B63-3C57FBDEBF0F}"/>
              </a:ext>
            </a:extLst>
          </p:cNvPr>
          <p:cNvSpPr>
            <a:spLocks noGrp="1"/>
          </p:cNvSpPr>
          <p:nvPr>
            <p:ph idx="1"/>
          </p:nvPr>
        </p:nvSpPr>
        <p:spPr>
          <a:xfrm>
            <a:off x="838200" y="1825625"/>
            <a:ext cx="10515600" cy="4351338"/>
          </a:xfrm>
        </p:spPr>
        <p:txBody>
          <a:bodyPr/>
          <a:lstStyle/>
          <a:p>
            <a:pPr marL="0" indent="0">
              <a:buNone/>
            </a:pPr>
            <a:r>
              <a:rPr lang="en-SG" dirty="0"/>
              <a:t>Create a new product in relation to your business. Add it into a specific collection/category. Screenshot and paste the newly created product here.</a:t>
            </a:r>
          </a:p>
          <a:p>
            <a:pPr marL="0" indent="0">
              <a:buNone/>
            </a:pPr>
            <a:endParaRPr lang="en-SG" dirty="0">
              <a:solidFill>
                <a:srgbClr val="FF0000"/>
              </a:solidFill>
            </a:endParaRPr>
          </a:p>
        </p:txBody>
      </p:sp>
    </p:spTree>
    <p:extLst>
      <p:ext uri="{BB962C8B-B14F-4D97-AF65-F5344CB8AC3E}">
        <p14:creationId xmlns:p14="http://schemas.microsoft.com/office/powerpoint/2010/main" val="349953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56524-784E-8425-36C2-BF36E725E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251434-BFDD-8B82-E228-FA3442A7699B}"/>
              </a:ext>
            </a:extLst>
          </p:cNvPr>
          <p:cNvSpPr>
            <a:spLocks noGrp="1"/>
          </p:cNvSpPr>
          <p:nvPr>
            <p:ph type="title"/>
          </p:nvPr>
        </p:nvSpPr>
        <p:spPr/>
        <p:txBody>
          <a:bodyPr/>
          <a:lstStyle/>
          <a:p>
            <a:r>
              <a:rPr lang="en-SG" b="1" dirty="0"/>
              <a:t>Activity 7  </a:t>
            </a:r>
          </a:p>
        </p:txBody>
      </p:sp>
      <p:pic>
        <p:nvPicPr>
          <p:cNvPr id="6" name="Picture 5">
            <a:extLst>
              <a:ext uri="{FF2B5EF4-FFF2-40B4-BE49-F238E27FC236}">
                <a16:creationId xmlns:a16="http://schemas.microsoft.com/office/drawing/2014/main" id="{9EDFE6F6-7C88-DE45-17B1-EC78CE0DD8A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
        <p:nvSpPr>
          <p:cNvPr id="4" name="Content Placeholder 2">
            <a:extLst>
              <a:ext uri="{FF2B5EF4-FFF2-40B4-BE49-F238E27FC236}">
                <a16:creationId xmlns:a16="http://schemas.microsoft.com/office/drawing/2014/main" id="{26367EDC-8ADA-02CC-9ED9-ADD9287700E2}"/>
              </a:ext>
            </a:extLst>
          </p:cNvPr>
          <p:cNvSpPr>
            <a:spLocks noGrp="1"/>
          </p:cNvSpPr>
          <p:nvPr>
            <p:ph idx="1"/>
          </p:nvPr>
        </p:nvSpPr>
        <p:spPr>
          <a:xfrm>
            <a:off x="838200" y="1825625"/>
            <a:ext cx="10515600" cy="4351338"/>
          </a:xfrm>
        </p:spPr>
        <p:txBody>
          <a:bodyPr/>
          <a:lstStyle/>
          <a:p>
            <a:pPr marL="0" indent="0">
              <a:buNone/>
            </a:pPr>
            <a:r>
              <a:rPr lang="en-SG" dirty="0"/>
              <a:t>Create a new collection/category in Shopify. Screenshot and paste the newly created collection/category in Shopify here. </a:t>
            </a:r>
          </a:p>
          <a:p>
            <a:pPr marL="0" indent="0">
              <a:buNone/>
            </a:pPr>
            <a:endParaRPr lang="en-SG" dirty="0">
              <a:solidFill>
                <a:srgbClr val="FF0000"/>
              </a:solidFill>
            </a:endParaRPr>
          </a:p>
        </p:txBody>
      </p:sp>
    </p:spTree>
    <p:extLst>
      <p:ext uri="{BB962C8B-B14F-4D97-AF65-F5344CB8AC3E}">
        <p14:creationId xmlns:p14="http://schemas.microsoft.com/office/powerpoint/2010/main" val="1774569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E1378-EEB4-7785-B38E-F1898E04A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A5A0F3-5516-DDE3-5B34-163B404F2E53}"/>
              </a:ext>
            </a:extLst>
          </p:cNvPr>
          <p:cNvSpPr>
            <a:spLocks noGrp="1"/>
          </p:cNvSpPr>
          <p:nvPr>
            <p:ph type="title"/>
          </p:nvPr>
        </p:nvSpPr>
        <p:spPr/>
        <p:txBody>
          <a:bodyPr/>
          <a:lstStyle/>
          <a:p>
            <a:r>
              <a:rPr lang="en-SG" b="1" dirty="0"/>
              <a:t>Activity 8  </a:t>
            </a:r>
          </a:p>
        </p:txBody>
      </p:sp>
      <p:sp>
        <p:nvSpPr>
          <p:cNvPr id="4" name="Content Placeholder 2">
            <a:extLst>
              <a:ext uri="{FF2B5EF4-FFF2-40B4-BE49-F238E27FC236}">
                <a16:creationId xmlns:a16="http://schemas.microsoft.com/office/drawing/2014/main" id="{BA2DE978-4C63-2FF0-4F1A-F3A393AD2155}"/>
              </a:ext>
            </a:extLst>
          </p:cNvPr>
          <p:cNvSpPr>
            <a:spLocks noGrp="1"/>
          </p:cNvSpPr>
          <p:nvPr>
            <p:ph idx="1"/>
          </p:nvPr>
        </p:nvSpPr>
        <p:spPr>
          <a:xfrm>
            <a:off x="838200" y="1825625"/>
            <a:ext cx="10515600" cy="4351338"/>
          </a:xfrm>
        </p:spPr>
        <p:txBody>
          <a:bodyPr/>
          <a:lstStyle/>
          <a:p>
            <a:pPr marL="0" indent="0">
              <a:buNone/>
            </a:pPr>
            <a:r>
              <a:rPr lang="en-SG" dirty="0"/>
              <a:t>Create a gift card product in Shopify. Consider the denomination 15, 25, 50 and 100. Screenshot and past the newly gift card product created in Shopify. </a:t>
            </a:r>
          </a:p>
          <a:p>
            <a:pPr marL="0" indent="0">
              <a:buNone/>
            </a:pPr>
            <a:endParaRPr lang="en-SG" dirty="0">
              <a:solidFill>
                <a:srgbClr val="FF0000"/>
              </a:solidFill>
            </a:endParaRPr>
          </a:p>
        </p:txBody>
      </p:sp>
      <p:pic>
        <p:nvPicPr>
          <p:cNvPr id="3" name="Picture 2">
            <a:extLst>
              <a:ext uri="{FF2B5EF4-FFF2-40B4-BE49-F238E27FC236}">
                <a16:creationId xmlns:a16="http://schemas.microsoft.com/office/drawing/2014/main" id="{9740C931-83E1-68A3-2C71-9CFC75332804}"/>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463499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3236-528C-BB20-1BFF-4BF67CEE8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53FDB-C25F-02F3-1BE6-89B61DAEB625}"/>
              </a:ext>
            </a:extLst>
          </p:cNvPr>
          <p:cNvSpPr>
            <a:spLocks noGrp="1"/>
          </p:cNvSpPr>
          <p:nvPr>
            <p:ph type="title"/>
          </p:nvPr>
        </p:nvSpPr>
        <p:spPr/>
        <p:txBody>
          <a:bodyPr/>
          <a:lstStyle/>
          <a:p>
            <a:r>
              <a:rPr lang="en-SG" b="1" dirty="0"/>
              <a:t>Activity 9  </a:t>
            </a:r>
          </a:p>
        </p:txBody>
      </p:sp>
      <p:sp>
        <p:nvSpPr>
          <p:cNvPr id="4" name="Content Placeholder 2">
            <a:extLst>
              <a:ext uri="{FF2B5EF4-FFF2-40B4-BE49-F238E27FC236}">
                <a16:creationId xmlns:a16="http://schemas.microsoft.com/office/drawing/2014/main" id="{A2050681-2E85-93E6-112D-F244F3BDCA82}"/>
              </a:ext>
            </a:extLst>
          </p:cNvPr>
          <p:cNvSpPr>
            <a:spLocks noGrp="1"/>
          </p:cNvSpPr>
          <p:nvPr>
            <p:ph idx="1"/>
          </p:nvPr>
        </p:nvSpPr>
        <p:spPr>
          <a:xfrm>
            <a:off x="838200" y="1825625"/>
            <a:ext cx="10515600" cy="4351338"/>
          </a:xfrm>
        </p:spPr>
        <p:txBody>
          <a:bodyPr/>
          <a:lstStyle/>
          <a:p>
            <a:pPr marL="0" indent="0">
              <a:buNone/>
            </a:pPr>
            <a:r>
              <a:rPr lang="en-SG" dirty="0"/>
              <a:t>Select a new theme for your Shopify Store and add it into your account but don’t publish. Screenshot and paste the newly added theme here.</a:t>
            </a:r>
          </a:p>
        </p:txBody>
      </p:sp>
      <p:pic>
        <p:nvPicPr>
          <p:cNvPr id="3" name="Picture 2">
            <a:extLst>
              <a:ext uri="{FF2B5EF4-FFF2-40B4-BE49-F238E27FC236}">
                <a16:creationId xmlns:a16="http://schemas.microsoft.com/office/drawing/2014/main" id="{BF478A15-279F-9930-1E0B-A9845806FF9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872411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C0AA4-DA17-FF40-7FFB-D327388EE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9DDE7-A048-E67F-6893-4432C2A4AAC9}"/>
              </a:ext>
            </a:extLst>
          </p:cNvPr>
          <p:cNvSpPr>
            <a:spLocks noGrp="1"/>
          </p:cNvSpPr>
          <p:nvPr>
            <p:ph type="title"/>
          </p:nvPr>
        </p:nvSpPr>
        <p:spPr/>
        <p:txBody>
          <a:bodyPr/>
          <a:lstStyle/>
          <a:p>
            <a:r>
              <a:rPr lang="en-SG" b="1" dirty="0"/>
              <a:t>Activity 10  </a:t>
            </a:r>
          </a:p>
        </p:txBody>
      </p:sp>
      <p:sp>
        <p:nvSpPr>
          <p:cNvPr id="4" name="Content Placeholder 2">
            <a:extLst>
              <a:ext uri="{FF2B5EF4-FFF2-40B4-BE49-F238E27FC236}">
                <a16:creationId xmlns:a16="http://schemas.microsoft.com/office/drawing/2014/main" id="{73DEC436-25F3-A5F9-7097-266AABA2B70E}"/>
              </a:ext>
            </a:extLst>
          </p:cNvPr>
          <p:cNvSpPr>
            <a:spLocks noGrp="1"/>
          </p:cNvSpPr>
          <p:nvPr>
            <p:ph idx="1"/>
          </p:nvPr>
        </p:nvSpPr>
        <p:spPr>
          <a:xfrm>
            <a:off x="838200" y="1825625"/>
            <a:ext cx="10515600" cy="4351338"/>
          </a:xfrm>
        </p:spPr>
        <p:txBody>
          <a:bodyPr/>
          <a:lstStyle/>
          <a:p>
            <a:pPr marL="0" indent="0">
              <a:buNone/>
            </a:pPr>
            <a:r>
              <a:rPr lang="en-SG" dirty="0"/>
              <a:t>Add a new Page in your Shopify Store and name it as “Gallery”. Make sure the setting for Visibility is “Visible”. Screenshot and paste the newly added Gallery page here.</a:t>
            </a:r>
          </a:p>
        </p:txBody>
      </p:sp>
      <p:pic>
        <p:nvPicPr>
          <p:cNvPr id="3" name="Picture 2">
            <a:extLst>
              <a:ext uri="{FF2B5EF4-FFF2-40B4-BE49-F238E27FC236}">
                <a16:creationId xmlns:a16="http://schemas.microsoft.com/office/drawing/2014/main" id="{82DAE9F3-887D-5600-A518-8020750C6BC3}"/>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526472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CDC8-CAF2-3C31-E7C4-B8E9C86D9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B3F42-7037-CBB5-6FA0-A37B45BD680E}"/>
              </a:ext>
            </a:extLst>
          </p:cNvPr>
          <p:cNvSpPr>
            <a:spLocks noGrp="1"/>
          </p:cNvSpPr>
          <p:nvPr>
            <p:ph type="title"/>
          </p:nvPr>
        </p:nvSpPr>
        <p:spPr/>
        <p:txBody>
          <a:bodyPr/>
          <a:lstStyle/>
          <a:p>
            <a:r>
              <a:rPr lang="en-SG" b="1" dirty="0"/>
              <a:t>Activity 11  </a:t>
            </a:r>
          </a:p>
        </p:txBody>
      </p:sp>
      <p:sp>
        <p:nvSpPr>
          <p:cNvPr id="4" name="Content Placeholder 2">
            <a:extLst>
              <a:ext uri="{FF2B5EF4-FFF2-40B4-BE49-F238E27FC236}">
                <a16:creationId xmlns:a16="http://schemas.microsoft.com/office/drawing/2014/main" id="{917A9350-4BB5-55A9-28FF-C2716B49A35D}"/>
              </a:ext>
            </a:extLst>
          </p:cNvPr>
          <p:cNvSpPr>
            <a:spLocks noGrp="1"/>
          </p:cNvSpPr>
          <p:nvPr>
            <p:ph idx="1"/>
          </p:nvPr>
        </p:nvSpPr>
        <p:spPr>
          <a:xfrm>
            <a:off x="838200" y="1825625"/>
            <a:ext cx="10515600" cy="4351338"/>
          </a:xfrm>
        </p:spPr>
        <p:txBody>
          <a:bodyPr/>
          <a:lstStyle/>
          <a:p>
            <a:pPr marL="0" indent="0">
              <a:buNone/>
            </a:pPr>
            <a:r>
              <a:rPr lang="en-SG" dirty="0"/>
              <a:t>Turn-off the password protect of your Shopify E-commerce website. Screenshot and paste here the evidence. </a:t>
            </a:r>
          </a:p>
        </p:txBody>
      </p:sp>
      <p:pic>
        <p:nvPicPr>
          <p:cNvPr id="3" name="Picture 2">
            <a:extLst>
              <a:ext uri="{FF2B5EF4-FFF2-40B4-BE49-F238E27FC236}">
                <a16:creationId xmlns:a16="http://schemas.microsoft.com/office/drawing/2014/main" id="{C6AE4E66-9F48-CC08-6E4A-8BB19B70CA0B}"/>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010054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78FFA-C5A4-E203-2A42-4FF72CCEC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EFC34-8588-5A77-6965-291FC95F06E3}"/>
              </a:ext>
            </a:extLst>
          </p:cNvPr>
          <p:cNvSpPr>
            <a:spLocks noGrp="1"/>
          </p:cNvSpPr>
          <p:nvPr>
            <p:ph type="title"/>
          </p:nvPr>
        </p:nvSpPr>
        <p:spPr>
          <a:xfrm>
            <a:off x="838200" y="0"/>
            <a:ext cx="10515600" cy="1325563"/>
          </a:xfrm>
        </p:spPr>
        <p:txBody>
          <a:bodyPr/>
          <a:lstStyle/>
          <a:p>
            <a:pPr algn="ctr"/>
            <a:r>
              <a:rPr lang="en-SG" dirty="0"/>
              <a:t>Wix Activities (35 Marks) </a:t>
            </a:r>
          </a:p>
        </p:txBody>
      </p:sp>
      <p:sp>
        <p:nvSpPr>
          <p:cNvPr id="4" name="Title 1">
            <a:extLst>
              <a:ext uri="{FF2B5EF4-FFF2-40B4-BE49-F238E27FC236}">
                <a16:creationId xmlns:a16="http://schemas.microsoft.com/office/drawing/2014/main" id="{568F111D-92DE-1815-70FB-88DE44B82AED}"/>
              </a:ext>
            </a:extLst>
          </p:cNvPr>
          <p:cNvSpPr txBox="1">
            <a:spLocks/>
          </p:cNvSpPr>
          <p:nvPr/>
        </p:nvSpPr>
        <p:spPr>
          <a:xfrm>
            <a:off x="1048473" y="87634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74132C61-D0AB-981B-4451-7EBF2DF9C18B}"/>
              </a:ext>
            </a:extLst>
          </p:cNvPr>
          <p:cNvGraphicFramePr>
            <a:graphicFrameLocks noGrp="1"/>
          </p:cNvGraphicFramePr>
          <p:nvPr>
            <p:extLst>
              <p:ext uri="{D42A27DB-BD31-4B8C-83A1-F6EECF244321}">
                <p14:modId xmlns:p14="http://schemas.microsoft.com/office/powerpoint/2010/main" val="2539130354"/>
              </p:ext>
            </p:extLst>
          </p:nvPr>
        </p:nvGraphicFramePr>
        <p:xfrm>
          <a:off x="1175793" y="2060893"/>
          <a:ext cx="10063225" cy="4287307"/>
        </p:xfrm>
        <a:graphic>
          <a:graphicData uri="http://schemas.openxmlformats.org/drawingml/2006/table">
            <a:tbl>
              <a:tblPr firstRow="1" bandRow="1">
                <a:tableStyleId>{5C22544A-7EE6-4342-B048-85BDC9FD1C3A}</a:tableStyleId>
              </a:tblPr>
              <a:tblGrid>
                <a:gridCol w="1840282">
                  <a:extLst>
                    <a:ext uri="{9D8B030D-6E8A-4147-A177-3AD203B41FA5}">
                      <a16:colId xmlns:a16="http://schemas.microsoft.com/office/drawing/2014/main" val="1800813412"/>
                    </a:ext>
                  </a:extLst>
                </a:gridCol>
                <a:gridCol w="6821339">
                  <a:extLst>
                    <a:ext uri="{9D8B030D-6E8A-4147-A177-3AD203B41FA5}">
                      <a16:colId xmlns:a16="http://schemas.microsoft.com/office/drawing/2014/main" val="4080650455"/>
                    </a:ext>
                  </a:extLst>
                </a:gridCol>
                <a:gridCol w="1401604">
                  <a:extLst>
                    <a:ext uri="{9D8B030D-6E8A-4147-A177-3AD203B41FA5}">
                      <a16:colId xmlns:a16="http://schemas.microsoft.com/office/drawing/2014/main" val="2770320181"/>
                    </a:ext>
                  </a:extLst>
                </a:gridCol>
              </a:tblGrid>
              <a:tr h="370840">
                <a:tc>
                  <a:txBody>
                    <a:bodyPr/>
                    <a:lstStyle/>
                    <a:p>
                      <a:r>
                        <a:rPr lang="en-SG" dirty="0"/>
                        <a:t>Activity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Activity 12</a:t>
                      </a:r>
                    </a:p>
                  </a:txBody>
                  <a:tcPr/>
                </a:tc>
                <a:tc>
                  <a:txBody>
                    <a:bodyPr/>
                    <a:lstStyle/>
                    <a:p>
                      <a:r>
                        <a:rPr lang="en-SG" dirty="0"/>
                        <a:t>Edited the Wix Business Information. Required Info exist</a:t>
                      </a:r>
                    </a:p>
                  </a:txBody>
                  <a:tcPr/>
                </a:tc>
                <a:tc>
                  <a:txBody>
                    <a:bodyPr/>
                    <a:lstStyle/>
                    <a:p>
                      <a:pPr algn="ctr"/>
                      <a:r>
                        <a:rPr lang="en-SG" dirty="0"/>
                        <a:t>4</a:t>
                      </a:r>
                    </a:p>
                  </a:txBody>
                  <a:tcPr/>
                </a:tc>
                <a:extLst>
                  <a:ext uri="{0D108BD9-81ED-4DB2-BD59-A6C34878D82A}">
                    <a16:rowId xmlns:a16="http://schemas.microsoft.com/office/drawing/2014/main" val="1740075226"/>
                  </a:ext>
                </a:extLst>
              </a:tr>
              <a:tr h="370840">
                <a:tc>
                  <a:txBody>
                    <a:bodyPr/>
                    <a:lstStyle/>
                    <a:p>
                      <a:r>
                        <a:rPr lang="en-SG" dirty="0"/>
                        <a:t>Activity 13</a:t>
                      </a:r>
                    </a:p>
                  </a:txBody>
                  <a:tcPr/>
                </a:tc>
                <a:tc>
                  <a:txBody>
                    <a:bodyPr/>
                    <a:lstStyle/>
                    <a:p>
                      <a:r>
                        <a:rPr lang="en-SG" dirty="0"/>
                        <a:t>Created a Catalog Item pay link under the Getting Paid settings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620873852"/>
                  </a:ext>
                </a:extLst>
              </a:tr>
              <a:tr h="370840">
                <a:tc>
                  <a:txBody>
                    <a:bodyPr/>
                    <a:lstStyle/>
                    <a:p>
                      <a:r>
                        <a:rPr lang="en-SG" dirty="0"/>
                        <a:t>Activity 14</a:t>
                      </a:r>
                    </a:p>
                  </a:txBody>
                  <a:tcPr/>
                </a:tc>
                <a:tc>
                  <a:txBody>
                    <a:bodyPr/>
                    <a:lstStyle/>
                    <a:p>
                      <a:r>
                        <a:rPr lang="en-SG" dirty="0"/>
                        <a:t>Created an Invoice with two (2) items and send to mackysportsapparel@gmail.com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894768120"/>
                  </a:ext>
                </a:extLst>
              </a:tr>
              <a:tr h="411267">
                <a:tc>
                  <a:txBody>
                    <a:bodyPr/>
                    <a:lstStyle/>
                    <a:p>
                      <a:r>
                        <a:rPr lang="en-SG" dirty="0"/>
                        <a:t>Activity 15</a:t>
                      </a:r>
                    </a:p>
                  </a:txBody>
                  <a:tcPr/>
                </a:tc>
                <a:tc>
                  <a:txBody>
                    <a:bodyPr/>
                    <a:lstStyle/>
                    <a:p>
                      <a:r>
                        <a:rPr lang="en-SG" dirty="0"/>
                        <a:t>Created and added a new product in your Wix Account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58842797"/>
                  </a:ext>
                </a:extLst>
              </a:tr>
              <a:tr h="370840">
                <a:tc>
                  <a:txBody>
                    <a:bodyPr/>
                    <a:lstStyle/>
                    <a:p>
                      <a:r>
                        <a:rPr lang="en-SG" dirty="0"/>
                        <a:t>Activity 16</a:t>
                      </a:r>
                    </a:p>
                  </a:txBody>
                  <a:tcPr/>
                </a:tc>
                <a:tc>
                  <a:txBody>
                    <a:bodyPr/>
                    <a:lstStyle/>
                    <a:p>
                      <a:r>
                        <a:rPr lang="en-SG" dirty="0"/>
                        <a:t>Created the gift card with the correct amount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19941182"/>
                  </a:ext>
                </a:extLst>
              </a:tr>
              <a:tr h="370840">
                <a:tc>
                  <a:txBody>
                    <a:bodyPr/>
                    <a:lstStyle/>
                    <a:p>
                      <a:r>
                        <a:rPr lang="en-SG" dirty="0"/>
                        <a:t>Activity 17</a:t>
                      </a:r>
                    </a:p>
                  </a:txBody>
                  <a:tcPr/>
                </a:tc>
                <a:tc>
                  <a:txBody>
                    <a:bodyPr/>
                    <a:lstStyle/>
                    <a:p>
                      <a:r>
                        <a:rPr lang="en-SG" dirty="0"/>
                        <a:t>Created the coupon with the necessary information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50886459"/>
                  </a:ext>
                </a:extLst>
              </a:tr>
              <a:tr h="370840">
                <a:tc>
                  <a:txBody>
                    <a:bodyPr/>
                    <a:lstStyle/>
                    <a:p>
                      <a:r>
                        <a:rPr lang="en-SG" dirty="0"/>
                        <a:t>Activity 18</a:t>
                      </a:r>
                    </a:p>
                  </a:txBody>
                  <a:tcPr/>
                </a:tc>
                <a:tc>
                  <a:txBody>
                    <a:bodyPr/>
                    <a:lstStyle/>
                    <a:p>
                      <a:r>
                        <a:rPr lang="en-SG" dirty="0"/>
                        <a:t>Installed/Add the TikTok Add app to the Wix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4</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26637090"/>
                  </a:ext>
                </a:extLst>
              </a:tr>
              <a:tr h="370840">
                <a:tc>
                  <a:txBody>
                    <a:bodyPr/>
                    <a:lstStyle/>
                    <a:p>
                      <a:r>
                        <a:rPr lang="en-SG" dirty="0"/>
                        <a:t>Activity 19</a:t>
                      </a:r>
                    </a:p>
                  </a:txBody>
                  <a:tcPr/>
                </a:tc>
                <a:tc>
                  <a:txBody>
                    <a:bodyPr/>
                    <a:lstStyle/>
                    <a:p>
                      <a:r>
                        <a:rPr lang="en-SG" dirty="0"/>
                        <a:t>Created an Email Marketing Campaign and sent a test email to mackysportsapparel@gmail.com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4</a:t>
                      </a:r>
                    </a:p>
                  </a:txBody>
                  <a:tcPr/>
                </a:tc>
                <a:extLst>
                  <a:ext uri="{0D108BD9-81ED-4DB2-BD59-A6C34878D82A}">
                    <a16:rowId xmlns:a16="http://schemas.microsoft.com/office/drawing/2014/main" val="1259208184"/>
                  </a:ext>
                </a:extLst>
              </a:tr>
              <a:tr h="370840">
                <a:tc>
                  <a:txBody>
                    <a:bodyPr/>
                    <a:lstStyle/>
                    <a:p>
                      <a:r>
                        <a:rPr lang="en-SG" dirty="0"/>
                        <a:t>Activity 20</a:t>
                      </a:r>
                    </a:p>
                  </a:txBody>
                  <a:tcPr/>
                </a:tc>
                <a:tc>
                  <a:txBody>
                    <a:bodyPr/>
                    <a:lstStyle/>
                    <a:p>
                      <a:r>
                        <a:rPr lang="en-SG" dirty="0"/>
                        <a:t>Set-up a manual payment on your Wix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799691059"/>
                  </a:ext>
                </a:extLst>
              </a:tr>
            </a:tbl>
          </a:graphicData>
        </a:graphic>
      </p:graphicFrame>
    </p:spTree>
    <p:extLst>
      <p:ext uri="{BB962C8B-B14F-4D97-AF65-F5344CB8AC3E}">
        <p14:creationId xmlns:p14="http://schemas.microsoft.com/office/powerpoint/2010/main" val="362888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E295-B90C-7DBE-577C-81E5F38AD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4E2AE-01E1-05B6-1B15-94A0CD77AFBE}"/>
              </a:ext>
            </a:extLst>
          </p:cNvPr>
          <p:cNvSpPr>
            <a:spLocks noGrp="1"/>
          </p:cNvSpPr>
          <p:nvPr>
            <p:ph type="title"/>
          </p:nvPr>
        </p:nvSpPr>
        <p:spPr/>
        <p:txBody>
          <a:bodyPr/>
          <a:lstStyle/>
          <a:p>
            <a:r>
              <a:rPr lang="en-SG" b="1" dirty="0"/>
              <a:t>Activity 12  </a:t>
            </a:r>
          </a:p>
        </p:txBody>
      </p:sp>
      <p:sp>
        <p:nvSpPr>
          <p:cNvPr id="4" name="Content Placeholder 2">
            <a:extLst>
              <a:ext uri="{FF2B5EF4-FFF2-40B4-BE49-F238E27FC236}">
                <a16:creationId xmlns:a16="http://schemas.microsoft.com/office/drawing/2014/main" id="{D430FAD5-4C0F-34AC-8EE3-7AC06B2935AF}"/>
              </a:ext>
            </a:extLst>
          </p:cNvPr>
          <p:cNvSpPr>
            <a:spLocks noGrp="1"/>
          </p:cNvSpPr>
          <p:nvPr>
            <p:ph idx="1"/>
          </p:nvPr>
        </p:nvSpPr>
        <p:spPr>
          <a:xfrm>
            <a:off x="838200" y="1825625"/>
            <a:ext cx="10515600" cy="4351338"/>
          </a:xfrm>
        </p:spPr>
        <p:txBody>
          <a:bodyPr/>
          <a:lstStyle/>
          <a:p>
            <a:pPr marL="0" indent="0">
              <a:buNone/>
            </a:pPr>
            <a:r>
              <a:rPr lang="en-SG" dirty="0"/>
              <a:t>Screenshot and paste here your Wix Business Information. </a:t>
            </a:r>
            <a:r>
              <a:rPr lang="en-SG" i="1" dirty="0"/>
              <a:t>Note: Complete the business information including Name, logo, Address, country and contact info. </a:t>
            </a:r>
          </a:p>
          <a:p>
            <a:pPr marL="0" indent="0">
              <a:buNone/>
            </a:pPr>
            <a:endParaRPr lang="en-SG" dirty="0"/>
          </a:p>
        </p:txBody>
      </p:sp>
      <p:pic>
        <p:nvPicPr>
          <p:cNvPr id="3" name="Picture 2">
            <a:extLst>
              <a:ext uri="{FF2B5EF4-FFF2-40B4-BE49-F238E27FC236}">
                <a16:creationId xmlns:a16="http://schemas.microsoft.com/office/drawing/2014/main" id="{D3165EFC-D670-6EEE-D5EE-3A091113A062}"/>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504881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F6892-6CCE-F23D-05C3-10D85B0EA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0C777F-8250-8D53-2E75-E63E9CEBE3AF}"/>
              </a:ext>
            </a:extLst>
          </p:cNvPr>
          <p:cNvSpPr>
            <a:spLocks noGrp="1"/>
          </p:cNvSpPr>
          <p:nvPr>
            <p:ph type="title"/>
          </p:nvPr>
        </p:nvSpPr>
        <p:spPr/>
        <p:txBody>
          <a:bodyPr/>
          <a:lstStyle/>
          <a:p>
            <a:r>
              <a:rPr lang="en-SG" b="1" dirty="0"/>
              <a:t>Activity 13  </a:t>
            </a:r>
          </a:p>
        </p:txBody>
      </p:sp>
      <p:sp>
        <p:nvSpPr>
          <p:cNvPr id="4" name="Content Placeholder 2">
            <a:extLst>
              <a:ext uri="{FF2B5EF4-FFF2-40B4-BE49-F238E27FC236}">
                <a16:creationId xmlns:a16="http://schemas.microsoft.com/office/drawing/2014/main" id="{468B2B3B-21D1-57FE-0318-592CC73231AA}"/>
              </a:ext>
            </a:extLst>
          </p:cNvPr>
          <p:cNvSpPr>
            <a:spLocks noGrp="1"/>
          </p:cNvSpPr>
          <p:nvPr>
            <p:ph idx="1"/>
          </p:nvPr>
        </p:nvSpPr>
        <p:spPr>
          <a:xfrm>
            <a:off x="838200" y="1825625"/>
            <a:ext cx="10515600" cy="4351338"/>
          </a:xfrm>
        </p:spPr>
        <p:txBody>
          <a:bodyPr/>
          <a:lstStyle/>
          <a:p>
            <a:pPr marL="0" indent="0">
              <a:buNone/>
            </a:pPr>
            <a:r>
              <a:rPr lang="en-SG" dirty="0"/>
              <a:t>Under the Getting Paid settings of Wix, create a new Pay Link for 1 one of your Catalog Item. Screenshot and paste here the new Pay Link Design.</a:t>
            </a:r>
          </a:p>
        </p:txBody>
      </p:sp>
      <p:pic>
        <p:nvPicPr>
          <p:cNvPr id="3" name="Picture 2">
            <a:extLst>
              <a:ext uri="{FF2B5EF4-FFF2-40B4-BE49-F238E27FC236}">
                <a16:creationId xmlns:a16="http://schemas.microsoft.com/office/drawing/2014/main" id="{0E09FD23-7E5C-D89C-5494-BA16B4A7AD6C}"/>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618248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42A73-C14E-6904-755C-F5EB42EA1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B4DC5-28F4-F4A8-7854-C480178FE1E0}"/>
              </a:ext>
            </a:extLst>
          </p:cNvPr>
          <p:cNvSpPr>
            <a:spLocks noGrp="1"/>
          </p:cNvSpPr>
          <p:nvPr>
            <p:ph type="title"/>
          </p:nvPr>
        </p:nvSpPr>
        <p:spPr/>
        <p:txBody>
          <a:bodyPr/>
          <a:lstStyle/>
          <a:p>
            <a:r>
              <a:rPr lang="en-SG" b="1" dirty="0"/>
              <a:t>Activity 14  </a:t>
            </a:r>
          </a:p>
        </p:txBody>
      </p:sp>
      <p:sp>
        <p:nvSpPr>
          <p:cNvPr id="4" name="Content Placeholder 2">
            <a:extLst>
              <a:ext uri="{FF2B5EF4-FFF2-40B4-BE49-F238E27FC236}">
                <a16:creationId xmlns:a16="http://schemas.microsoft.com/office/drawing/2014/main" id="{A2B29C8E-8CC0-77B3-3004-B7209E192297}"/>
              </a:ext>
            </a:extLst>
          </p:cNvPr>
          <p:cNvSpPr>
            <a:spLocks noGrp="1"/>
          </p:cNvSpPr>
          <p:nvPr>
            <p:ph idx="1"/>
          </p:nvPr>
        </p:nvSpPr>
        <p:spPr>
          <a:xfrm>
            <a:off x="838200" y="1825625"/>
            <a:ext cx="10515600" cy="4351338"/>
          </a:xfrm>
        </p:spPr>
        <p:txBody>
          <a:bodyPr/>
          <a:lstStyle/>
          <a:p>
            <a:pPr marL="0" indent="0">
              <a:buNone/>
            </a:pPr>
            <a:r>
              <a:rPr lang="en-SG" dirty="0"/>
              <a:t>Under the Getting Paid </a:t>
            </a:r>
            <a:r>
              <a:rPr lang="en-SG" dirty="0">
                <a:sym typeface="Wingdings" panose="05000000000000000000" pitchFamily="2" charset="2"/>
              </a:rPr>
              <a:t> Invoices, create a new Invoice with two (2) products/items and then sent it to mackysportsapparel@gmail.com</a:t>
            </a:r>
            <a:endParaRPr lang="en-SG" dirty="0"/>
          </a:p>
        </p:txBody>
      </p:sp>
      <p:pic>
        <p:nvPicPr>
          <p:cNvPr id="3" name="Picture 2">
            <a:extLst>
              <a:ext uri="{FF2B5EF4-FFF2-40B4-BE49-F238E27FC236}">
                <a16:creationId xmlns:a16="http://schemas.microsoft.com/office/drawing/2014/main" id="{56E819B3-D8CD-DCD1-4E2E-971A0A25DDB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595542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FF60C-90A0-3280-78B1-48B1E5C10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24E542-6103-3912-2E24-D411959DE347}"/>
              </a:ext>
            </a:extLst>
          </p:cNvPr>
          <p:cNvSpPr>
            <a:spLocks noGrp="1"/>
          </p:cNvSpPr>
          <p:nvPr>
            <p:ph type="title"/>
          </p:nvPr>
        </p:nvSpPr>
        <p:spPr/>
        <p:txBody>
          <a:bodyPr/>
          <a:lstStyle/>
          <a:p>
            <a:r>
              <a:rPr lang="en-SG" b="1" dirty="0"/>
              <a:t>Activity 15  </a:t>
            </a:r>
          </a:p>
        </p:txBody>
      </p:sp>
      <p:sp>
        <p:nvSpPr>
          <p:cNvPr id="4" name="Content Placeholder 2">
            <a:extLst>
              <a:ext uri="{FF2B5EF4-FFF2-40B4-BE49-F238E27FC236}">
                <a16:creationId xmlns:a16="http://schemas.microsoft.com/office/drawing/2014/main" id="{F6FE9DAB-5FC3-697F-D087-6FA9C87E44D7}"/>
              </a:ext>
            </a:extLst>
          </p:cNvPr>
          <p:cNvSpPr>
            <a:spLocks noGrp="1"/>
          </p:cNvSpPr>
          <p:nvPr>
            <p:ph idx="1"/>
          </p:nvPr>
        </p:nvSpPr>
        <p:spPr>
          <a:xfrm>
            <a:off x="838200" y="1825625"/>
            <a:ext cx="10515600" cy="4351338"/>
          </a:xfrm>
        </p:spPr>
        <p:txBody>
          <a:bodyPr/>
          <a:lstStyle/>
          <a:p>
            <a:pPr marL="0" indent="0">
              <a:buNone/>
            </a:pPr>
            <a:r>
              <a:rPr lang="en-SG" dirty="0"/>
              <a:t>Create a new physical product in your Wix account. The product should be related to your business. Screenshot and paste the newly created product here.</a:t>
            </a:r>
          </a:p>
        </p:txBody>
      </p:sp>
      <p:pic>
        <p:nvPicPr>
          <p:cNvPr id="3" name="Picture 2">
            <a:extLst>
              <a:ext uri="{FF2B5EF4-FFF2-40B4-BE49-F238E27FC236}">
                <a16:creationId xmlns:a16="http://schemas.microsoft.com/office/drawing/2014/main" id="{468298A5-6D2D-0688-B374-C123E5C8E2F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322816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DF4D5-6A99-622B-5A72-165C4382D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357D9-F57C-8096-0133-BEA3A5245522}"/>
              </a:ext>
            </a:extLst>
          </p:cNvPr>
          <p:cNvSpPr>
            <a:spLocks noGrp="1"/>
          </p:cNvSpPr>
          <p:nvPr>
            <p:ph type="title"/>
          </p:nvPr>
        </p:nvSpPr>
        <p:spPr/>
        <p:txBody>
          <a:bodyPr/>
          <a:lstStyle/>
          <a:p>
            <a:r>
              <a:rPr lang="en-SG" b="1" dirty="0"/>
              <a:t>Activity 16  </a:t>
            </a:r>
          </a:p>
        </p:txBody>
      </p:sp>
      <p:sp>
        <p:nvSpPr>
          <p:cNvPr id="4" name="Content Placeholder 2">
            <a:extLst>
              <a:ext uri="{FF2B5EF4-FFF2-40B4-BE49-F238E27FC236}">
                <a16:creationId xmlns:a16="http://schemas.microsoft.com/office/drawing/2014/main" id="{0D9BDA2B-BEA6-20AF-9AFA-8F5B4DC5D2D7}"/>
              </a:ext>
            </a:extLst>
          </p:cNvPr>
          <p:cNvSpPr>
            <a:spLocks noGrp="1"/>
          </p:cNvSpPr>
          <p:nvPr>
            <p:ph idx="1"/>
          </p:nvPr>
        </p:nvSpPr>
        <p:spPr>
          <a:xfrm>
            <a:off x="838200" y="1825625"/>
            <a:ext cx="10515600" cy="4351338"/>
          </a:xfrm>
        </p:spPr>
        <p:txBody>
          <a:bodyPr/>
          <a:lstStyle/>
          <a:p>
            <a:pPr marL="0" indent="0">
              <a:buNone/>
            </a:pPr>
            <a:r>
              <a:rPr lang="en-SG" dirty="0"/>
              <a:t>In Catalog </a:t>
            </a:r>
            <a:r>
              <a:rPr lang="en-SG" dirty="0">
                <a:sym typeface="Wingdings" panose="05000000000000000000" pitchFamily="2" charset="2"/>
              </a:rPr>
              <a:t> Gift Card, edit your gift card amount to SGD 50, SGD 100, SGD 200, SGD 500 and SGD 1000. Update also the expiration date to 8 months. Screenshot and paste here the settings.</a:t>
            </a:r>
            <a:endParaRPr lang="en-SG" dirty="0"/>
          </a:p>
        </p:txBody>
      </p:sp>
      <p:pic>
        <p:nvPicPr>
          <p:cNvPr id="3" name="Picture 2">
            <a:extLst>
              <a:ext uri="{FF2B5EF4-FFF2-40B4-BE49-F238E27FC236}">
                <a16:creationId xmlns:a16="http://schemas.microsoft.com/office/drawing/2014/main" id="{44710436-7463-ED90-A617-21D466D7097A}"/>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758714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BF8AB-C352-7A5E-E10C-03AFE1D28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549E9-E490-20A4-9CD6-137E43FD2A57}"/>
              </a:ext>
            </a:extLst>
          </p:cNvPr>
          <p:cNvSpPr>
            <a:spLocks noGrp="1"/>
          </p:cNvSpPr>
          <p:nvPr>
            <p:ph type="title"/>
          </p:nvPr>
        </p:nvSpPr>
        <p:spPr/>
        <p:txBody>
          <a:bodyPr/>
          <a:lstStyle/>
          <a:p>
            <a:r>
              <a:rPr lang="en-SG" b="1" dirty="0"/>
              <a:t>Activity 17  </a:t>
            </a:r>
          </a:p>
        </p:txBody>
      </p:sp>
      <p:sp>
        <p:nvSpPr>
          <p:cNvPr id="4" name="Content Placeholder 2">
            <a:extLst>
              <a:ext uri="{FF2B5EF4-FFF2-40B4-BE49-F238E27FC236}">
                <a16:creationId xmlns:a16="http://schemas.microsoft.com/office/drawing/2014/main" id="{1FE5774F-D8DE-46C4-1A6F-B5AD39948982}"/>
              </a:ext>
            </a:extLst>
          </p:cNvPr>
          <p:cNvSpPr>
            <a:spLocks noGrp="1"/>
          </p:cNvSpPr>
          <p:nvPr>
            <p:ph idx="1"/>
          </p:nvPr>
        </p:nvSpPr>
        <p:spPr>
          <a:xfrm>
            <a:off x="838200" y="1825625"/>
            <a:ext cx="10515600" cy="4351338"/>
          </a:xfrm>
        </p:spPr>
        <p:txBody>
          <a:bodyPr/>
          <a:lstStyle/>
          <a:p>
            <a:pPr marL="0" indent="0">
              <a:buNone/>
            </a:pPr>
            <a:r>
              <a:rPr lang="en-SG" dirty="0"/>
              <a:t>In your Catalog</a:t>
            </a:r>
            <a:r>
              <a:rPr lang="en-SG" dirty="0">
                <a:sym typeface="Wingdings" panose="05000000000000000000" pitchFamily="2" charset="2"/>
              </a:rPr>
              <a:t> Discounts Coupons, create a new Free Shipping Coupon and provide the necessary information (Coupon code, Coupon name, Apply to, valid between and limit uses). Screenshot and past the newly created coupon</a:t>
            </a:r>
            <a:endParaRPr lang="en-SG" dirty="0"/>
          </a:p>
        </p:txBody>
      </p:sp>
      <p:pic>
        <p:nvPicPr>
          <p:cNvPr id="3" name="Picture 2">
            <a:extLst>
              <a:ext uri="{FF2B5EF4-FFF2-40B4-BE49-F238E27FC236}">
                <a16:creationId xmlns:a16="http://schemas.microsoft.com/office/drawing/2014/main" id="{3BB5E6AF-FB2C-EBBC-BD37-33645FD58FF6}"/>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8228935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E154-FD9B-0DF8-CBF9-873EBB1D9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38012-524A-312A-A1BD-957B618E33C9}"/>
              </a:ext>
            </a:extLst>
          </p:cNvPr>
          <p:cNvSpPr>
            <a:spLocks noGrp="1"/>
          </p:cNvSpPr>
          <p:nvPr>
            <p:ph type="title"/>
          </p:nvPr>
        </p:nvSpPr>
        <p:spPr/>
        <p:txBody>
          <a:bodyPr/>
          <a:lstStyle/>
          <a:p>
            <a:r>
              <a:rPr lang="en-SG" b="1" dirty="0"/>
              <a:t>Activity 18  </a:t>
            </a:r>
          </a:p>
        </p:txBody>
      </p:sp>
      <p:sp>
        <p:nvSpPr>
          <p:cNvPr id="4" name="Content Placeholder 2">
            <a:extLst>
              <a:ext uri="{FF2B5EF4-FFF2-40B4-BE49-F238E27FC236}">
                <a16:creationId xmlns:a16="http://schemas.microsoft.com/office/drawing/2014/main" id="{D34CD4EE-6C58-F6CF-E52A-D2E2661EABBF}"/>
              </a:ext>
            </a:extLst>
          </p:cNvPr>
          <p:cNvSpPr>
            <a:spLocks noGrp="1"/>
          </p:cNvSpPr>
          <p:nvPr>
            <p:ph idx="1"/>
          </p:nvPr>
        </p:nvSpPr>
        <p:spPr>
          <a:xfrm>
            <a:off x="838200" y="1825625"/>
            <a:ext cx="10515600" cy="4351338"/>
          </a:xfrm>
        </p:spPr>
        <p:txBody>
          <a:bodyPr/>
          <a:lstStyle/>
          <a:p>
            <a:pPr marL="0" indent="0">
              <a:buNone/>
            </a:pPr>
            <a:r>
              <a:rPr lang="en-SG" dirty="0"/>
              <a:t>In your Wix App </a:t>
            </a:r>
            <a:r>
              <a:rPr lang="en-SG" dirty="0">
                <a:sym typeface="Wingdings" panose="05000000000000000000" pitchFamily="2" charset="2"/>
              </a:rPr>
              <a:t> App Market, install the TikTok Ads App in your website. Screenshot and paste here that you installed the App</a:t>
            </a:r>
            <a:endParaRPr lang="en-SG" dirty="0"/>
          </a:p>
        </p:txBody>
      </p:sp>
      <p:pic>
        <p:nvPicPr>
          <p:cNvPr id="3" name="Picture 2">
            <a:extLst>
              <a:ext uri="{FF2B5EF4-FFF2-40B4-BE49-F238E27FC236}">
                <a16:creationId xmlns:a16="http://schemas.microsoft.com/office/drawing/2014/main" id="{F0D0391C-A5E8-482E-DAF5-31104EED1272}"/>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385289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C0E01-A6D9-D8E4-13FB-50463E433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DB3FF-8142-4B75-53FC-E78A774E52B8}"/>
              </a:ext>
            </a:extLst>
          </p:cNvPr>
          <p:cNvSpPr>
            <a:spLocks noGrp="1"/>
          </p:cNvSpPr>
          <p:nvPr>
            <p:ph type="title"/>
          </p:nvPr>
        </p:nvSpPr>
        <p:spPr/>
        <p:txBody>
          <a:bodyPr/>
          <a:lstStyle/>
          <a:p>
            <a:r>
              <a:rPr lang="en-SG" b="1" dirty="0"/>
              <a:t>Activity 19  </a:t>
            </a:r>
          </a:p>
        </p:txBody>
      </p:sp>
      <p:sp>
        <p:nvSpPr>
          <p:cNvPr id="4" name="Content Placeholder 2">
            <a:extLst>
              <a:ext uri="{FF2B5EF4-FFF2-40B4-BE49-F238E27FC236}">
                <a16:creationId xmlns:a16="http://schemas.microsoft.com/office/drawing/2014/main" id="{F0AC6F91-59B0-91A3-722D-84E41B26504C}"/>
              </a:ext>
            </a:extLst>
          </p:cNvPr>
          <p:cNvSpPr>
            <a:spLocks noGrp="1"/>
          </p:cNvSpPr>
          <p:nvPr>
            <p:ph idx="1"/>
          </p:nvPr>
        </p:nvSpPr>
        <p:spPr>
          <a:xfrm>
            <a:off x="838200" y="1825625"/>
            <a:ext cx="10515600" cy="4351338"/>
          </a:xfrm>
        </p:spPr>
        <p:txBody>
          <a:bodyPr/>
          <a:lstStyle/>
          <a:p>
            <a:pPr marL="0" indent="0">
              <a:buNone/>
            </a:pPr>
            <a:r>
              <a:rPr lang="en-SG" dirty="0"/>
              <a:t>In the Marketing </a:t>
            </a:r>
            <a:r>
              <a:rPr lang="en-SG" dirty="0">
                <a:sym typeface="Wingdings" panose="05000000000000000000" pitchFamily="2" charset="2"/>
              </a:rPr>
              <a:t> Email Marketing, create a new Campaign using the template “Start a Promotion”. </a:t>
            </a:r>
            <a:r>
              <a:rPr lang="en-SG" i="1" dirty="0">
                <a:sym typeface="Wingdings" panose="05000000000000000000" pitchFamily="2" charset="2"/>
              </a:rPr>
              <a:t>Note: You can use the AI Email Builder. </a:t>
            </a:r>
            <a:r>
              <a:rPr lang="en-SG" dirty="0">
                <a:sym typeface="Wingdings" panose="05000000000000000000" pitchFamily="2" charset="2"/>
              </a:rPr>
              <a:t>Screenshot and paste here the E-mail Create Settings and send a test email to mackysportsapparel@gmail.com</a:t>
            </a:r>
            <a:endParaRPr lang="en-SG" dirty="0"/>
          </a:p>
        </p:txBody>
      </p:sp>
      <p:pic>
        <p:nvPicPr>
          <p:cNvPr id="3" name="Picture 2">
            <a:extLst>
              <a:ext uri="{FF2B5EF4-FFF2-40B4-BE49-F238E27FC236}">
                <a16:creationId xmlns:a16="http://schemas.microsoft.com/office/drawing/2014/main" id="{FD74C8D8-E40E-8AD1-2053-590B095C68D0}"/>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817371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2DCB4-91FD-54BB-0A2B-2C4F84112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DF3E6-7D15-B7B6-8283-E5119177FD8D}"/>
              </a:ext>
            </a:extLst>
          </p:cNvPr>
          <p:cNvSpPr>
            <a:spLocks noGrp="1"/>
          </p:cNvSpPr>
          <p:nvPr>
            <p:ph type="title"/>
          </p:nvPr>
        </p:nvSpPr>
        <p:spPr/>
        <p:txBody>
          <a:bodyPr/>
          <a:lstStyle/>
          <a:p>
            <a:r>
              <a:rPr lang="en-SG" b="1" dirty="0"/>
              <a:t>Activity 20  </a:t>
            </a:r>
          </a:p>
        </p:txBody>
      </p:sp>
      <p:sp>
        <p:nvSpPr>
          <p:cNvPr id="4" name="Content Placeholder 2">
            <a:extLst>
              <a:ext uri="{FF2B5EF4-FFF2-40B4-BE49-F238E27FC236}">
                <a16:creationId xmlns:a16="http://schemas.microsoft.com/office/drawing/2014/main" id="{B75D790D-EC6B-50B3-AACF-110B62C5186F}"/>
              </a:ext>
            </a:extLst>
          </p:cNvPr>
          <p:cNvSpPr>
            <a:spLocks noGrp="1"/>
          </p:cNvSpPr>
          <p:nvPr>
            <p:ph idx="1"/>
          </p:nvPr>
        </p:nvSpPr>
        <p:spPr>
          <a:xfrm>
            <a:off x="838200" y="1825625"/>
            <a:ext cx="10515600" cy="4351338"/>
          </a:xfrm>
        </p:spPr>
        <p:txBody>
          <a:bodyPr/>
          <a:lstStyle/>
          <a:p>
            <a:pPr marL="0" indent="0">
              <a:buNone/>
            </a:pPr>
            <a:r>
              <a:rPr lang="en-SG" dirty="0"/>
              <a:t>In your Wix Settings, set-up a manual payment. Screenshot and paste here the evidence of setting-up a manual payment.</a:t>
            </a:r>
          </a:p>
        </p:txBody>
      </p:sp>
      <p:pic>
        <p:nvPicPr>
          <p:cNvPr id="3" name="Picture 2">
            <a:extLst>
              <a:ext uri="{FF2B5EF4-FFF2-40B4-BE49-F238E27FC236}">
                <a16:creationId xmlns:a16="http://schemas.microsoft.com/office/drawing/2014/main" id="{EFA5EC63-A584-AB0F-B5F8-31CEA7FF4FC1}"/>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959221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12E9E-4E85-C9A7-2D40-CCB9DBC549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A309E8-B678-B2A7-42A6-AE68E587E0E3}"/>
              </a:ext>
            </a:extLst>
          </p:cNvPr>
          <p:cNvSpPr>
            <a:spLocks noGrp="1"/>
          </p:cNvSpPr>
          <p:nvPr>
            <p:ph type="title"/>
          </p:nvPr>
        </p:nvSpPr>
        <p:spPr>
          <a:xfrm>
            <a:off x="838200" y="330401"/>
            <a:ext cx="10515600" cy="1325563"/>
          </a:xfrm>
        </p:spPr>
        <p:txBody>
          <a:bodyPr/>
          <a:lstStyle/>
          <a:p>
            <a:pPr algn="ctr"/>
            <a:r>
              <a:rPr lang="en-SG" dirty="0"/>
              <a:t>WordPress Activities (30 Marks) </a:t>
            </a:r>
          </a:p>
        </p:txBody>
      </p:sp>
      <p:sp>
        <p:nvSpPr>
          <p:cNvPr id="4" name="Title 1">
            <a:extLst>
              <a:ext uri="{FF2B5EF4-FFF2-40B4-BE49-F238E27FC236}">
                <a16:creationId xmlns:a16="http://schemas.microsoft.com/office/drawing/2014/main" id="{1305125E-094B-9853-08D9-0364F7C7DA1A}"/>
              </a:ext>
            </a:extLst>
          </p:cNvPr>
          <p:cNvSpPr txBox="1">
            <a:spLocks/>
          </p:cNvSpPr>
          <p:nvPr/>
        </p:nvSpPr>
        <p:spPr>
          <a:xfrm>
            <a:off x="1071622" y="114255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SG" dirty="0"/>
              <a:t>Marking Rubrics:</a:t>
            </a:r>
          </a:p>
        </p:txBody>
      </p:sp>
      <p:graphicFrame>
        <p:nvGraphicFramePr>
          <p:cNvPr id="6" name="Table 5">
            <a:extLst>
              <a:ext uri="{FF2B5EF4-FFF2-40B4-BE49-F238E27FC236}">
                <a16:creationId xmlns:a16="http://schemas.microsoft.com/office/drawing/2014/main" id="{256BEBF3-6317-BF28-4AE6-12B946281A13}"/>
              </a:ext>
            </a:extLst>
          </p:cNvPr>
          <p:cNvGraphicFramePr>
            <a:graphicFrameLocks noGrp="1"/>
          </p:cNvGraphicFramePr>
          <p:nvPr>
            <p:extLst>
              <p:ext uri="{D42A27DB-BD31-4B8C-83A1-F6EECF244321}">
                <p14:modId xmlns:p14="http://schemas.microsoft.com/office/powerpoint/2010/main" val="352791934"/>
              </p:ext>
            </p:extLst>
          </p:nvPr>
        </p:nvGraphicFramePr>
        <p:xfrm>
          <a:off x="1175794" y="2215640"/>
          <a:ext cx="10411428" cy="4348480"/>
        </p:xfrm>
        <a:graphic>
          <a:graphicData uri="http://schemas.openxmlformats.org/drawingml/2006/table">
            <a:tbl>
              <a:tblPr firstRow="1" bandRow="1">
                <a:tableStyleId>{5C22544A-7EE6-4342-B048-85BDC9FD1C3A}</a:tableStyleId>
              </a:tblPr>
              <a:tblGrid>
                <a:gridCol w="1903958">
                  <a:extLst>
                    <a:ext uri="{9D8B030D-6E8A-4147-A177-3AD203B41FA5}">
                      <a16:colId xmlns:a16="http://schemas.microsoft.com/office/drawing/2014/main" val="1800813412"/>
                    </a:ext>
                  </a:extLst>
                </a:gridCol>
                <a:gridCol w="7057368">
                  <a:extLst>
                    <a:ext uri="{9D8B030D-6E8A-4147-A177-3AD203B41FA5}">
                      <a16:colId xmlns:a16="http://schemas.microsoft.com/office/drawing/2014/main" val="4080650455"/>
                    </a:ext>
                  </a:extLst>
                </a:gridCol>
                <a:gridCol w="1450102">
                  <a:extLst>
                    <a:ext uri="{9D8B030D-6E8A-4147-A177-3AD203B41FA5}">
                      <a16:colId xmlns:a16="http://schemas.microsoft.com/office/drawing/2014/main" val="2770320181"/>
                    </a:ext>
                  </a:extLst>
                </a:gridCol>
              </a:tblGrid>
              <a:tr h="370840">
                <a:tc>
                  <a:txBody>
                    <a:bodyPr/>
                    <a:lstStyle/>
                    <a:p>
                      <a:r>
                        <a:rPr lang="en-SG" dirty="0"/>
                        <a:t>Activity #</a:t>
                      </a:r>
                    </a:p>
                  </a:txBody>
                  <a:tcPr/>
                </a:tc>
                <a:tc>
                  <a:txBody>
                    <a:bodyPr/>
                    <a:lstStyle/>
                    <a:p>
                      <a:r>
                        <a:rPr lang="en-SG" dirty="0"/>
                        <a:t>Requirements</a:t>
                      </a:r>
                    </a:p>
                  </a:txBody>
                  <a:tcPr/>
                </a:tc>
                <a:tc>
                  <a:txBody>
                    <a:bodyPr/>
                    <a:lstStyle/>
                    <a:p>
                      <a:pPr algn="ctr"/>
                      <a:r>
                        <a:rPr lang="en-SG" dirty="0"/>
                        <a:t>Marks</a:t>
                      </a:r>
                    </a:p>
                  </a:txBody>
                  <a:tcPr/>
                </a:tc>
                <a:extLst>
                  <a:ext uri="{0D108BD9-81ED-4DB2-BD59-A6C34878D82A}">
                    <a16:rowId xmlns:a16="http://schemas.microsoft.com/office/drawing/2014/main" val="3814175881"/>
                  </a:ext>
                </a:extLst>
              </a:tr>
              <a:tr h="370840">
                <a:tc>
                  <a:txBody>
                    <a:bodyPr/>
                    <a:lstStyle/>
                    <a:p>
                      <a:r>
                        <a:rPr lang="en-SG" dirty="0"/>
                        <a:t>Activity 21</a:t>
                      </a:r>
                    </a:p>
                  </a:txBody>
                  <a:tcPr/>
                </a:tc>
                <a:tc>
                  <a:txBody>
                    <a:bodyPr/>
                    <a:lstStyle/>
                    <a:p>
                      <a:r>
                        <a:rPr lang="en-SG" dirty="0"/>
                        <a:t>Provided a screenshot of the WordPress Dashboard</a:t>
                      </a:r>
                    </a:p>
                  </a:txBody>
                  <a:tcPr/>
                </a:tc>
                <a:tc>
                  <a:txBody>
                    <a:bodyPr/>
                    <a:lstStyle/>
                    <a:p>
                      <a:pPr algn="ctr"/>
                      <a:r>
                        <a:rPr lang="en-SG" dirty="0"/>
                        <a:t>3</a:t>
                      </a:r>
                    </a:p>
                  </a:txBody>
                  <a:tcPr/>
                </a:tc>
                <a:extLst>
                  <a:ext uri="{0D108BD9-81ED-4DB2-BD59-A6C34878D82A}">
                    <a16:rowId xmlns:a16="http://schemas.microsoft.com/office/drawing/2014/main" val="1740075226"/>
                  </a:ext>
                </a:extLst>
              </a:tr>
              <a:tr h="370840">
                <a:tc>
                  <a:txBody>
                    <a:bodyPr/>
                    <a:lstStyle/>
                    <a:p>
                      <a:r>
                        <a:rPr lang="en-SG" dirty="0"/>
                        <a:t>Activity 22</a:t>
                      </a:r>
                    </a:p>
                  </a:txBody>
                  <a:tcPr/>
                </a:tc>
                <a:tc>
                  <a:txBody>
                    <a:bodyPr/>
                    <a:lstStyle/>
                    <a:p>
                      <a:r>
                        <a:rPr lang="en-SG" dirty="0"/>
                        <a:t>Provided a screenshot of the WordPress Live 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620873852"/>
                  </a:ext>
                </a:extLst>
              </a:tr>
              <a:tr h="370840">
                <a:tc>
                  <a:txBody>
                    <a:bodyPr/>
                    <a:lstStyle/>
                    <a:p>
                      <a:r>
                        <a:rPr lang="en-SG" dirty="0"/>
                        <a:t>Activity 23</a:t>
                      </a:r>
                    </a:p>
                  </a:txBody>
                  <a:tcPr/>
                </a:tc>
                <a:tc>
                  <a:txBody>
                    <a:bodyPr/>
                    <a:lstStyle/>
                    <a:p>
                      <a:r>
                        <a:rPr lang="en-SG" dirty="0"/>
                        <a:t>Provided the screenshot of the current WordPress plan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2894768120"/>
                  </a:ext>
                </a:extLst>
              </a:tr>
              <a:tr h="370840">
                <a:tc>
                  <a:txBody>
                    <a:bodyPr/>
                    <a:lstStyle/>
                    <a:p>
                      <a:r>
                        <a:rPr lang="en-SG" dirty="0"/>
                        <a:t>Activity 24</a:t>
                      </a:r>
                    </a:p>
                  </a:txBody>
                  <a:tcPr/>
                </a:tc>
                <a:tc>
                  <a:txBody>
                    <a:bodyPr/>
                    <a:lstStyle/>
                    <a:p>
                      <a:r>
                        <a:rPr lang="en-SG" dirty="0"/>
                        <a:t>Created a new Feedback Form and provided the screenshot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5884279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25</a:t>
                      </a:r>
                    </a:p>
                  </a:txBody>
                  <a:tcPr/>
                </a:tc>
                <a:tc>
                  <a:txBody>
                    <a:bodyPr/>
                    <a:lstStyle/>
                    <a:p>
                      <a:r>
                        <a:rPr lang="en-SG" dirty="0"/>
                        <a:t>Added/Created a new Post about Community involvement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401994118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26</a:t>
                      </a:r>
                    </a:p>
                  </a:txBody>
                  <a:tcPr/>
                </a:tc>
                <a:tc>
                  <a:txBody>
                    <a:bodyPr/>
                    <a:lstStyle/>
                    <a:p>
                      <a:r>
                        <a:rPr lang="en-SG" dirty="0"/>
                        <a:t>Added the newly created Post into the Blog Category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9508864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27</a:t>
                      </a:r>
                    </a:p>
                  </a:txBody>
                  <a:tcPr/>
                </a:tc>
                <a:tc>
                  <a:txBody>
                    <a:bodyPr/>
                    <a:lstStyle/>
                    <a:p>
                      <a:r>
                        <a:rPr lang="en-SG" dirty="0"/>
                        <a:t>Added 3 photos from Pexels in the media library</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232663709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Added/Created a new Page with a Gallery Block added and 3-4 photos inside it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2592081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29</a:t>
                      </a:r>
                    </a:p>
                  </a:txBody>
                  <a:tcPr/>
                </a:tc>
                <a:tc>
                  <a:txBody>
                    <a:bodyPr/>
                    <a:lstStyle/>
                    <a:p>
                      <a:r>
                        <a:rPr lang="en-SG" dirty="0"/>
                        <a:t>Provided the screenshots of three essential/necessary plugins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a:ln>
                            <a:noFill/>
                          </a:ln>
                          <a:solidFill>
                            <a:prstClr val="black"/>
                          </a:solidFill>
                          <a:effectLst/>
                          <a:uLnTx/>
                          <a:uFillTx/>
                          <a:latin typeface="Calibri" panose="020F0502020204030204"/>
                          <a:ea typeface="+mn-ea"/>
                          <a:cs typeface="+mn-cs"/>
                        </a:rPr>
                        <a:t>3</a:t>
                      </a:r>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79969105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Activity 30</a:t>
                      </a:r>
                    </a:p>
                  </a:txBody>
                  <a:tcPr/>
                </a:tc>
                <a:tc>
                  <a:txBody>
                    <a:bodyPr/>
                    <a:lstStyle/>
                    <a:p>
                      <a:r>
                        <a:rPr lang="en-SG" dirty="0"/>
                        <a:t>Activated another theme for the WordPress website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rPr>
                        <a:t>3</a:t>
                      </a:r>
                    </a:p>
                  </a:txBody>
                  <a:tcPr/>
                </a:tc>
                <a:extLst>
                  <a:ext uri="{0D108BD9-81ED-4DB2-BD59-A6C34878D82A}">
                    <a16:rowId xmlns:a16="http://schemas.microsoft.com/office/drawing/2014/main" val="3685612"/>
                  </a:ext>
                </a:extLst>
              </a:tr>
            </a:tbl>
          </a:graphicData>
        </a:graphic>
      </p:graphicFrame>
    </p:spTree>
    <p:extLst>
      <p:ext uri="{BB962C8B-B14F-4D97-AF65-F5344CB8AC3E}">
        <p14:creationId xmlns:p14="http://schemas.microsoft.com/office/powerpoint/2010/main" val="1292448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CA480-8555-BA70-92CB-A88A1466E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C5868-ED4F-3405-2BB3-6B4D94956C47}"/>
              </a:ext>
            </a:extLst>
          </p:cNvPr>
          <p:cNvSpPr>
            <a:spLocks noGrp="1"/>
          </p:cNvSpPr>
          <p:nvPr>
            <p:ph type="title"/>
          </p:nvPr>
        </p:nvSpPr>
        <p:spPr/>
        <p:txBody>
          <a:bodyPr/>
          <a:lstStyle/>
          <a:p>
            <a:r>
              <a:rPr lang="en-SG" b="1" dirty="0"/>
              <a:t>Activity 21 </a:t>
            </a:r>
          </a:p>
        </p:txBody>
      </p:sp>
      <p:sp>
        <p:nvSpPr>
          <p:cNvPr id="4" name="Content Placeholder 2">
            <a:extLst>
              <a:ext uri="{FF2B5EF4-FFF2-40B4-BE49-F238E27FC236}">
                <a16:creationId xmlns:a16="http://schemas.microsoft.com/office/drawing/2014/main" id="{3506D611-1964-7703-DB18-D38AC061EBE3}"/>
              </a:ext>
            </a:extLst>
          </p:cNvPr>
          <p:cNvSpPr>
            <a:spLocks noGrp="1"/>
          </p:cNvSpPr>
          <p:nvPr>
            <p:ph idx="1"/>
          </p:nvPr>
        </p:nvSpPr>
        <p:spPr>
          <a:xfrm>
            <a:off x="838200" y="1825625"/>
            <a:ext cx="10515600" cy="4351338"/>
          </a:xfrm>
        </p:spPr>
        <p:txBody>
          <a:bodyPr/>
          <a:lstStyle/>
          <a:p>
            <a:pPr marL="0" indent="0">
              <a:buNone/>
            </a:pPr>
            <a:r>
              <a:rPr lang="en-SG" dirty="0"/>
              <a:t>Screenshot and paste here your WordPress Dashboard. </a:t>
            </a:r>
            <a:endParaRPr lang="en-SG" i="1" dirty="0"/>
          </a:p>
        </p:txBody>
      </p:sp>
      <p:pic>
        <p:nvPicPr>
          <p:cNvPr id="3" name="Picture 2">
            <a:extLst>
              <a:ext uri="{FF2B5EF4-FFF2-40B4-BE49-F238E27FC236}">
                <a16:creationId xmlns:a16="http://schemas.microsoft.com/office/drawing/2014/main" id="{A1D3CEC2-9E00-2A6C-AE7D-34F1DF4D1877}"/>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225217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5BCD5-6D69-8B94-B513-9557B1254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6E56A-B738-CBCF-FAC6-BF20E6801BB5}"/>
              </a:ext>
            </a:extLst>
          </p:cNvPr>
          <p:cNvSpPr>
            <a:spLocks noGrp="1"/>
          </p:cNvSpPr>
          <p:nvPr>
            <p:ph type="title"/>
          </p:nvPr>
        </p:nvSpPr>
        <p:spPr/>
        <p:txBody>
          <a:bodyPr/>
          <a:lstStyle/>
          <a:p>
            <a:r>
              <a:rPr lang="en-SG" b="1" dirty="0"/>
              <a:t>Activity 22 </a:t>
            </a:r>
          </a:p>
        </p:txBody>
      </p:sp>
      <p:sp>
        <p:nvSpPr>
          <p:cNvPr id="4" name="Content Placeholder 2">
            <a:extLst>
              <a:ext uri="{FF2B5EF4-FFF2-40B4-BE49-F238E27FC236}">
                <a16:creationId xmlns:a16="http://schemas.microsoft.com/office/drawing/2014/main" id="{DEED967A-329E-88E6-C56E-CD681E393534}"/>
              </a:ext>
            </a:extLst>
          </p:cNvPr>
          <p:cNvSpPr>
            <a:spLocks noGrp="1"/>
          </p:cNvSpPr>
          <p:nvPr>
            <p:ph idx="1"/>
          </p:nvPr>
        </p:nvSpPr>
        <p:spPr>
          <a:xfrm>
            <a:off x="838200" y="1825625"/>
            <a:ext cx="10515600" cy="4351338"/>
          </a:xfrm>
        </p:spPr>
        <p:txBody>
          <a:bodyPr/>
          <a:lstStyle/>
          <a:p>
            <a:pPr marL="0" indent="0">
              <a:buNone/>
            </a:pPr>
            <a:r>
              <a:rPr lang="en-SG" dirty="0"/>
              <a:t>Screenshot and paste here your WordPress live site.</a:t>
            </a:r>
          </a:p>
        </p:txBody>
      </p:sp>
      <p:pic>
        <p:nvPicPr>
          <p:cNvPr id="3" name="Picture 2">
            <a:extLst>
              <a:ext uri="{FF2B5EF4-FFF2-40B4-BE49-F238E27FC236}">
                <a16:creationId xmlns:a16="http://schemas.microsoft.com/office/drawing/2014/main" id="{C2EBF4CE-2BCA-A1B9-A3F9-38827583F312}"/>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982832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0B355-22FF-52B3-D114-E1952FAB1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F0DFD-A3D5-B759-A486-AD112450FFE0}"/>
              </a:ext>
            </a:extLst>
          </p:cNvPr>
          <p:cNvSpPr>
            <a:spLocks noGrp="1"/>
          </p:cNvSpPr>
          <p:nvPr>
            <p:ph type="title"/>
          </p:nvPr>
        </p:nvSpPr>
        <p:spPr/>
        <p:txBody>
          <a:bodyPr/>
          <a:lstStyle/>
          <a:p>
            <a:r>
              <a:rPr lang="en-SG" b="1" dirty="0"/>
              <a:t>Activity 23 </a:t>
            </a:r>
          </a:p>
        </p:txBody>
      </p:sp>
      <p:sp>
        <p:nvSpPr>
          <p:cNvPr id="4" name="Content Placeholder 2">
            <a:extLst>
              <a:ext uri="{FF2B5EF4-FFF2-40B4-BE49-F238E27FC236}">
                <a16:creationId xmlns:a16="http://schemas.microsoft.com/office/drawing/2014/main" id="{F8D03756-50E3-D174-E21F-905D4CFB94BE}"/>
              </a:ext>
            </a:extLst>
          </p:cNvPr>
          <p:cNvSpPr>
            <a:spLocks noGrp="1"/>
          </p:cNvSpPr>
          <p:nvPr>
            <p:ph idx="1"/>
          </p:nvPr>
        </p:nvSpPr>
        <p:spPr>
          <a:xfrm>
            <a:off x="838200" y="1825625"/>
            <a:ext cx="10515600" cy="4351338"/>
          </a:xfrm>
        </p:spPr>
        <p:txBody>
          <a:bodyPr/>
          <a:lstStyle/>
          <a:p>
            <a:pPr marL="0" indent="0">
              <a:buNone/>
            </a:pPr>
            <a:r>
              <a:rPr lang="en-SG" dirty="0"/>
              <a:t>Screenshot and paste here the current WordPress plan.</a:t>
            </a:r>
          </a:p>
        </p:txBody>
      </p:sp>
      <p:pic>
        <p:nvPicPr>
          <p:cNvPr id="3" name="Picture 2">
            <a:extLst>
              <a:ext uri="{FF2B5EF4-FFF2-40B4-BE49-F238E27FC236}">
                <a16:creationId xmlns:a16="http://schemas.microsoft.com/office/drawing/2014/main" id="{F1D6E639-9716-F6DC-AB73-F07720E7CD77}"/>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670306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F1B0B-E462-083A-A7AC-7D8141653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3CACF-A735-5121-EC89-3F9A05922EF7}"/>
              </a:ext>
            </a:extLst>
          </p:cNvPr>
          <p:cNvSpPr>
            <a:spLocks noGrp="1"/>
          </p:cNvSpPr>
          <p:nvPr>
            <p:ph type="title"/>
          </p:nvPr>
        </p:nvSpPr>
        <p:spPr/>
        <p:txBody>
          <a:bodyPr/>
          <a:lstStyle/>
          <a:p>
            <a:r>
              <a:rPr lang="en-SG" b="1" dirty="0"/>
              <a:t>Activity 24 </a:t>
            </a:r>
          </a:p>
        </p:txBody>
      </p:sp>
      <p:sp>
        <p:nvSpPr>
          <p:cNvPr id="4" name="Content Placeholder 2">
            <a:extLst>
              <a:ext uri="{FF2B5EF4-FFF2-40B4-BE49-F238E27FC236}">
                <a16:creationId xmlns:a16="http://schemas.microsoft.com/office/drawing/2014/main" id="{E6E30D23-38F8-2987-2B97-938EDB06DDFF}"/>
              </a:ext>
            </a:extLst>
          </p:cNvPr>
          <p:cNvSpPr>
            <a:spLocks noGrp="1"/>
          </p:cNvSpPr>
          <p:nvPr>
            <p:ph idx="1"/>
          </p:nvPr>
        </p:nvSpPr>
        <p:spPr>
          <a:xfrm>
            <a:off x="838200" y="1825625"/>
            <a:ext cx="10515600" cy="4351338"/>
          </a:xfrm>
        </p:spPr>
        <p:txBody>
          <a:bodyPr/>
          <a:lstStyle/>
          <a:p>
            <a:pPr marL="0" indent="0">
              <a:buNone/>
            </a:pPr>
            <a:r>
              <a:rPr lang="en-SG" dirty="0"/>
              <a:t>In your Jetpack</a:t>
            </a:r>
            <a:r>
              <a:rPr lang="en-SG" dirty="0">
                <a:sym typeface="Wingdings" panose="05000000000000000000" pitchFamily="2" charset="2"/>
              </a:rPr>
              <a:t> Forms, create a new Feedback Form. Screenshot and paste here the newly created Feedback Form</a:t>
            </a:r>
            <a:endParaRPr lang="en-SG" dirty="0"/>
          </a:p>
        </p:txBody>
      </p:sp>
      <p:pic>
        <p:nvPicPr>
          <p:cNvPr id="3" name="Picture 2">
            <a:extLst>
              <a:ext uri="{FF2B5EF4-FFF2-40B4-BE49-F238E27FC236}">
                <a16:creationId xmlns:a16="http://schemas.microsoft.com/office/drawing/2014/main" id="{0A73E6A8-8458-536E-A5D2-2040E28D9414}"/>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889605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229B5-046D-A43F-C174-E3EEFA9BB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7F355-4D64-B7D2-9899-C8333FFF1DD7}"/>
              </a:ext>
            </a:extLst>
          </p:cNvPr>
          <p:cNvSpPr>
            <a:spLocks noGrp="1"/>
          </p:cNvSpPr>
          <p:nvPr>
            <p:ph type="title"/>
          </p:nvPr>
        </p:nvSpPr>
        <p:spPr/>
        <p:txBody>
          <a:bodyPr/>
          <a:lstStyle/>
          <a:p>
            <a:r>
              <a:rPr lang="en-SG" b="1" dirty="0"/>
              <a:t>Activity 25 </a:t>
            </a:r>
          </a:p>
        </p:txBody>
      </p:sp>
      <p:sp>
        <p:nvSpPr>
          <p:cNvPr id="4" name="Content Placeholder 2">
            <a:extLst>
              <a:ext uri="{FF2B5EF4-FFF2-40B4-BE49-F238E27FC236}">
                <a16:creationId xmlns:a16="http://schemas.microsoft.com/office/drawing/2014/main" id="{15363FE9-8FF2-A81B-FF56-2C03C26A4BB7}"/>
              </a:ext>
            </a:extLst>
          </p:cNvPr>
          <p:cNvSpPr>
            <a:spLocks noGrp="1"/>
          </p:cNvSpPr>
          <p:nvPr>
            <p:ph idx="1"/>
          </p:nvPr>
        </p:nvSpPr>
        <p:spPr>
          <a:xfrm>
            <a:off x="838200" y="1825625"/>
            <a:ext cx="10515600" cy="4351338"/>
          </a:xfrm>
        </p:spPr>
        <p:txBody>
          <a:bodyPr/>
          <a:lstStyle/>
          <a:p>
            <a:pPr marL="0" indent="0">
              <a:buNone/>
            </a:pPr>
            <a:r>
              <a:rPr lang="en-SG" dirty="0"/>
              <a:t>In your WordPress website, add a new post about the company’s involvement in community. Note: You can use AI (ChatGPT or Gemini) to generate the Title and contents of your post. Screenshot and paste here the newly created post. </a:t>
            </a:r>
          </a:p>
        </p:txBody>
      </p:sp>
      <p:pic>
        <p:nvPicPr>
          <p:cNvPr id="3" name="Picture 2">
            <a:extLst>
              <a:ext uri="{FF2B5EF4-FFF2-40B4-BE49-F238E27FC236}">
                <a16:creationId xmlns:a16="http://schemas.microsoft.com/office/drawing/2014/main" id="{9CC5FD9F-0DAA-3177-1CFE-00966A9E4B49}"/>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207657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66E5-B7EE-450C-F629-261E5FEA8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6F45C2-5262-3144-57BD-57EA1B13960C}"/>
              </a:ext>
            </a:extLst>
          </p:cNvPr>
          <p:cNvSpPr>
            <a:spLocks noGrp="1"/>
          </p:cNvSpPr>
          <p:nvPr>
            <p:ph type="title"/>
          </p:nvPr>
        </p:nvSpPr>
        <p:spPr/>
        <p:txBody>
          <a:bodyPr/>
          <a:lstStyle/>
          <a:p>
            <a:r>
              <a:rPr lang="en-SG" b="1" dirty="0"/>
              <a:t>Activity 26 </a:t>
            </a:r>
          </a:p>
        </p:txBody>
      </p:sp>
      <p:sp>
        <p:nvSpPr>
          <p:cNvPr id="4" name="Content Placeholder 2">
            <a:extLst>
              <a:ext uri="{FF2B5EF4-FFF2-40B4-BE49-F238E27FC236}">
                <a16:creationId xmlns:a16="http://schemas.microsoft.com/office/drawing/2014/main" id="{BF8A9D3C-C804-4127-DB88-BCFB0CD65BEC}"/>
              </a:ext>
            </a:extLst>
          </p:cNvPr>
          <p:cNvSpPr>
            <a:spLocks noGrp="1"/>
          </p:cNvSpPr>
          <p:nvPr>
            <p:ph idx="1"/>
          </p:nvPr>
        </p:nvSpPr>
        <p:spPr>
          <a:xfrm>
            <a:off x="838200" y="1825625"/>
            <a:ext cx="10515600" cy="4351338"/>
          </a:xfrm>
        </p:spPr>
        <p:txBody>
          <a:bodyPr/>
          <a:lstStyle/>
          <a:p>
            <a:pPr marL="0" indent="0">
              <a:buNone/>
            </a:pPr>
            <a:r>
              <a:rPr lang="en-SG" dirty="0"/>
              <a:t>Add the newly created post into the “Blogs” category. Screenshot and paste your evidence here.</a:t>
            </a:r>
          </a:p>
        </p:txBody>
      </p:sp>
      <p:pic>
        <p:nvPicPr>
          <p:cNvPr id="3" name="Picture 2">
            <a:extLst>
              <a:ext uri="{FF2B5EF4-FFF2-40B4-BE49-F238E27FC236}">
                <a16:creationId xmlns:a16="http://schemas.microsoft.com/office/drawing/2014/main" id="{1E6379FC-FCE7-706B-7C4E-057C5C8B33A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2192899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F7C40-FDD3-84EC-BAB3-1FA916414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26709-9A3E-FD26-C977-64F42C0506B8}"/>
              </a:ext>
            </a:extLst>
          </p:cNvPr>
          <p:cNvSpPr>
            <a:spLocks noGrp="1"/>
          </p:cNvSpPr>
          <p:nvPr>
            <p:ph type="title"/>
          </p:nvPr>
        </p:nvSpPr>
        <p:spPr/>
        <p:txBody>
          <a:bodyPr/>
          <a:lstStyle/>
          <a:p>
            <a:r>
              <a:rPr lang="en-SG" b="1" dirty="0"/>
              <a:t>Activity 27 </a:t>
            </a:r>
          </a:p>
        </p:txBody>
      </p:sp>
      <p:sp>
        <p:nvSpPr>
          <p:cNvPr id="4" name="Content Placeholder 2">
            <a:extLst>
              <a:ext uri="{FF2B5EF4-FFF2-40B4-BE49-F238E27FC236}">
                <a16:creationId xmlns:a16="http://schemas.microsoft.com/office/drawing/2014/main" id="{5F3E91CF-2C5D-69C1-E46C-06947BF626AD}"/>
              </a:ext>
            </a:extLst>
          </p:cNvPr>
          <p:cNvSpPr>
            <a:spLocks noGrp="1"/>
          </p:cNvSpPr>
          <p:nvPr>
            <p:ph idx="1"/>
          </p:nvPr>
        </p:nvSpPr>
        <p:spPr>
          <a:xfrm>
            <a:off x="838200" y="1825625"/>
            <a:ext cx="10515600" cy="4351338"/>
          </a:xfrm>
        </p:spPr>
        <p:txBody>
          <a:bodyPr/>
          <a:lstStyle/>
          <a:p>
            <a:pPr marL="0" indent="0">
              <a:buNone/>
            </a:pPr>
            <a:r>
              <a:rPr lang="en-SG" dirty="0"/>
              <a:t>In your Media Library, import three (3) photos from Pexels in relation to your products and services (E.g., Chicken, Coffee, Burgers, Medicine, Shan Food, Hotpot, etc.). Screenshot and paste here the evidence of importing the photos</a:t>
            </a:r>
          </a:p>
        </p:txBody>
      </p:sp>
      <p:pic>
        <p:nvPicPr>
          <p:cNvPr id="3" name="Picture 2">
            <a:extLst>
              <a:ext uri="{FF2B5EF4-FFF2-40B4-BE49-F238E27FC236}">
                <a16:creationId xmlns:a16="http://schemas.microsoft.com/office/drawing/2014/main" id="{34338F4A-07E4-A30D-6AE4-D5D75547F608}"/>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1111738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C52B5-ABB5-D56F-7C87-27E8CB9F6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A6D22-A05D-DB43-4984-56D619CC889E}"/>
              </a:ext>
            </a:extLst>
          </p:cNvPr>
          <p:cNvSpPr>
            <a:spLocks noGrp="1"/>
          </p:cNvSpPr>
          <p:nvPr>
            <p:ph type="title"/>
          </p:nvPr>
        </p:nvSpPr>
        <p:spPr/>
        <p:txBody>
          <a:bodyPr/>
          <a:lstStyle/>
          <a:p>
            <a:r>
              <a:rPr lang="en-SG" b="1" dirty="0"/>
              <a:t>Activity 28 </a:t>
            </a:r>
          </a:p>
        </p:txBody>
      </p:sp>
      <p:sp>
        <p:nvSpPr>
          <p:cNvPr id="4" name="Content Placeholder 2">
            <a:extLst>
              <a:ext uri="{FF2B5EF4-FFF2-40B4-BE49-F238E27FC236}">
                <a16:creationId xmlns:a16="http://schemas.microsoft.com/office/drawing/2014/main" id="{0FD1B8A2-6780-C273-6967-91B90511A40A}"/>
              </a:ext>
            </a:extLst>
          </p:cNvPr>
          <p:cNvSpPr>
            <a:spLocks noGrp="1"/>
          </p:cNvSpPr>
          <p:nvPr>
            <p:ph idx="1"/>
          </p:nvPr>
        </p:nvSpPr>
        <p:spPr>
          <a:xfrm>
            <a:off x="838200" y="1825625"/>
            <a:ext cx="10515600" cy="4351338"/>
          </a:xfrm>
        </p:spPr>
        <p:txBody>
          <a:bodyPr/>
          <a:lstStyle/>
          <a:p>
            <a:pPr marL="0" indent="0">
              <a:buNone/>
            </a:pPr>
            <a:r>
              <a:rPr lang="en-SG" dirty="0"/>
              <a:t>Create a new Page in your WordPress account. Name your new Page as “Gallery”. The page should add the “Gallery” block and add 3-4 photos. Screenshot and paste here the evidence.</a:t>
            </a:r>
          </a:p>
        </p:txBody>
      </p:sp>
      <p:pic>
        <p:nvPicPr>
          <p:cNvPr id="3" name="Picture 2">
            <a:extLst>
              <a:ext uri="{FF2B5EF4-FFF2-40B4-BE49-F238E27FC236}">
                <a16:creationId xmlns:a16="http://schemas.microsoft.com/office/drawing/2014/main" id="{B6388111-BAC8-D288-E359-7307D7407085}"/>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385124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BECF4-F5E0-A88A-45FC-452534414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429ED-0A1F-EBF2-64B0-35AD826C2528}"/>
              </a:ext>
            </a:extLst>
          </p:cNvPr>
          <p:cNvSpPr>
            <a:spLocks noGrp="1"/>
          </p:cNvSpPr>
          <p:nvPr>
            <p:ph type="title"/>
          </p:nvPr>
        </p:nvSpPr>
        <p:spPr/>
        <p:txBody>
          <a:bodyPr/>
          <a:lstStyle/>
          <a:p>
            <a:r>
              <a:rPr lang="en-SG" b="1" dirty="0"/>
              <a:t>Activity 29 </a:t>
            </a:r>
          </a:p>
        </p:txBody>
      </p:sp>
      <p:sp>
        <p:nvSpPr>
          <p:cNvPr id="4" name="Content Placeholder 2">
            <a:extLst>
              <a:ext uri="{FF2B5EF4-FFF2-40B4-BE49-F238E27FC236}">
                <a16:creationId xmlns:a16="http://schemas.microsoft.com/office/drawing/2014/main" id="{3E5C943C-5B53-D000-7168-8FE78BEBB365}"/>
              </a:ext>
            </a:extLst>
          </p:cNvPr>
          <p:cNvSpPr>
            <a:spLocks noGrp="1"/>
          </p:cNvSpPr>
          <p:nvPr>
            <p:ph idx="1"/>
          </p:nvPr>
        </p:nvSpPr>
        <p:spPr>
          <a:xfrm>
            <a:off x="838200" y="1825625"/>
            <a:ext cx="10515600" cy="4351338"/>
          </a:xfrm>
        </p:spPr>
        <p:txBody>
          <a:bodyPr/>
          <a:lstStyle/>
          <a:p>
            <a:pPr marL="0" indent="0">
              <a:buNone/>
            </a:pPr>
            <a:r>
              <a:rPr lang="en-SG" dirty="0"/>
              <a:t>Select 3 plugins that are essential/necessary to have in your WordPress website. Screenshot and paste the three (3) selected plugins.</a:t>
            </a:r>
          </a:p>
        </p:txBody>
      </p:sp>
      <p:pic>
        <p:nvPicPr>
          <p:cNvPr id="3" name="Picture 2">
            <a:extLst>
              <a:ext uri="{FF2B5EF4-FFF2-40B4-BE49-F238E27FC236}">
                <a16:creationId xmlns:a16="http://schemas.microsoft.com/office/drawing/2014/main" id="{0C9E6D34-C94D-5DA6-CEF0-4A345F31EFDF}"/>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3842387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CA1C5-ED63-B2B0-8D57-BE05DE397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28689-95F7-ED3C-7C61-EC98BB9EEC68}"/>
              </a:ext>
            </a:extLst>
          </p:cNvPr>
          <p:cNvSpPr>
            <a:spLocks noGrp="1"/>
          </p:cNvSpPr>
          <p:nvPr>
            <p:ph type="title"/>
          </p:nvPr>
        </p:nvSpPr>
        <p:spPr/>
        <p:txBody>
          <a:bodyPr/>
          <a:lstStyle/>
          <a:p>
            <a:r>
              <a:rPr lang="en-SG" b="1" dirty="0"/>
              <a:t>Activity 30 </a:t>
            </a:r>
          </a:p>
        </p:txBody>
      </p:sp>
      <p:sp>
        <p:nvSpPr>
          <p:cNvPr id="4" name="Content Placeholder 2">
            <a:extLst>
              <a:ext uri="{FF2B5EF4-FFF2-40B4-BE49-F238E27FC236}">
                <a16:creationId xmlns:a16="http://schemas.microsoft.com/office/drawing/2014/main" id="{F6B12917-B935-F41D-E4AC-BAF6A3349456}"/>
              </a:ext>
            </a:extLst>
          </p:cNvPr>
          <p:cNvSpPr>
            <a:spLocks noGrp="1"/>
          </p:cNvSpPr>
          <p:nvPr>
            <p:ph idx="1"/>
          </p:nvPr>
        </p:nvSpPr>
        <p:spPr>
          <a:xfrm>
            <a:off x="838200" y="1825625"/>
            <a:ext cx="10515600" cy="4351338"/>
          </a:xfrm>
        </p:spPr>
        <p:txBody>
          <a:bodyPr/>
          <a:lstStyle/>
          <a:p>
            <a:pPr marL="0" indent="0">
              <a:buNone/>
            </a:pPr>
            <a:r>
              <a:rPr lang="en-SG" dirty="0"/>
              <a:t>In Appearance</a:t>
            </a:r>
            <a:r>
              <a:rPr lang="en-SG" dirty="0">
                <a:sym typeface="Wingdings" panose="05000000000000000000" pitchFamily="2" charset="2"/>
              </a:rPr>
              <a:t> Themes, select another free theme and then activate it. Screenshot and paste here the evidence of the active theme</a:t>
            </a:r>
            <a:endParaRPr lang="en-SG" dirty="0"/>
          </a:p>
        </p:txBody>
      </p:sp>
      <p:pic>
        <p:nvPicPr>
          <p:cNvPr id="3" name="Picture 2">
            <a:extLst>
              <a:ext uri="{FF2B5EF4-FFF2-40B4-BE49-F238E27FC236}">
                <a16:creationId xmlns:a16="http://schemas.microsoft.com/office/drawing/2014/main" id="{B4421F24-6F28-936D-167F-0986D8283359}"/>
              </a:ext>
            </a:extLst>
          </p:cNvPr>
          <p:cNvPicPr>
            <a:picLocks noChangeAspect="1"/>
          </p:cNvPicPr>
          <p:nvPr/>
        </p:nvPicPr>
        <p:blipFill rotWithShape="1">
          <a:blip r:embed="rId2"/>
          <a:srcRect l="5441" t="21126" r="5209" b="8571"/>
          <a:stretch/>
        </p:blipFill>
        <p:spPr>
          <a:xfrm>
            <a:off x="4949056" y="681037"/>
            <a:ext cx="830102" cy="653142"/>
          </a:xfrm>
          <a:prstGeom prst="rect">
            <a:avLst/>
          </a:prstGeom>
        </p:spPr>
      </p:pic>
    </p:spTree>
    <p:extLst>
      <p:ext uri="{BB962C8B-B14F-4D97-AF65-F5344CB8AC3E}">
        <p14:creationId xmlns:p14="http://schemas.microsoft.com/office/powerpoint/2010/main" val="977521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 Template.potx" id="{EE2E57E3-6100-46CB-8CA4-89786D31FC37}" vid="{8440CCFB-D5BC-4FBA-BEDA-04DEB9D061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Genetic PowerPoint Template</Template>
  <TotalTime>2852</TotalTime>
  <Words>1357</Words>
  <Application>Microsoft Office PowerPoint</Application>
  <PresentationFormat>Widescreen</PresentationFormat>
  <Paragraphs>186</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Calibri Light</vt:lpstr>
      <vt:lpstr>Wingdings</vt:lpstr>
      <vt:lpstr>Office Theme</vt:lpstr>
      <vt:lpstr>CS1004 – E-Commerce Platform</vt:lpstr>
      <vt:lpstr>Domain Activity (10 Marks) </vt:lpstr>
      <vt:lpstr>Activity 1  - 1/2 </vt:lpstr>
      <vt:lpstr>Activity 1  - 2/2 </vt:lpstr>
      <vt:lpstr>Shopify Activities (30 Marks) </vt:lpstr>
      <vt:lpstr>Activity 2  </vt:lpstr>
      <vt:lpstr>Activity 3  </vt:lpstr>
      <vt:lpstr>Activity 4  </vt:lpstr>
      <vt:lpstr>Activity 5  </vt:lpstr>
      <vt:lpstr>Activity 6  </vt:lpstr>
      <vt:lpstr>Activity 7  </vt:lpstr>
      <vt:lpstr>Activity 8  </vt:lpstr>
      <vt:lpstr>Activity 9  </vt:lpstr>
      <vt:lpstr>Activity 10  </vt:lpstr>
      <vt:lpstr>Activity 11  </vt:lpstr>
      <vt:lpstr>Wix Activities (35 Marks) </vt:lpstr>
      <vt:lpstr>Activity 12  </vt:lpstr>
      <vt:lpstr>Activity 13  </vt:lpstr>
      <vt:lpstr>Activity 14  </vt:lpstr>
      <vt:lpstr>Activity 15  </vt:lpstr>
      <vt:lpstr>Activity 16  </vt:lpstr>
      <vt:lpstr>Activity 17  </vt:lpstr>
      <vt:lpstr>Activity 18  </vt:lpstr>
      <vt:lpstr>Activity 19  </vt:lpstr>
      <vt:lpstr>Activity 20  </vt:lpstr>
      <vt:lpstr>WordPress Activities (30 Marks) </vt:lpstr>
      <vt:lpstr>Activity 21 </vt:lpstr>
      <vt:lpstr>Activity 22 </vt:lpstr>
      <vt:lpstr>Activity 23 </vt:lpstr>
      <vt:lpstr>Activity 24 </vt:lpstr>
      <vt:lpstr>Activity 25 </vt:lpstr>
      <vt:lpstr>Activity 26 </vt:lpstr>
      <vt:lpstr>Activity 27 </vt:lpstr>
      <vt:lpstr>Activity 28 </vt:lpstr>
      <vt:lpstr>Activity 29 </vt:lpstr>
      <vt:lpstr>Activity 30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and Marketing</dc:title>
  <dc:creator>Mikey</dc:creator>
  <cp:lastModifiedBy>Marie Chris Soque</cp:lastModifiedBy>
  <cp:revision>303</cp:revision>
  <dcterms:created xsi:type="dcterms:W3CDTF">2020-05-13T02:52:06Z</dcterms:created>
  <dcterms:modified xsi:type="dcterms:W3CDTF">2026-03-19T09:59:38Z</dcterms:modified>
</cp:coreProperties>
</file>