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0" r:id="rId4"/>
    <p:sldId id="261" r:id="rId5"/>
    <p:sldId id="262" r:id="rId6"/>
    <p:sldId id="263" r:id="rId7"/>
    <p:sldId id="274" r:id="rId8"/>
    <p:sldId id="264" r:id="rId9"/>
    <p:sldId id="265" r:id="rId10"/>
    <p:sldId id="266" r:id="rId11"/>
    <p:sldId id="275" r:id="rId12"/>
    <p:sldId id="267" r:id="rId13"/>
    <p:sldId id="268" r:id="rId14"/>
    <p:sldId id="269" r:id="rId15"/>
    <p:sldId id="276" r:id="rId16"/>
    <p:sldId id="270" r:id="rId17"/>
    <p:sldId id="271" r:id="rId18"/>
    <p:sldId id="272" r:id="rId19"/>
    <p:sldId id="273" r:id="rId20"/>
    <p:sldId id="277"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D6A71F-69D0-4362-8E4D-63BC5CBA8FB6}">
          <p14:sldIdLst>
            <p14:sldId id="256"/>
            <p14:sldId id="257"/>
            <p14:sldId id="260"/>
            <p14:sldId id="261"/>
            <p14:sldId id="262"/>
            <p14:sldId id="263"/>
            <p14:sldId id="274"/>
            <p14:sldId id="264"/>
            <p14:sldId id="265"/>
            <p14:sldId id="266"/>
            <p14:sldId id="275"/>
            <p14:sldId id="267"/>
            <p14:sldId id="268"/>
            <p14:sldId id="269"/>
            <p14:sldId id="276"/>
            <p14:sldId id="270"/>
            <p14:sldId id="271"/>
            <p14:sldId id="272"/>
            <p14:sldId id="273"/>
            <p14:sldId id="277"/>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42F02-3345-4BB8-8B0E-23C8E3F94CAE}" v="83" dt="2018-11-09T08:51:1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p:scale>
          <a:sx n="67" d="100"/>
          <a:sy n="67" d="100"/>
        </p:scale>
        <p:origin x="680"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21/4/2020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L12-Setting a Wix site  Part 3</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21615" y="185738"/>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30188"/>
            <a:ext cx="1364857" cy="737891"/>
          </a:xfrm>
          <a:prstGeom prst="rect">
            <a:avLst/>
          </a:prstGeom>
        </p:spPr>
      </p:pic>
      <p:sp>
        <p:nvSpPr>
          <p:cNvPr id="13" name="Rectangle 12">
            <a:extLst>
              <a:ext uri="{FF2B5EF4-FFF2-40B4-BE49-F238E27FC236}">
                <a16:creationId xmlns:a16="http://schemas.microsoft.com/office/drawing/2014/main" id="{032EFD87-001A-440D-93D8-E65774E8BF3F}"/>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L12-Setting a Wix site  Part 3</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21/4/2020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21/4/2020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12</a:t>
            </a:r>
          </a:p>
          <a:p>
            <a:pPr algn="ctr"/>
            <a:r>
              <a:rPr lang="en-SG" sz="3600" dirty="0">
                <a:latin typeface="Abadi" panose="020B0604020202020204" pitchFamily="34" charset="0"/>
              </a:rPr>
              <a:t>Setting a Wix Site Part 3</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p:txBody>
          <a:bodyPr/>
          <a:lstStyle/>
          <a:p>
            <a:r>
              <a:rPr lang="en-SG" dirty="0"/>
              <a:t>Setting a Wix Site Part 3</a:t>
            </a:r>
          </a:p>
        </p:txBody>
      </p:sp>
      <p:sp>
        <p:nvSpPr>
          <p:cNvPr id="3" name="Content Placeholder 2">
            <a:extLst>
              <a:ext uri="{FF2B5EF4-FFF2-40B4-BE49-F238E27FC236}">
                <a16:creationId xmlns:a16="http://schemas.microsoft.com/office/drawing/2014/main" id="{E06C8290-7477-4920-92F8-89337E771A02}"/>
              </a:ext>
            </a:extLst>
          </p:cNvPr>
          <p:cNvSpPr>
            <a:spLocks noGrp="1"/>
          </p:cNvSpPr>
          <p:nvPr>
            <p:ph idx="1"/>
          </p:nvPr>
        </p:nvSpPr>
        <p:spPr/>
        <p:txBody>
          <a:bodyPr/>
          <a:lstStyle/>
          <a:p>
            <a:pPr marL="0" indent="0">
              <a:buNone/>
            </a:pPr>
            <a:r>
              <a:rPr lang="en-SG" dirty="0"/>
              <a:t>At the end of this lesson, you will be able to</a:t>
            </a:r>
          </a:p>
          <a:p>
            <a:pPr marL="0" indent="0">
              <a:buNone/>
            </a:pPr>
            <a:r>
              <a:rPr lang="en-SG" dirty="0"/>
              <a:t> </a:t>
            </a:r>
          </a:p>
          <a:p>
            <a:r>
              <a:rPr lang="en-SG" dirty="0"/>
              <a:t>Get familiar with the Wix Dashboard</a:t>
            </a:r>
          </a:p>
          <a:p>
            <a:r>
              <a:rPr lang="en-SG" dirty="0"/>
              <a:t>Add functionality via Wix App</a:t>
            </a:r>
          </a:p>
          <a:p>
            <a:r>
              <a:rPr lang="en-SG" dirty="0"/>
              <a:t>Understand the pricing plan</a:t>
            </a:r>
          </a:p>
          <a:p>
            <a:r>
              <a:rPr lang="en-SG" dirty="0"/>
              <a:t>Publish the site</a:t>
            </a:r>
          </a:p>
          <a:p>
            <a:pPr marL="0" indent="0">
              <a:buNone/>
            </a:pPr>
            <a:endParaRPr lang="en-SG" dirty="0"/>
          </a:p>
          <a:p>
            <a:pPr marL="0" indent="0">
              <a:buNone/>
            </a:pPr>
            <a:endParaRPr lang="en-SG" dirty="0"/>
          </a:p>
          <a:p>
            <a:pPr lvl="0"/>
            <a:endParaRPr lang="en-SG" dirty="0"/>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666750" y="18255"/>
            <a:ext cx="10515600" cy="1325563"/>
          </a:xfrm>
        </p:spPr>
        <p:txBody>
          <a:bodyPr/>
          <a:lstStyle/>
          <a:p>
            <a:r>
              <a:rPr lang="en-SG" dirty="0"/>
              <a:t>The Wix Dashboard</a:t>
            </a:r>
          </a:p>
        </p:txBody>
      </p:sp>
      <p:grpSp>
        <p:nvGrpSpPr>
          <p:cNvPr id="13" name="Group 12">
            <a:extLst>
              <a:ext uri="{FF2B5EF4-FFF2-40B4-BE49-F238E27FC236}">
                <a16:creationId xmlns:a16="http://schemas.microsoft.com/office/drawing/2014/main" id="{E31E267B-E566-4AC6-8105-9EA936FBFCD1}"/>
              </a:ext>
            </a:extLst>
          </p:cNvPr>
          <p:cNvGrpSpPr/>
          <p:nvPr/>
        </p:nvGrpSpPr>
        <p:grpSpPr>
          <a:xfrm>
            <a:off x="3781425" y="1098794"/>
            <a:ext cx="8267700" cy="5759206"/>
            <a:chOff x="3924300" y="1098794"/>
            <a:chExt cx="8267700" cy="5759206"/>
          </a:xfrm>
        </p:grpSpPr>
        <p:pic>
          <p:nvPicPr>
            <p:cNvPr id="7" name="Picture 6">
              <a:extLst>
                <a:ext uri="{FF2B5EF4-FFF2-40B4-BE49-F238E27FC236}">
                  <a16:creationId xmlns:a16="http://schemas.microsoft.com/office/drawing/2014/main" id="{18198D52-173C-4B02-8EA5-2098759AC077}"/>
                </a:ext>
              </a:extLst>
            </p:cNvPr>
            <p:cNvPicPr>
              <a:picLocks noChangeAspect="1"/>
            </p:cNvPicPr>
            <p:nvPr/>
          </p:nvPicPr>
          <p:blipFill rotWithShape="1">
            <a:blip r:embed="rId2"/>
            <a:srcRect t="10278" r="31250" b="4583"/>
            <a:stretch/>
          </p:blipFill>
          <p:spPr>
            <a:xfrm>
              <a:off x="3924300" y="1098794"/>
              <a:ext cx="8267700" cy="5759206"/>
            </a:xfrm>
            <a:prstGeom prst="rect">
              <a:avLst/>
            </a:prstGeom>
          </p:spPr>
        </p:pic>
        <p:sp>
          <p:nvSpPr>
            <p:cNvPr id="8" name="TextBox 7">
              <a:extLst>
                <a:ext uri="{FF2B5EF4-FFF2-40B4-BE49-F238E27FC236}">
                  <a16:creationId xmlns:a16="http://schemas.microsoft.com/office/drawing/2014/main" id="{69E4F10F-1C65-4AD5-B30D-D793FEC5255E}"/>
                </a:ext>
              </a:extLst>
            </p:cNvPr>
            <p:cNvSpPr txBox="1"/>
            <p:nvPr/>
          </p:nvSpPr>
          <p:spPr>
            <a:xfrm>
              <a:off x="4461013" y="5466818"/>
              <a:ext cx="695325" cy="584775"/>
            </a:xfrm>
            <a:prstGeom prst="rect">
              <a:avLst/>
            </a:prstGeom>
            <a:noFill/>
          </p:spPr>
          <p:txBody>
            <a:bodyPr wrap="square" rtlCol="0">
              <a:spAutoFit/>
            </a:bodyPr>
            <a:lstStyle/>
            <a:p>
              <a:r>
                <a:rPr lang="en-SG" sz="3200" b="1" dirty="0">
                  <a:solidFill>
                    <a:srgbClr val="FF0000"/>
                  </a:solidFill>
                </a:rPr>
                <a:t>(A)</a:t>
              </a:r>
            </a:p>
          </p:txBody>
        </p:sp>
        <p:sp>
          <p:nvSpPr>
            <p:cNvPr id="9" name="TextBox 8">
              <a:extLst>
                <a:ext uri="{FF2B5EF4-FFF2-40B4-BE49-F238E27FC236}">
                  <a16:creationId xmlns:a16="http://schemas.microsoft.com/office/drawing/2014/main" id="{E3EA3416-C732-4549-ADE5-6C7D6A01F8FF}"/>
                </a:ext>
              </a:extLst>
            </p:cNvPr>
            <p:cNvSpPr txBox="1"/>
            <p:nvPr/>
          </p:nvSpPr>
          <p:spPr>
            <a:xfrm>
              <a:off x="9324975" y="1743075"/>
              <a:ext cx="695325" cy="584775"/>
            </a:xfrm>
            <a:prstGeom prst="rect">
              <a:avLst/>
            </a:prstGeom>
            <a:noFill/>
          </p:spPr>
          <p:txBody>
            <a:bodyPr wrap="square" rtlCol="0">
              <a:spAutoFit/>
            </a:bodyPr>
            <a:lstStyle/>
            <a:p>
              <a:r>
                <a:rPr lang="en-SG" sz="3200" b="1" dirty="0">
                  <a:solidFill>
                    <a:srgbClr val="FF0000"/>
                  </a:solidFill>
                </a:rPr>
                <a:t>(B)</a:t>
              </a:r>
            </a:p>
          </p:txBody>
        </p:sp>
        <p:sp>
          <p:nvSpPr>
            <p:cNvPr id="10" name="TextBox 9">
              <a:extLst>
                <a:ext uri="{FF2B5EF4-FFF2-40B4-BE49-F238E27FC236}">
                  <a16:creationId xmlns:a16="http://schemas.microsoft.com/office/drawing/2014/main" id="{9CD34211-8E77-4C85-8794-59EAD10A2C2D}"/>
                </a:ext>
              </a:extLst>
            </p:cNvPr>
            <p:cNvSpPr txBox="1"/>
            <p:nvPr/>
          </p:nvSpPr>
          <p:spPr>
            <a:xfrm>
              <a:off x="10658475" y="4673025"/>
              <a:ext cx="695325" cy="584775"/>
            </a:xfrm>
            <a:prstGeom prst="rect">
              <a:avLst/>
            </a:prstGeom>
            <a:noFill/>
          </p:spPr>
          <p:txBody>
            <a:bodyPr wrap="square" rtlCol="0">
              <a:spAutoFit/>
            </a:bodyPr>
            <a:lstStyle/>
            <a:p>
              <a:r>
                <a:rPr lang="en-SG" sz="3200" b="1" dirty="0">
                  <a:solidFill>
                    <a:srgbClr val="FF0000"/>
                  </a:solidFill>
                </a:rPr>
                <a:t>(C)</a:t>
              </a:r>
            </a:p>
          </p:txBody>
        </p:sp>
      </p:grpSp>
      <p:sp>
        <p:nvSpPr>
          <p:cNvPr id="12" name="TextBox 11">
            <a:extLst>
              <a:ext uri="{FF2B5EF4-FFF2-40B4-BE49-F238E27FC236}">
                <a16:creationId xmlns:a16="http://schemas.microsoft.com/office/drawing/2014/main" id="{24192E96-726D-488D-9AAF-2C7D6009D60B}"/>
              </a:ext>
            </a:extLst>
          </p:cNvPr>
          <p:cNvSpPr txBox="1"/>
          <p:nvPr/>
        </p:nvSpPr>
        <p:spPr>
          <a:xfrm>
            <a:off x="838200" y="1743075"/>
            <a:ext cx="2771775" cy="4770537"/>
          </a:xfrm>
          <a:prstGeom prst="rect">
            <a:avLst/>
          </a:prstGeom>
          <a:solidFill>
            <a:schemeClr val="accent4">
              <a:lumMod val="60000"/>
              <a:lumOff val="40000"/>
            </a:schemeClr>
          </a:solidFill>
        </p:spPr>
        <p:txBody>
          <a:bodyPr wrap="square" rtlCol="0">
            <a:spAutoFit/>
          </a:bodyPr>
          <a:lstStyle/>
          <a:p>
            <a:pPr marL="342900" indent="-342900">
              <a:buAutoNum type="alphaUcParenR"/>
            </a:pPr>
            <a:r>
              <a:rPr lang="en-US" sz="1900" dirty="0"/>
              <a:t>The primary sidebar where you can quickly access the individual areas of your website.</a:t>
            </a:r>
          </a:p>
          <a:p>
            <a:pPr marL="342900" indent="-342900">
              <a:buAutoNum type="alphaUcParenR"/>
            </a:pPr>
            <a:r>
              <a:rPr lang="en-US" sz="1900" dirty="0"/>
              <a:t>The main control panel of your website. This is where you can choose from a selection of actions to perform on your site.</a:t>
            </a:r>
          </a:p>
          <a:p>
            <a:pPr marL="342900" indent="-342900">
              <a:buAutoNum type="alphaUcParenR"/>
            </a:pPr>
            <a:r>
              <a:rPr lang="en-US" sz="1900" dirty="0"/>
              <a:t>A getting-started walk-through. Follow these steps to make sure your site is 100% ready to be seen by people.</a:t>
            </a:r>
            <a:endParaRPr lang="en-SG" sz="1900" dirty="0"/>
          </a:p>
        </p:txBody>
      </p:sp>
    </p:spTree>
    <p:extLst>
      <p:ext uri="{BB962C8B-B14F-4D97-AF65-F5344CB8AC3E}">
        <p14:creationId xmlns:p14="http://schemas.microsoft.com/office/powerpoint/2010/main" val="2349951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grpSp>
        <p:nvGrpSpPr>
          <p:cNvPr id="5" name="Group 4">
            <a:extLst>
              <a:ext uri="{FF2B5EF4-FFF2-40B4-BE49-F238E27FC236}">
                <a16:creationId xmlns:a16="http://schemas.microsoft.com/office/drawing/2014/main" id="{89106C24-EA08-483E-A9D6-BF98EFF27BF5}"/>
              </a:ext>
            </a:extLst>
          </p:cNvPr>
          <p:cNvGrpSpPr/>
          <p:nvPr/>
        </p:nvGrpSpPr>
        <p:grpSpPr>
          <a:xfrm>
            <a:off x="0" y="1038224"/>
            <a:ext cx="12192000" cy="5840539"/>
            <a:chOff x="0" y="1038224"/>
            <a:chExt cx="12192000" cy="5840539"/>
          </a:xfrm>
        </p:grpSpPr>
        <p:pic>
          <p:nvPicPr>
            <p:cNvPr id="3" name="Picture 2">
              <a:extLst>
                <a:ext uri="{FF2B5EF4-FFF2-40B4-BE49-F238E27FC236}">
                  <a16:creationId xmlns:a16="http://schemas.microsoft.com/office/drawing/2014/main" id="{27A807E3-5757-4095-8768-3DDAFDF47553}"/>
                </a:ext>
              </a:extLst>
            </p:cNvPr>
            <p:cNvPicPr>
              <a:picLocks noChangeAspect="1"/>
            </p:cNvPicPr>
            <p:nvPr/>
          </p:nvPicPr>
          <p:blipFill rotWithShape="1">
            <a:blip r:embed="rId2"/>
            <a:srcRect l="-1" t="9028" r="1798" b="6111"/>
            <a:stretch/>
          </p:blipFill>
          <p:spPr>
            <a:xfrm>
              <a:off x="0" y="1038224"/>
              <a:ext cx="12192000" cy="5840539"/>
            </a:xfrm>
            <a:prstGeom prst="rect">
              <a:avLst/>
            </a:prstGeom>
          </p:spPr>
        </p:pic>
        <p:sp>
          <p:nvSpPr>
            <p:cNvPr id="4" name="Rectangle 3">
              <a:extLst>
                <a:ext uri="{FF2B5EF4-FFF2-40B4-BE49-F238E27FC236}">
                  <a16:creationId xmlns:a16="http://schemas.microsoft.com/office/drawing/2014/main" id="{44E547D0-59E9-4926-B197-0DA5DDFAFE76}"/>
                </a:ext>
              </a:extLst>
            </p:cNvPr>
            <p:cNvSpPr/>
            <p:nvPr/>
          </p:nvSpPr>
          <p:spPr>
            <a:xfrm>
              <a:off x="10648950" y="1181100"/>
              <a:ext cx="1285875" cy="31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4" name="TextBox 13">
            <a:extLst>
              <a:ext uri="{FF2B5EF4-FFF2-40B4-BE49-F238E27FC236}">
                <a16:creationId xmlns:a16="http://schemas.microsoft.com/office/drawing/2014/main" id="{4E6432D0-AD84-4BB2-9896-F159B3B80E40}"/>
              </a:ext>
            </a:extLst>
          </p:cNvPr>
          <p:cNvSpPr txBox="1"/>
          <p:nvPr/>
        </p:nvSpPr>
        <p:spPr>
          <a:xfrm>
            <a:off x="4048125" y="1109662"/>
            <a:ext cx="8143875" cy="1200329"/>
          </a:xfrm>
          <a:prstGeom prst="rect">
            <a:avLst/>
          </a:prstGeom>
          <a:solidFill>
            <a:schemeClr val="accent4">
              <a:lumMod val="60000"/>
              <a:lumOff val="40000"/>
            </a:schemeClr>
          </a:solidFill>
        </p:spPr>
        <p:txBody>
          <a:bodyPr wrap="square" rtlCol="0">
            <a:spAutoFit/>
          </a:bodyPr>
          <a:lstStyle/>
          <a:p>
            <a:r>
              <a:rPr lang="en-US" sz="2400" dirty="0"/>
              <a:t>This is where you can find all the key settings of your site, such as the name, general info, integrations with other tools, payment options, currency, and a lot more.</a:t>
            </a:r>
            <a:endParaRPr lang="en-SG" sz="2400" dirty="0"/>
          </a:p>
        </p:txBody>
      </p:sp>
    </p:spTree>
    <p:extLst>
      <p:ext uri="{BB962C8B-B14F-4D97-AF65-F5344CB8AC3E}">
        <p14:creationId xmlns:p14="http://schemas.microsoft.com/office/powerpoint/2010/main" val="2719240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grpSp>
        <p:nvGrpSpPr>
          <p:cNvPr id="8" name="Group 7">
            <a:extLst>
              <a:ext uri="{FF2B5EF4-FFF2-40B4-BE49-F238E27FC236}">
                <a16:creationId xmlns:a16="http://schemas.microsoft.com/office/drawing/2014/main" id="{32CFF7C6-E46F-4667-957D-F4A8B1361E22}"/>
              </a:ext>
            </a:extLst>
          </p:cNvPr>
          <p:cNvGrpSpPr/>
          <p:nvPr/>
        </p:nvGrpSpPr>
        <p:grpSpPr>
          <a:xfrm>
            <a:off x="-76200" y="1590674"/>
            <a:ext cx="12192000" cy="5153025"/>
            <a:chOff x="-76200" y="1600199"/>
            <a:chExt cx="12192000" cy="5153025"/>
          </a:xfrm>
        </p:grpSpPr>
        <p:pic>
          <p:nvPicPr>
            <p:cNvPr id="6" name="Picture 5">
              <a:extLst>
                <a:ext uri="{FF2B5EF4-FFF2-40B4-BE49-F238E27FC236}">
                  <a16:creationId xmlns:a16="http://schemas.microsoft.com/office/drawing/2014/main" id="{E82491A8-25D3-412C-B744-16883D212D17}"/>
                </a:ext>
              </a:extLst>
            </p:cNvPr>
            <p:cNvPicPr>
              <a:picLocks noChangeAspect="1"/>
            </p:cNvPicPr>
            <p:nvPr/>
          </p:nvPicPr>
          <p:blipFill rotWithShape="1">
            <a:blip r:embed="rId2"/>
            <a:srcRect l="-938" t="9629" r="938" b="15232"/>
            <a:stretch/>
          </p:blipFill>
          <p:spPr>
            <a:xfrm>
              <a:off x="-76200" y="1600199"/>
              <a:ext cx="12192000" cy="5153025"/>
            </a:xfrm>
            <a:prstGeom prst="rect">
              <a:avLst/>
            </a:prstGeom>
          </p:spPr>
        </p:pic>
        <p:sp>
          <p:nvSpPr>
            <p:cNvPr id="7" name="Rectangle 6">
              <a:extLst>
                <a:ext uri="{FF2B5EF4-FFF2-40B4-BE49-F238E27FC236}">
                  <a16:creationId xmlns:a16="http://schemas.microsoft.com/office/drawing/2014/main" id="{CFC07158-0ABE-40C9-AA51-6E7B4A00B911}"/>
                </a:ext>
              </a:extLst>
            </p:cNvPr>
            <p:cNvSpPr/>
            <p:nvPr/>
          </p:nvSpPr>
          <p:spPr>
            <a:xfrm>
              <a:off x="10467975" y="1600199"/>
              <a:ext cx="1524000" cy="428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9" name="Rectangle 8">
            <a:extLst>
              <a:ext uri="{FF2B5EF4-FFF2-40B4-BE49-F238E27FC236}">
                <a16:creationId xmlns:a16="http://schemas.microsoft.com/office/drawing/2014/main" id="{A93DF6D7-1E7D-4012-9A03-22F828B2614F}"/>
              </a:ext>
            </a:extLst>
          </p:cNvPr>
          <p:cNvSpPr/>
          <p:nvPr/>
        </p:nvSpPr>
        <p:spPr>
          <a:xfrm>
            <a:off x="4714875" y="3295650"/>
            <a:ext cx="1819275" cy="32575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B7AAA27F-EACB-43CE-A6D7-951130A8F34C}"/>
              </a:ext>
            </a:extLst>
          </p:cNvPr>
          <p:cNvSpPr txBox="1"/>
          <p:nvPr/>
        </p:nvSpPr>
        <p:spPr>
          <a:xfrm>
            <a:off x="3759890" y="1794589"/>
            <a:ext cx="8143875" cy="1200329"/>
          </a:xfrm>
          <a:prstGeom prst="rect">
            <a:avLst/>
          </a:prstGeom>
          <a:solidFill>
            <a:schemeClr val="accent4">
              <a:lumMod val="60000"/>
              <a:lumOff val="40000"/>
            </a:schemeClr>
          </a:solidFill>
        </p:spPr>
        <p:txBody>
          <a:bodyPr wrap="square" rtlCol="0">
            <a:spAutoFit/>
          </a:bodyPr>
          <a:lstStyle/>
          <a:p>
            <a:r>
              <a:rPr lang="en-US" sz="2400" dirty="0"/>
              <a:t>This is where you select what actions you want to perform with your Wix site. In your Wix dashboard you create 1 or more sites and manage it individually </a:t>
            </a:r>
            <a:endParaRPr lang="en-SG" sz="2400" dirty="0"/>
          </a:p>
        </p:txBody>
      </p:sp>
      <p:cxnSp>
        <p:nvCxnSpPr>
          <p:cNvPr id="12" name="Straight Arrow Connector 11">
            <a:extLst>
              <a:ext uri="{FF2B5EF4-FFF2-40B4-BE49-F238E27FC236}">
                <a16:creationId xmlns:a16="http://schemas.microsoft.com/office/drawing/2014/main" id="{462470EB-7B55-4BD3-A4F7-951054FD1778}"/>
              </a:ext>
            </a:extLst>
          </p:cNvPr>
          <p:cNvCxnSpPr/>
          <p:nvPr/>
        </p:nvCxnSpPr>
        <p:spPr>
          <a:xfrm flipH="1">
            <a:off x="6659217" y="2829501"/>
            <a:ext cx="745435" cy="932297"/>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8635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pic>
        <p:nvPicPr>
          <p:cNvPr id="3" name="Picture 2">
            <a:extLst>
              <a:ext uri="{FF2B5EF4-FFF2-40B4-BE49-F238E27FC236}">
                <a16:creationId xmlns:a16="http://schemas.microsoft.com/office/drawing/2014/main" id="{7A278465-11AC-43EA-B1D7-02AA14F776A8}"/>
              </a:ext>
            </a:extLst>
          </p:cNvPr>
          <p:cNvPicPr>
            <a:picLocks noChangeAspect="1"/>
          </p:cNvPicPr>
          <p:nvPr/>
        </p:nvPicPr>
        <p:blipFill rotWithShape="1">
          <a:blip r:embed="rId2"/>
          <a:srcRect t="9565" r="80598" b="7971"/>
          <a:stretch/>
        </p:blipFill>
        <p:spPr>
          <a:xfrm>
            <a:off x="628651" y="990601"/>
            <a:ext cx="2619374" cy="5654686"/>
          </a:xfrm>
          <a:prstGeom prst="rect">
            <a:avLst/>
          </a:prstGeom>
        </p:spPr>
      </p:pic>
      <p:sp>
        <p:nvSpPr>
          <p:cNvPr id="10" name="Rectangle 9">
            <a:extLst>
              <a:ext uri="{FF2B5EF4-FFF2-40B4-BE49-F238E27FC236}">
                <a16:creationId xmlns:a16="http://schemas.microsoft.com/office/drawing/2014/main" id="{27C41439-6419-4B5F-9469-AC75D0F62969}"/>
              </a:ext>
            </a:extLst>
          </p:cNvPr>
          <p:cNvSpPr/>
          <p:nvPr/>
        </p:nvSpPr>
        <p:spPr>
          <a:xfrm>
            <a:off x="628651" y="3429000"/>
            <a:ext cx="2419349" cy="4953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Picture 3">
            <a:extLst>
              <a:ext uri="{FF2B5EF4-FFF2-40B4-BE49-F238E27FC236}">
                <a16:creationId xmlns:a16="http://schemas.microsoft.com/office/drawing/2014/main" id="{735B8843-3DDF-4C64-B36A-A927396E7C0C}"/>
              </a:ext>
            </a:extLst>
          </p:cNvPr>
          <p:cNvPicPr>
            <a:picLocks noChangeAspect="1"/>
          </p:cNvPicPr>
          <p:nvPr/>
        </p:nvPicPr>
        <p:blipFill rotWithShape="1">
          <a:blip r:embed="rId3"/>
          <a:srcRect l="21406" t="17546" r="3281" b="4722"/>
          <a:stretch/>
        </p:blipFill>
        <p:spPr>
          <a:xfrm>
            <a:off x="3495675" y="1109662"/>
            <a:ext cx="8477250" cy="4921622"/>
          </a:xfrm>
          <a:prstGeom prst="rect">
            <a:avLst/>
          </a:prstGeom>
        </p:spPr>
      </p:pic>
      <p:cxnSp>
        <p:nvCxnSpPr>
          <p:cNvPr id="13" name="Straight Arrow Connector 12">
            <a:extLst>
              <a:ext uri="{FF2B5EF4-FFF2-40B4-BE49-F238E27FC236}">
                <a16:creationId xmlns:a16="http://schemas.microsoft.com/office/drawing/2014/main" id="{C1513A52-661A-4845-8DFD-E7C44336582D}"/>
              </a:ext>
            </a:extLst>
          </p:cNvPr>
          <p:cNvCxnSpPr>
            <a:cxnSpLocks/>
          </p:cNvCxnSpPr>
          <p:nvPr/>
        </p:nvCxnSpPr>
        <p:spPr>
          <a:xfrm flipV="1">
            <a:off x="3048000" y="3340948"/>
            <a:ext cx="704850" cy="335704"/>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9183B8D-8087-4710-ABB9-2EAC82EE1D77}"/>
              </a:ext>
            </a:extLst>
          </p:cNvPr>
          <p:cNvSpPr txBox="1"/>
          <p:nvPr/>
        </p:nvSpPr>
        <p:spPr>
          <a:xfrm>
            <a:off x="3495675" y="4329972"/>
            <a:ext cx="8143875" cy="830997"/>
          </a:xfrm>
          <a:prstGeom prst="rect">
            <a:avLst/>
          </a:prstGeom>
          <a:solidFill>
            <a:schemeClr val="accent4">
              <a:lumMod val="60000"/>
              <a:lumOff val="40000"/>
            </a:schemeClr>
          </a:solidFill>
        </p:spPr>
        <p:txBody>
          <a:bodyPr wrap="square" rtlCol="0">
            <a:spAutoFit/>
          </a:bodyPr>
          <a:lstStyle/>
          <a:p>
            <a:r>
              <a:rPr lang="en-SG" sz="2400" dirty="0"/>
              <a:t>You can upload videos and embed any videos from YouTube &amp; etc. Videos can be used for promotional and branding purposes.</a:t>
            </a:r>
          </a:p>
        </p:txBody>
      </p:sp>
    </p:spTree>
    <p:extLst>
      <p:ext uri="{BB962C8B-B14F-4D97-AF65-F5344CB8AC3E}">
        <p14:creationId xmlns:p14="http://schemas.microsoft.com/office/powerpoint/2010/main" val="3258264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A981-0086-4453-89CB-7ED657C9F359}"/>
              </a:ext>
            </a:extLst>
          </p:cNvPr>
          <p:cNvSpPr>
            <a:spLocks noGrp="1"/>
          </p:cNvSpPr>
          <p:nvPr>
            <p:ph type="title"/>
          </p:nvPr>
        </p:nvSpPr>
        <p:spPr/>
        <p:txBody>
          <a:bodyPr/>
          <a:lstStyle/>
          <a:p>
            <a:r>
              <a:rPr lang="en-SG" dirty="0"/>
              <a:t>Activity 12.1</a:t>
            </a:r>
          </a:p>
        </p:txBody>
      </p:sp>
      <p:sp>
        <p:nvSpPr>
          <p:cNvPr id="3" name="Content Placeholder 2">
            <a:extLst>
              <a:ext uri="{FF2B5EF4-FFF2-40B4-BE49-F238E27FC236}">
                <a16:creationId xmlns:a16="http://schemas.microsoft.com/office/drawing/2014/main" id="{6502D7CE-F113-4CCC-AC6C-066476E5D548}"/>
              </a:ext>
            </a:extLst>
          </p:cNvPr>
          <p:cNvSpPr>
            <a:spLocks noGrp="1"/>
          </p:cNvSpPr>
          <p:nvPr>
            <p:ph idx="1"/>
          </p:nvPr>
        </p:nvSpPr>
        <p:spPr/>
        <p:txBody>
          <a:bodyPr/>
          <a:lstStyle/>
          <a:p>
            <a:r>
              <a:rPr lang="en-SG" dirty="0"/>
              <a:t>Refer to your book for Activity 12.1</a:t>
            </a:r>
          </a:p>
          <a:p>
            <a:pPr marL="0" indent="0">
              <a:buNone/>
            </a:pPr>
            <a:endParaRPr lang="en-SG" dirty="0"/>
          </a:p>
        </p:txBody>
      </p:sp>
    </p:spTree>
    <p:extLst>
      <p:ext uri="{BB962C8B-B14F-4D97-AF65-F5344CB8AC3E}">
        <p14:creationId xmlns:p14="http://schemas.microsoft.com/office/powerpoint/2010/main" val="2764347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pic>
        <p:nvPicPr>
          <p:cNvPr id="5" name="Picture 4">
            <a:extLst>
              <a:ext uri="{FF2B5EF4-FFF2-40B4-BE49-F238E27FC236}">
                <a16:creationId xmlns:a16="http://schemas.microsoft.com/office/drawing/2014/main" id="{864DAD83-458F-4DDF-AFEF-E71B6BA6C2FE}"/>
              </a:ext>
            </a:extLst>
          </p:cNvPr>
          <p:cNvPicPr>
            <a:picLocks noChangeAspect="1"/>
          </p:cNvPicPr>
          <p:nvPr/>
        </p:nvPicPr>
        <p:blipFill rotWithShape="1">
          <a:blip r:embed="rId2"/>
          <a:srcRect t="9855" r="3560" b="9565"/>
          <a:stretch/>
        </p:blipFill>
        <p:spPr>
          <a:xfrm>
            <a:off x="0" y="1109662"/>
            <a:ext cx="12203850" cy="5748338"/>
          </a:xfrm>
          <a:prstGeom prst="rect">
            <a:avLst/>
          </a:prstGeom>
        </p:spPr>
      </p:pic>
      <p:sp>
        <p:nvSpPr>
          <p:cNvPr id="9" name="Rectangle 8">
            <a:extLst>
              <a:ext uri="{FF2B5EF4-FFF2-40B4-BE49-F238E27FC236}">
                <a16:creationId xmlns:a16="http://schemas.microsoft.com/office/drawing/2014/main" id="{0A9860B7-B92A-4FEE-AFD1-E18C294B8B55}"/>
              </a:ext>
            </a:extLst>
          </p:cNvPr>
          <p:cNvSpPr/>
          <p:nvPr/>
        </p:nvSpPr>
        <p:spPr>
          <a:xfrm>
            <a:off x="0" y="4057650"/>
            <a:ext cx="2314575" cy="4953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9332DFCB-4D58-4E61-935D-769356EA4A22}"/>
              </a:ext>
            </a:extLst>
          </p:cNvPr>
          <p:cNvCxnSpPr>
            <a:cxnSpLocks/>
            <a:stCxn id="9" idx="3"/>
          </p:cNvCxnSpPr>
          <p:nvPr/>
        </p:nvCxnSpPr>
        <p:spPr>
          <a:xfrm flipV="1">
            <a:off x="2314575" y="2324100"/>
            <a:ext cx="8201025" cy="1981200"/>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A6B46BC-87AD-45D0-A5F6-164223CBC693}"/>
              </a:ext>
            </a:extLst>
          </p:cNvPr>
          <p:cNvSpPr/>
          <p:nvPr/>
        </p:nvSpPr>
        <p:spPr>
          <a:xfrm>
            <a:off x="10582275" y="2005805"/>
            <a:ext cx="1609725" cy="4953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45EF066D-CBD6-465B-A9EA-96338C755091}"/>
              </a:ext>
            </a:extLst>
          </p:cNvPr>
          <p:cNvSpPr txBox="1"/>
          <p:nvPr/>
        </p:nvSpPr>
        <p:spPr>
          <a:xfrm>
            <a:off x="7210425" y="3227160"/>
            <a:ext cx="4733925" cy="1200329"/>
          </a:xfrm>
          <a:prstGeom prst="rect">
            <a:avLst/>
          </a:prstGeom>
          <a:solidFill>
            <a:schemeClr val="accent4">
              <a:lumMod val="60000"/>
              <a:lumOff val="40000"/>
            </a:schemeClr>
          </a:solidFill>
        </p:spPr>
        <p:txBody>
          <a:bodyPr wrap="square" rtlCol="0">
            <a:spAutoFit/>
          </a:bodyPr>
          <a:lstStyle/>
          <a:p>
            <a:r>
              <a:rPr lang="en-SG" sz="2400" dirty="0"/>
              <a:t>This section is where you can manage products, create collections/categories of products</a:t>
            </a:r>
          </a:p>
        </p:txBody>
      </p:sp>
      <p:sp>
        <p:nvSpPr>
          <p:cNvPr id="17" name="Rectangle 16">
            <a:extLst>
              <a:ext uri="{FF2B5EF4-FFF2-40B4-BE49-F238E27FC236}">
                <a16:creationId xmlns:a16="http://schemas.microsoft.com/office/drawing/2014/main" id="{44F52161-31FF-49A5-8851-AA4A295B7C96}"/>
              </a:ext>
            </a:extLst>
          </p:cNvPr>
          <p:cNvSpPr/>
          <p:nvPr/>
        </p:nvSpPr>
        <p:spPr>
          <a:xfrm>
            <a:off x="10839450" y="1219200"/>
            <a:ext cx="1285875" cy="333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71825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pic>
        <p:nvPicPr>
          <p:cNvPr id="3" name="Picture 2">
            <a:extLst>
              <a:ext uri="{FF2B5EF4-FFF2-40B4-BE49-F238E27FC236}">
                <a16:creationId xmlns:a16="http://schemas.microsoft.com/office/drawing/2014/main" id="{65D8DE62-FF14-46CA-854C-B9806E3E38F0}"/>
              </a:ext>
            </a:extLst>
          </p:cNvPr>
          <p:cNvPicPr>
            <a:picLocks noChangeAspect="1"/>
          </p:cNvPicPr>
          <p:nvPr/>
        </p:nvPicPr>
        <p:blipFill rotWithShape="1">
          <a:blip r:embed="rId2"/>
          <a:srcRect l="-547" t="16181" r="4687" b="7778"/>
          <a:stretch/>
        </p:blipFill>
        <p:spPr>
          <a:xfrm>
            <a:off x="-38100" y="1109662"/>
            <a:ext cx="12242182" cy="5748338"/>
          </a:xfrm>
          <a:prstGeom prst="rect">
            <a:avLst/>
          </a:prstGeom>
        </p:spPr>
      </p:pic>
      <p:sp>
        <p:nvSpPr>
          <p:cNvPr id="10" name="Rectangle 9">
            <a:extLst>
              <a:ext uri="{FF2B5EF4-FFF2-40B4-BE49-F238E27FC236}">
                <a16:creationId xmlns:a16="http://schemas.microsoft.com/office/drawing/2014/main" id="{69881326-D226-480C-B5B0-5689B25FDFD0}"/>
              </a:ext>
            </a:extLst>
          </p:cNvPr>
          <p:cNvSpPr/>
          <p:nvPr/>
        </p:nvSpPr>
        <p:spPr>
          <a:xfrm>
            <a:off x="0" y="3736181"/>
            <a:ext cx="2314575" cy="4953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2" name="Straight Arrow Connector 11">
            <a:extLst>
              <a:ext uri="{FF2B5EF4-FFF2-40B4-BE49-F238E27FC236}">
                <a16:creationId xmlns:a16="http://schemas.microsoft.com/office/drawing/2014/main" id="{2DB10C5F-D973-4F34-B843-0CCFF2FB70CA}"/>
              </a:ext>
            </a:extLst>
          </p:cNvPr>
          <p:cNvCxnSpPr>
            <a:cxnSpLocks/>
          </p:cNvCxnSpPr>
          <p:nvPr/>
        </p:nvCxnSpPr>
        <p:spPr>
          <a:xfrm>
            <a:off x="2314575" y="3983831"/>
            <a:ext cx="2705100" cy="711994"/>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6D2C15B-C4A0-4817-AE7C-CC38183DF8C7}"/>
              </a:ext>
            </a:extLst>
          </p:cNvPr>
          <p:cNvSpPr txBox="1"/>
          <p:nvPr/>
        </p:nvSpPr>
        <p:spPr>
          <a:xfrm>
            <a:off x="5019675" y="1304509"/>
            <a:ext cx="6762750" cy="1569660"/>
          </a:xfrm>
          <a:prstGeom prst="rect">
            <a:avLst/>
          </a:prstGeom>
          <a:solidFill>
            <a:schemeClr val="accent4">
              <a:lumMod val="60000"/>
              <a:lumOff val="40000"/>
            </a:schemeClr>
          </a:solidFill>
        </p:spPr>
        <p:txBody>
          <a:bodyPr wrap="square" rtlCol="0">
            <a:spAutoFit/>
          </a:bodyPr>
          <a:lstStyle/>
          <a:p>
            <a:r>
              <a:rPr lang="en-SG" sz="2400" dirty="0"/>
              <a:t>This section is where you can view all the orders you received from your online store. But you do need to upgrade your Wix Plan to allow complete online order process.</a:t>
            </a:r>
          </a:p>
        </p:txBody>
      </p:sp>
    </p:spTree>
    <p:extLst>
      <p:ext uri="{BB962C8B-B14F-4D97-AF65-F5344CB8AC3E}">
        <p14:creationId xmlns:p14="http://schemas.microsoft.com/office/powerpoint/2010/main" val="816483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C294FD01-60BB-45C9-A56B-357F9BF61F1F}"/>
              </a:ext>
            </a:extLst>
          </p:cNvPr>
          <p:cNvPicPr>
            <a:picLocks noChangeAspect="1"/>
          </p:cNvPicPr>
          <p:nvPr/>
        </p:nvPicPr>
        <p:blipFill rotWithShape="1">
          <a:blip r:embed="rId2"/>
          <a:srcRect l="317" t="16181" r="2656" b="6389"/>
          <a:stretch/>
        </p:blipFill>
        <p:spPr>
          <a:xfrm>
            <a:off x="181288" y="1547812"/>
            <a:ext cx="11829423" cy="5310188"/>
          </a:xfrm>
          <a:prstGeom prst="rect">
            <a:avLst/>
          </a:prstGeom>
        </p:spPr>
      </p:pic>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sp>
        <p:nvSpPr>
          <p:cNvPr id="11" name="TextBox 10">
            <a:extLst>
              <a:ext uri="{FF2B5EF4-FFF2-40B4-BE49-F238E27FC236}">
                <a16:creationId xmlns:a16="http://schemas.microsoft.com/office/drawing/2014/main" id="{1EF929D1-4637-4AE1-8EFF-45DEDC72A635}"/>
              </a:ext>
            </a:extLst>
          </p:cNvPr>
          <p:cNvSpPr txBox="1"/>
          <p:nvPr/>
        </p:nvSpPr>
        <p:spPr>
          <a:xfrm>
            <a:off x="4666937" y="1109662"/>
            <a:ext cx="6762750" cy="1200329"/>
          </a:xfrm>
          <a:prstGeom prst="rect">
            <a:avLst/>
          </a:prstGeom>
          <a:solidFill>
            <a:schemeClr val="accent4">
              <a:lumMod val="60000"/>
              <a:lumOff val="40000"/>
            </a:schemeClr>
          </a:solidFill>
        </p:spPr>
        <p:txBody>
          <a:bodyPr wrap="square" rtlCol="0">
            <a:spAutoFit/>
          </a:bodyPr>
          <a:lstStyle/>
          <a:p>
            <a:r>
              <a:rPr lang="en-SG" sz="2400" dirty="0"/>
              <a:t>If the company or providing services, this is the section where you can add and manage the services items.</a:t>
            </a:r>
          </a:p>
        </p:txBody>
      </p:sp>
      <p:sp>
        <p:nvSpPr>
          <p:cNvPr id="13" name="Rectangle 12">
            <a:extLst>
              <a:ext uri="{FF2B5EF4-FFF2-40B4-BE49-F238E27FC236}">
                <a16:creationId xmlns:a16="http://schemas.microsoft.com/office/drawing/2014/main" id="{058F9A3C-E6FE-44A2-B787-24844DE0891A}"/>
              </a:ext>
            </a:extLst>
          </p:cNvPr>
          <p:cNvSpPr/>
          <p:nvPr/>
        </p:nvSpPr>
        <p:spPr>
          <a:xfrm>
            <a:off x="90645" y="4612483"/>
            <a:ext cx="2209800" cy="4262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4" name="Straight Arrow Connector 13">
            <a:extLst>
              <a:ext uri="{FF2B5EF4-FFF2-40B4-BE49-F238E27FC236}">
                <a16:creationId xmlns:a16="http://schemas.microsoft.com/office/drawing/2014/main" id="{077CE96D-83FC-439B-9B00-C6C1F0D2F0A4}"/>
              </a:ext>
            </a:extLst>
          </p:cNvPr>
          <p:cNvCxnSpPr>
            <a:cxnSpLocks/>
          </p:cNvCxnSpPr>
          <p:nvPr/>
        </p:nvCxnSpPr>
        <p:spPr>
          <a:xfrm flipV="1">
            <a:off x="2300445" y="3720613"/>
            <a:ext cx="5315577" cy="1129356"/>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7B67A3A-FB3D-4EF4-AB7A-AD6EB816144B}"/>
              </a:ext>
            </a:extLst>
          </p:cNvPr>
          <p:cNvSpPr/>
          <p:nvPr/>
        </p:nvSpPr>
        <p:spPr>
          <a:xfrm>
            <a:off x="9982514" y="2312034"/>
            <a:ext cx="2028197" cy="5009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Rectangle 20">
            <a:extLst>
              <a:ext uri="{FF2B5EF4-FFF2-40B4-BE49-F238E27FC236}">
                <a16:creationId xmlns:a16="http://schemas.microsoft.com/office/drawing/2014/main" id="{9A5E1074-1B62-4B5E-96A1-A915C17DC621}"/>
              </a:ext>
            </a:extLst>
          </p:cNvPr>
          <p:cNvSpPr/>
          <p:nvPr/>
        </p:nvSpPr>
        <p:spPr>
          <a:xfrm>
            <a:off x="7616022" y="2813020"/>
            <a:ext cx="2366492" cy="21590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2" name="Straight Arrow Connector 21">
            <a:extLst>
              <a:ext uri="{FF2B5EF4-FFF2-40B4-BE49-F238E27FC236}">
                <a16:creationId xmlns:a16="http://schemas.microsoft.com/office/drawing/2014/main" id="{CEFAECD2-34BD-4606-A78D-EA5DF6FBD68A}"/>
              </a:ext>
            </a:extLst>
          </p:cNvPr>
          <p:cNvCxnSpPr>
            <a:cxnSpLocks/>
          </p:cNvCxnSpPr>
          <p:nvPr/>
        </p:nvCxnSpPr>
        <p:spPr>
          <a:xfrm>
            <a:off x="7741993" y="2450610"/>
            <a:ext cx="801932" cy="111917"/>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905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A981-0086-4453-89CB-7ED657C9F359}"/>
              </a:ext>
            </a:extLst>
          </p:cNvPr>
          <p:cNvSpPr>
            <a:spLocks noGrp="1"/>
          </p:cNvSpPr>
          <p:nvPr>
            <p:ph type="title"/>
          </p:nvPr>
        </p:nvSpPr>
        <p:spPr/>
        <p:txBody>
          <a:bodyPr/>
          <a:lstStyle/>
          <a:p>
            <a:r>
              <a:rPr lang="en-SG" dirty="0"/>
              <a:t>Activity 12.2</a:t>
            </a:r>
          </a:p>
        </p:txBody>
      </p:sp>
      <p:sp>
        <p:nvSpPr>
          <p:cNvPr id="3" name="Content Placeholder 2">
            <a:extLst>
              <a:ext uri="{FF2B5EF4-FFF2-40B4-BE49-F238E27FC236}">
                <a16:creationId xmlns:a16="http://schemas.microsoft.com/office/drawing/2014/main" id="{6502D7CE-F113-4CCC-AC6C-066476E5D548}"/>
              </a:ext>
            </a:extLst>
          </p:cNvPr>
          <p:cNvSpPr>
            <a:spLocks noGrp="1"/>
          </p:cNvSpPr>
          <p:nvPr>
            <p:ph idx="1"/>
          </p:nvPr>
        </p:nvSpPr>
        <p:spPr/>
        <p:txBody>
          <a:bodyPr/>
          <a:lstStyle/>
          <a:p>
            <a:r>
              <a:rPr lang="en-SG" dirty="0"/>
              <a:t>Refer to your book for Activity 12.2</a:t>
            </a:r>
          </a:p>
          <a:p>
            <a:pPr marL="0" indent="0">
              <a:buNone/>
            </a:pPr>
            <a:endParaRPr lang="en-SG" dirty="0"/>
          </a:p>
        </p:txBody>
      </p:sp>
    </p:spTree>
    <p:extLst>
      <p:ext uri="{BB962C8B-B14F-4D97-AF65-F5344CB8AC3E}">
        <p14:creationId xmlns:p14="http://schemas.microsoft.com/office/powerpoint/2010/main" val="248211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sp>
        <p:nvSpPr>
          <p:cNvPr id="12" name="Rectangle 11">
            <a:extLst>
              <a:ext uri="{FF2B5EF4-FFF2-40B4-BE49-F238E27FC236}">
                <a16:creationId xmlns:a16="http://schemas.microsoft.com/office/drawing/2014/main" id="{C49EF4B3-40A6-42E7-A72D-60AB8E176EA8}"/>
              </a:ext>
            </a:extLst>
          </p:cNvPr>
          <p:cNvSpPr/>
          <p:nvPr/>
        </p:nvSpPr>
        <p:spPr>
          <a:xfrm>
            <a:off x="8624" y="3498058"/>
            <a:ext cx="2209800" cy="4262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5" name="Picture 4">
            <a:extLst>
              <a:ext uri="{FF2B5EF4-FFF2-40B4-BE49-F238E27FC236}">
                <a16:creationId xmlns:a16="http://schemas.microsoft.com/office/drawing/2014/main" id="{664A95FC-3CA9-4C37-8D05-C4AB75F0CF8B}"/>
              </a:ext>
            </a:extLst>
          </p:cNvPr>
          <p:cNvPicPr>
            <a:picLocks noChangeAspect="1"/>
          </p:cNvPicPr>
          <p:nvPr/>
        </p:nvPicPr>
        <p:blipFill rotWithShape="1">
          <a:blip r:embed="rId2"/>
          <a:srcRect t="16181" r="2500" b="7639"/>
          <a:stretch/>
        </p:blipFill>
        <p:spPr>
          <a:xfrm>
            <a:off x="8624" y="1214437"/>
            <a:ext cx="12174752" cy="5643563"/>
          </a:xfrm>
          <a:prstGeom prst="rect">
            <a:avLst/>
          </a:prstGeom>
        </p:spPr>
      </p:pic>
      <p:sp>
        <p:nvSpPr>
          <p:cNvPr id="16" name="Rectangle 15">
            <a:extLst>
              <a:ext uri="{FF2B5EF4-FFF2-40B4-BE49-F238E27FC236}">
                <a16:creationId xmlns:a16="http://schemas.microsoft.com/office/drawing/2014/main" id="{EC7E92D6-2EF8-413B-B0C4-B15423D9E82F}"/>
              </a:ext>
            </a:extLst>
          </p:cNvPr>
          <p:cNvSpPr/>
          <p:nvPr/>
        </p:nvSpPr>
        <p:spPr>
          <a:xfrm>
            <a:off x="0" y="3498058"/>
            <a:ext cx="2209800" cy="4262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9D6FDD82-038B-4001-8B93-D0B07E4CF3AE}"/>
              </a:ext>
            </a:extLst>
          </p:cNvPr>
          <p:cNvSpPr/>
          <p:nvPr/>
        </p:nvSpPr>
        <p:spPr>
          <a:xfrm>
            <a:off x="8163237" y="2781300"/>
            <a:ext cx="1971363" cy="24195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B3282B2F-CF49-44CE-A649-4E57E43E018A}"/>
              </a:ext>
            </a:extLst>
          </p:cNvPr>
          <p:cNvSpPr/>
          <p:nvPr/>
        </p:nvSpPr>
        <p:spPr>
          <a:xfrm>
            <a:off x="10544175" y="2047875"/>
            <a:ext cx="1639200" cy="5837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3" name="Straight Arrow Connector 22">
            <a:extLst>
              <a:ext uri="{FF2B5EF4-FFF2-40B4-BE49-F238E27FC236}">
                <a16:creationId xmlns:a16="http://schemas.microsoft.com/office/drawing/2014/main" id="{A58DD67D-DDCB-4A0A-BB19-6FF02414859C}"/>
              </a:ext>
            </a:extLst>
          </p:cNvPr>
          <p:cNvCxnSpPr>
            <a:cxnSpLocks/>
          </p:cNvCxnSpPr>
          <p:nvPr/>
        </p:nvCxnSpPr>
        <p:spPr>
          <a:xfrm>
            <a:off x="8832605" y="1845969"/>
            <a:ext cx="714375" cy="403811"/>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B2A416D-B86D-47AB-BBE9-C0FFF43130EB}"/>
              </a:ext>
            </a:extLst>
          </p:cNvPr>
          <p:cNvSpPr txBox="1"/>
          <p:nvPr/>
        </p:nvSpPr>
        <p:spPr>
          <a:xfrm>
            <a:off x="3209612" y="5296080"/>
            <a:ext cx="6762750" cy="1508105"/>
          </a:xfrm>
          <a:prstGeom prst="rect">
            <a:avLst/>
          </a:prstGeom>
          <a:solidFill>
            <a:schemeClr val="accent4">
              <a:lumMod val="60000"/>
              <a:lumOff val="40000"/>
            </a:schemeClr>
          </a:solidFill>
        </p:spPr>
        <p:txBody>
          <a:bodyPr wrap="square" rtlCol="0">
            <a:spAutoFit/>
          </a:bodyPr>
          <a:lstStyle/>
          <a:p>
            <a:r>
              <a:rPr lang="en-SG" sz="2300" dirty="0"/>
              <a:t>It is where you manage the booking of services dates. There are several things you can do with the booking calendar like syncing it Google Calendar, Analytics &amp; etc.</a:t>
            </a:r>
          </a:p>
        </p:txBody>
      </p:sp>
      <p:cxnSp>
        <p:nvCxnSpPr>
          <p:cNvPr id="25" name="Straight Arrow Connector 24">
            <a:extLst>
              <a:ext uri="{FF2B5EF4-FFF2-40B4-BE49-F238E27FC236}">
                <a16:creationId xmlns:a16="http://schemas.microsoft.com/office/drawing/2014/main" id="{9F925CED-95F9-4814-91C2-6587F4CAB636}"/>
              </a:ext>
            </a:extLst>
          </p:cNvPr>
          <p:cNvCxnSpPr>
            <a:cxnSpLocks/>
          </p:cNvCxnSpPr>
          <p:nvPr/>
        </p:nvCxnSpPr>
        <p:spPr>
          <a:xfrm>
            <a:off x="2227048" y="3711180"/>
            <a:ext cx="5927565" cy="0"/>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2574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34131"/>
            <a:ext cx="10515600" cy="1143793"/>
          </a:xfrm>
        </p:spPr>
        <p:txBody>
          <a:bodyPr/>
          <a:lstStyle/>
          <a:p>
            <a:r>
              <a:rPr lang="en-SG" dirty="0"/>
              <a:t>The Wix Dashboard</a:t>
            </a:r>
          </a:p>
        </p:txBody>
      </p:sp>
      <p:pic>
        <p:nvPicPr>
          <p:cNvPr id="4" name="Picture 3">
            <a:extLst>
              <a:ext uri="{FF2B5EF4-FFF2-40B4-BE49-F238E27FC236}">
                <a16:creationId xmlns:a16="http://schemas.microsoft.com/office/drawing/2014/main" id="{B904ABC4-51F9-49F7-9A08-83DB1CAB69D4}"/>
              </a:ext>
            </a:extLst>
          </p:cNvPr>
          <p:cNvPicPr>
            <a:picLocks noChangeAspect="1"/>
          </p:cNvPicPr>
          <p:nvPr/>
        </p:nvPicPr>
        <p:blipFill rotWithShape="1">
          <a:blip r:embed="rId2"/>
          <a:srcRect t="16181" r="4687" b="6111"/>
          <a:stretch/>
        </p:blipFill>
        <p:spPr>
          <a:xfrm>
            <a:off x="-1" y="1271586"/>
            <a:ext cx="12181275" cy="5586413"/>
          </a:xfrm>
          <a:prstGeom prst="rect">
            <a:avLst/>
          </a:prstGeom>
        </p:spPr>
      </p:pic>
      <p:sp>
        <p:nvSpPr>
          <p:cNvPr id="15" name="Rectangle 14">
            <a:extLst>
              <a:ext uri="{FF2B5EF4-FFF2-40B4-BE49-F238E27FC236}">
                <a16:creationId xmlns:a16="http://schemas.microsoft.com/office/drawing/2014/main" id="{F3BCDD8E-1967-4C90-97AB-89ADAE8B5807}"/>
              </a:ext>
            </a:extLst>
          </p:cNvPr>
          <p:cNvSpPr/>
          <p:nvPr/>
        </p:nvSpPr>
        <p:spPr>
          <a:xfrm>
            <a:off x="0" y="3498058"/>
            <a:ext cx="2209800" cy="4262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Rectangle 16">
            <a:extLst>
              <a:ext uri="{FF2B5EF4-FFF2-40B4-BE49-F238E27FC236}">
                <a16:creationId xmlns:a16="http://schemas.microsoft.com/office/drawing/2014/main" id="{58B3B4B1-8C30-4432-87CD-F18D77A317B1}"/>
              </a:ext>
            </a:extLst>
          </p:cNvPr>
          <p:cNvSpPr/>
          <p:nvPr/>
        </p:nvSpPr>
        <p:spPr>
          <a:xfrm>
            <a:off x="8382000" y="2171700"/>
            <a:ext cx="2305050" cy="13263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9" name="Straight Arrow Connector 18">
            <a:extLst>
              <a:ext uri="{FF2B5EF4-FFF2-40B4-BE49-F238E27FC236}">
                <a16:creationId xmlns:a16="http://schemas.microsoft.com/office/drawing/2014/main" id="{1328267B-E0B1-4143-82FA-855B07EC84E2}"/>
              </a:ext>
            </a:extLst>
          </p:cNvPr>
          <p:cNvCxnSpPr>
            <a:cxnSpLocks/>
          </p:cNvCxnSpPr>
          <p:nvPr/>
        </p:nvCxnSpPr>
        <p:spPr>
          <a:xfrm>
            <a:off x="8191500" y="1539848"/>
            <a:ext cx="523875" cy="289772"/>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F9B937C-D7D2-464C-A360-1682715D8CF3}"/>
              </a:ext>
            </a:extLst>
          </p:cNvPr>
          <p:cNvSpPr/>
          <p:nvPr/>
        </p:nvSpPr>
        <p:spPr>
          <a:xfrm>
            <a:off x="10382250" y="1539848"/>
            <a:ext cx="1809750" cy="55803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6D7C8A23-B364-461B-B8AC-A25E3F5688F6}"/>
              </a:ext>
            </a:extLst>
          </p:cNvPr>
          <p:cNvSpPr txBox="1"/>
          <p:nvPr/>
        </p:nvSpPr>
        <p:spPr>
          <a:xfrm>
            <a:off x="5962650" y="3711180"/>
            <a:ext cx="5848350" cy="800219"/>
          </a:xfrm>
          <a:prstGeom prst="rect">
            <a:avLst/>
          </a:prstGeom>
          <a:solidFill>
            <a:schemeClr val="accent4">
              <a:lumMod val="60000"/>
              <a:lumOff val="40000"/>
            </a:schemeClr>
          </a:solidFill>
        </p:spPr>
        <p:txBody>
          <a:bodyPr wrap="square" rtlCol="0">
            <a:spAutoFit/>
          </a:bodyPr>
          <a:lstStyle/>
          <a:p>
            <a:r>
              <a:rPr lang="en-SG" sz="2300" dirty="0"/>
              <a:t>This section is where you can add and manage blog posts.</a:t>
            </a:r>
          </a:p>
        </p:txBody>
      </p:sp>
      <p:sp>
        <p:nvSpPr>
          <p:cNvPr id="8" name="Rectangle 7">
            <a:extLst>
              <a:ext uri="{FF2B5EF4-FFF2-40B4-BE49-F238E27FC236}">
                <a16:creationId xmlns:a16="http://schemas.microsoft.com/office/drawing/2014/main" id="{3753017E-DAEC-4EE1-9102-44B70BC5E904}"/>
              </a:ext>
            </a:extLst>
          </p:cNvPr>
          <p:cNvSpPr/>
          <p:nvPr/>
        </p:nvSpPr>
        <p:spPr>
          <a:xfrm>
            <a:off x="4838700" y="2857500"/>
            <a:ext cx="1790700"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36376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0"/>
            <a:ext cx="10515600" cy="1143793"/>
          </a:xfrm>
        </p:spPr>
        <p:txBody>
          <a:bodyPr/>
          <a:lstStyle/>
          <a:p>
            <a:r>
              <a:rPr lang="en-SG" dirty="0"/>
              <a:t>Add Functionality via Wix App</a:t>
            </a:r>
          </a:p>
        </p:txBody>
      </p:sp>
      <p:pic>
        <p:nvPicPr>
          <p:cNvPr id="7" name="Picture 6">
            <a:extLst>
              <a:ext uri="{FF2B5EF4-FFF2-40B4-BE49-F238E27FC236}">
                <a16:creationId xmlns:a16="http://schemas.microsoft.com/office/drawing/2014/main" id="{0E8D6BF1-3CA2-42F3-8C1F-8D4281A9051B}"/>
              </a:ext>
            </a:extLst>
          </p:cNvPr>
          <p:cNvPicPr>
            <a:picLocks noChangeAspect="1"/>
          </p:cNvPicPr>
          <p:nvPr/>
        </p:nvPicPr>
        <p:blipFill rotWithShape="1">
          <a:blip r:embed="rId2"/>
          <a:srcRect t="16678" r="4687" b="14861"/>
          <a:stretch/>
        </p:blipFill>
        <p:spPr>
          <a:xfrm>
            <a:off x="-1" y="1305717"/>
            <a:ext cx="12192001" cy="5552283"/>
          </a:xfrm>
          <a:prstGeom prst="rect">
            <a:avLst/>
          </a:prstGeom>
        </p:spPr>
      </p:pic>
      <p:sp>
        <p:nvSpPr>
          <p:cNvPr id="16" name="Rectangle 15">
            <a:extLst>
              <a:ext uri="{FF2B5EF4-FFF2-40B4-BE49-F238E27FC236}">
                <a16:creationId xmlns:a16="http://schemas.microsoft.com/office/drawing/2014/main" id="{12AC62E9-AE0F-4C6E-94D2-DBBA6EAFCCAB}"/>
              </a:ext>
            </a:extLst>
          </p:cNvPr>
          <p:cNvSpPr/>
          <p:nvPr/>
        </p:nvSpPr>
        <p:spPr>
          <a:xfrm>
            <a:off x="0" y="5717383"/>
            <a:ext cx="2209800" cy="4262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Rectangle 19">
            <a:extLst>
              <a:ext uri="{FF2B5EF4-FFF2-40B4-BE49-F238E27FC236}">
                <a16:creationId xmlns:a16="http://schemas.microsoft.com/office/drawing/2014/main" id="{F7BF9334-5BA8-450A-8C9B-7507490305A2}"/>
              </a:ext>
            </a:extLst>
          </p:cNvPr>
          <p:cNvSpPr/>
          <p:nvPr/>
        </p:nvSpPr>
        <p:spPr>
          <a:xfrm>
            <a:off x="2886074" y="2555083"/>
            <a:ext cx="9210675" cy="42171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3" name="Straight Arrow Connector 22">
            <a:extLst>
              <a:ext uri="{FF2B5EF4-FFF2-40B4-BE49-F238E27FC236}">
                <a16:creationId xmlns:a16="http://schemas.microsoft.com/office/drawing/2014/main" id="{74072AF2-7724-4647-A575-083C37BEFA7A}"/>
              </a:ext>
            </a:extLst>
          </p:cNvPr>
          <p:cNvCxnSpPr>
            <a:cxnSpLocks/>
          </p:cNvCxnSpPr>
          <p:nvPr/>
        </p:nvCxnSpPr>
        <p:spPr>
          <a:xfrm flipV="1">
            <a:off x="2209800" y="4838700"/>
            <a:ext cx="676273" cy="1100509"/>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2CA4001-1879-4EA9-BC78-DBBE53630D20}"/>
              </a:ext>
            </a:extLst>
          </p:cNvPr>
          <p:cNvSpPr txBox="1"/>
          <p:nvPr/>
        </p:nvSpPr>
        <p:spPr>
          <a:xfrm>
            <a:off x="5095873" y="3429000"/>
            <a:ext cx="6905627" cy="1569660"/>
          </a:xfrm>
          <a:prstGeom prst="rect">
            <a:avLst/>
          </a:prstGeom>
          <a:solidFill>
            <a:schemeClr val="accent4">
              <a:lumMod val="60000"/>
              <a:lumOff val="40000"/>
            </a:schemeClr>
          </a:solidFill>
        </p:spPr>
        <p:txBody>
          <a:bodyPr wrap="square" rtlCol="0">
            <a:spAutoFit/>
          </a:bodyPr>
          <a:lstStyle/>
          <a:p>
            <a:r>
              <a:rPr lang="en-US" sz="2400" dirty="0"/>
              <a:t>If the features you get from Wix out the box are not enough, you can take a look into the Wix App Market. You’ll find more than 200 different apps there to help you build and grow your website.</a:t>
            </a:r>
            <a:endParaRPr lang="en-SG" sz="2800" dirty="0"/>
          </a:p>
        </p:txBody>
      </p:sp>
    </p:spTree>
    <p:extLst>
      <p:ext uri="{BB962C8B-B14F-4D97-AF65-F5344CB8AC3E}">
        <p14:creationId xmlns:p14="http://schemas.microsoft.com/office/powerpoint/2010/main" val="1546570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A981-0086-4453-89CB-7ED657C9F359}"/>
              </a:ext>
            </a:extLst>
          </p:cNvPr>
          <p:cNvSpPr>
            <a:spLocks noGrp="1"/>
          </p:cNvSpPr>
          <p:nvPr>
            <p:ph type="title"/>
          </p:nvPr>
        </p:nvSpPr>
        <p:spPr/>
        <p:txBody>
          <a:bodyPr/>
          <a:lstStyle/>
          <a:p>
            <a:r>
              <a:rPr lang="en-SG" dirty="0"/>
              <a:t>Activity 12.3</a:t>
            </a:r>
          </a:p>
        </p:txBody>
      </p:sp>
      <p:sp>
        <p:nvSpPr>
          <p:cNvPr id="3" name="Content Placeholder 2">
            <a:extLst>
              <a:ext uri="{FF2B5EF4-FFF2-40B4-BE49-F238E27FC236}">
                <a16:creationId xmlns:a16="http://schemas.microsoft.com/office/drawing/2014/main" id="{6502D7CE-F113-4CCC-AC6C-066476E5D548}"/>
              </a:ext>
            </a:extLst>
          </p:cNvPr>
          <p:cNvSpPr>
            <a:spLocks noGrp="1"/>
          </p:cNvSpPr>
          <p:nvPr>
            <p:ph idx="1"/>
          </p:nvPr>
        </p:nvSpPr>
        <p:spPr/>
        <p:txBody>
          <a:bodyPr/>
          <a:lstStyle/>
          <a:p>
            <a:r>
              <a:rPr lang="en-SG" dirty="0"/>
              <a:t>Refer to your book for Activity 12.3</a:t>
            </a:r>
          </a:p>
          <a:p>
            <a:pPr marL="0" indent="0">
              <a:buNone/>
            </a:pPr>
            <a:endParaRPr lang="en-SG" dirty="0"/>
          </a:p>
        </p:txBody>
      </p:sp>
    </p:spTree>
    <p:extLst>
      <p:ext uri="{BB962C8B-B14F-4D97-AF65-F5344CB8AC3E}">
        <p14:creationId xmlns:p14="http://schemas.microsoft.com/office/powerpoint/2010/main" val="2328763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0"/>
            <a:ext cx="10515600" cy="1143793"/>
          </a:xfrm>
        </p:spPr>
        <p:txBody>
          <a:bodyPr/>
          <a:lstStyle/>
          <a:p>
            <a:r>
              <a:rPr lang="en-SG" dirty="0"/>
              <a:t>Wix Pricing Plans</a:t>
            </a:r>
          </a:p>
        </p:txBody>
      </p:sp>
      <p:pic>
        <p:nvPicPr>
          <p:cNvPr id="3" name="Picture 2">
            <a:extLst>
              <a:ext uri="{FF2B5EF4-FFF2-40B4-BE49-F238E27FC236}">
                <a16:creationId xmlns:a16="http://schemas.microsoft.com/office/drawing/2014/main" id="{727B4697-7179-4481-9185-74AFB1D2F174}"/>
              </a:ext>
            </a:extLst>
          </p:cNvPr>
          <p:cNvPicPr>
            <a:picLocks noChangeAspect="1"/>
          </p:cNvPicPr>
          <p:nvPr/>
        </p:nvPicPr>
        <p:blipFill rotWithShape="1">
          <a:blip r:embed="rId2"/>
          <a:srcRect t="9584" r="12422" b="6944"/>
          <a:stretch/>
        </p:blipFill>
        <p:spPr>
          <a:xfrm>
            <a:off x="757237" y="981074"/>
            <a:ext cx="10677525" cy="5724526"/>
          </a:xfrm>
          <a:prstGeom prst="rect">
            <a:avLst/>
          </a:prstGeom>
        </p:spPr>
      </p:pic>
    </p:spTree>
    <p:extLst>
      <p:ext uri="{BB962C8B-B14F-4D97-AF65-F5344CB8AC3E}">
        <p14:creationId xmlns:p14="http://schemas.microsoft.com/office/powerpoint/2010/main" val="199006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0"/>
            <a:ext cx="10515600" cy="1143793"/>
          </a:xfrm>
        </p:spPr>
        <p:txBody>
          <a:bodyPr/>
          <a:lstStyle/>
          <a:p>
            <a:r>
              <a:rPr lang="en-SG" dirty="0"/>
              <a:t>Publishing the site</a:t>
            </a:r>
          </a:p>
        </p:txBody>
      </p:sp>
      <p:pic>
        <p:nvPicPr>
          <p:cNvPr id="4" name="Picture 3">
            <a:extLst>
              <a:ext uri="{FF2B5EF4-FFF2-40B4-BE49-F238E27FC236}">
                <a16:creationId xmlns:a16="http://schemas.microsoft.com/office/drawing/2014/main" id="{07E6876E-87CA-4132-9FB0-8FB5E25C4D00}"/>
              </a:ext>
            </a:extLst>
          </p:cNvPr>
          <p:cNvPicPr>
            <a:picLocks noChangeAspect="1"/>
          </p:cNvPicPr>
          <p:nvPr/>
        </p:nvPicPr>
        <p:blipFill rotWithShape="1">
          <a:blip r:embed="rId2"/>
          <a:srcRect t="11528" r="1094" b="6667"/>
          <a:stretch/>
        </p:blipFill>
        <p:spPr>
          <a:xfrm>
            <a:off x="66675" y="1143793"/>
            <a:ext cx="12058650" cy="5610226"/>
          </a:xfrm>
          <a:prstGeom prst="rect">
            <a:avLst/>
          </a:prstGeom>
        </p:spPr>
      </p:pic>
      <p:sp>
        <p:nvSpPr>
          <p:cNvPr id="5" name="Rectangle 4">
            <a:extLst>
              <a:ext uri="{FF2B5EF4-FFF2-40B4-BE49-F238E27FC236}">
                <a16:creationId xmlns:a16="http://schemas.microsoft.com/office/drawing/2014/main" id="{E5E2096D-730A-4346-BE43-12EB2E510FA0}"/>
              </a:ext>
            </a:extLst>
          </p:cNvPr>
          <p:cNvSpPr/>
          <p:nvPr/>
        </p:nvSpPr>
        <p:spPr>
          <a:xfrm>
            <a:off x="10887074" y="1076325"/>
            <a:ext cx="1304925" cy="5024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 name="Straight Arrow Connector 5">
            <a:extLst>
              <a:ext uri="{FF2B5EF4-FFF2-40B4-BE49-F238E27FC236}">
                <a16:creationId xmlns:a16="http://schemas.microsoft.com/office/drawing/2014/main" id="{1AFFF81C-EBF6-4519-98B6-3F9FAD27329E}"/>
              </a:ext>
            </a:extLst>
          </p:cNvPr>
          <p:cNvCxnSpPr>
            <a:cxnSpLocks/>
          </p:cNvCxnSpPr>
          <p:nvPr/>
        </p:nvCxnSpPr>
        <p:spPr>
          <a:xfrm flipH="1">
            <a:off x="8429625" y="1424360"/>
            <a:ext cx="2457451" cy="910221"/>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18B6BA5-3B60-4186-81CE-C8A5F32FF550}"/>
              </a:ext>
            </a:extLst>
          </p:cNvPr>
          <p:cNvSpPr txBox="1"/>
          <p:nvPr/>
        </p:nvSpPr>
        <p:spPr>
          <a:xfrm>
            <a:off x="4514849" y="2402049"/>
            <a:ext cx="6372225" cy="1154162"/>
          </a:xfrm>
          <a:prstGeom prst="rect">
            <a:avLst/>
          </a:prstGeom>
          <a:solidFill>
            <a:schemeClr val="accent4">
              <a:lumMod val="60000"/>
              <a:lumOff val="40000"/>
            </a:schemeClr>
          </a:solidFill>
        </p:spPr>
        <p:txBody>
          <a:bodyPr wrap="square" rtlCol="0">
            <a:spAutoFit/>
          </a:bodyPr>
          <a:lstStyle/>
          <a:p>
            <a:r>
              <a:rPr lang="en-SG" sz="2300" dirty="0"/>
              <a:t>Click this button to start publishing your site so that it becomes live and people can start seeing your site.</a:t>
            </a:r>
          </a:p>
        </p:txBody>
      </p:sp>
    </p:spTree>
    <p:extLst>
      <p:ext uri="{BB962C8B-B14F-4D97-AF65-F5344CB8AC3E}">
        <p14:creationId xmlns:p14="http://schemas.microsoft.com/office/powerpoint/2010/main" val="3924896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0"/>
            <a:ext cx="10515600" cy="1143793"/>
          </a:xfrm>
        </p:spPr>
        <p:txBody>
          <a:bodyPr/>
          <a:lstStyle/>
          <a:p>
            <a:r>
              <a:rPr lang="en-SG" dirty="0"/>
              <a:t>Publishing the site</a:t>
            </a:r>
          </a:p>
        </p:txBody>
      </p:sp>
      <p:grpSp>
        <p:nvGrpSpPr>
          <p:cNvPr id="14" name="Group 13">
            <a:extLst>
              <a:ext uri="{FF2B5EF4-FFF2-40B4-BE49-F238E27FC236}">
                <a16:creationId xmlns:a16="http://schemas.microsoft.com/office/drawing/2014/main" id="{78CA1F29-2F05-4C9B-9747-92324C8D8C11}"/>
              </a:ext>
            </a:extLst>
          </p:cNvPr>
          <p:cNvGrpSpPr/>
          <p:nvPr/>
        </p:nvGrpSpPr>
        <p:grpSpPr>
          <a:xfrm>
            <a:off x="1219200" y="948530"/>
            <a:ext cx="10014181" cy="5714207"/>
            <a:chOff x="1219200" y="948530"/>
            <a:chExt cx="10014181" cy="5714207"/>
          </a:xfrm>
        </p:grpSpPr>
        <p:pic>
          <p:nvPicPr>
            <p:cNvPr id="3" name="Picture 2">
              <a:extLst>
                <a:ext uri="{FF2B5EF4-FFF2-40B4-BE49-F238E27FC236}">
                  <a16:creationId xmlns:a16="http://schemas.microsoft.com/office/drawing/2014/main" id="{B4AC1426-817E-4522-8D9A-809048C75BF8}"/>
                </a:ext>
              </a:extLst>
            </p:cNvPr>
            <p:cNvPicPr>
              <a:picLocks noChangeAspect="1"/>
            </p:cNvPicPr>
            <p:nvPr/>
          </p:nvPicPr>
          <p:blipFill rotWithShape="1">
            <a:blip r:embed="rId2"/>
            <a:srcRect l="11094" t="16678" r="12657" b="5973"/>
            <a:stretch/>
          </p:blipFill>
          <p:spPr>
            <a:xfrm>
              <a:off x="1219200" y="948530"/>
              <a:ext cx="10014181" cy="5714207"/>
            </a:xfrm>
            <a:prstGeom prst="rect">
              <a:avLst/>
            </a:prstGeom>
          </p:spPr>
        </p:pic>
        <p:sp>
          <p:nvSpPr>
            <p:cNvPr id="7" name="Rectangle 6">
              <a:extLst>
                <a:ext uri="{FF2B5EF4-FFF2-40B4-BE49-F238E27FC236}">
                  <a16:creationId xmlns:a16="http://schemas.microsoft.com/office/drawing/2014/main" id="{BEE94C86-0539-485E-8514-BAAA65B95D1F}"/>
                </a:ext>
              </a:extLst>
            </p:cNvPr>
            <p:cNvSpPr/>
            <p:nvPr/>
          </p:nvSpPr>
          <p:spPr>
            <a:xfrm>
              <a:off x="4095750" y="3290887"/>
              <a:ext cx="2000250" cy="252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 name="TextBox 9">
            <a:extLst>
              <a:ext uri="{FF2B5EF4-FFF2-40B4-BE49-F238E27FC236}">
                <a16:creationId xmlns:a16="http://schemas.microsoft.com/office/drawing/2014/main" id="{B5212627-479F-4E68-9E44-E9F339E95C17}"/>
              </a:ext>
            </a:extLst>
          </p:cNvPr>
          <p:cNvSpPr txBox="1"/>
          <p:nvPr/>
        </p:nvSpPr>
        <p:spPr>
          <a:xfrm>
            <a:off x="7705725" y="3983199"/>
            <a:ext cx="3841982" cy="2246769"/>
          </a:xfrm>
          <a:prstGeom prst="rect">
            <a:avLst/>
          </a:prstGeom>
          <a:solidFill>
            <a:schemeClr val="accent4">
              <a:lumMod val="60000"/>
              <a:lumOff val="40000"/>
            </a:schemeClr>
          </a:solidFill>
        </p:spPr>
        <p:txBody>
          <a:bodyPr wrap="square" rtlCol="0">
            <a:spAutoFit/>
          </a:bodyPr>
          <a:lstStyle/>
          <a:p>
            <a:r>
              <a:rPr lang="en-SG" sz="2800" dirty="0"/>
              <a:t>You need to choose whether you want to use a Free Wix.com domain or connect to your own custom name.</a:t>
            </a:r>
          </a:p>
        </p:txBody>
      </p:sp>
    </p:spTree>
    <p:extLst>
      <p:ext uri="{BB962C8B-B14F-4D97-AF65-F5344CB8AC3E}">
        <p14:creationId xmlns:p14="http://schemas.microsoft.com/office/powerpoint/2010/main" val="3927140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95FC-9327-463A-BB4A-FF734C0163CA}"/>
              </a:ext>
            </a:extLst>
          </p:cNvPr>
          <p:cNvSpPr>
            <a:spLocks noGrp="1"/>
          </p:cNvSpPr>
          <p:nvPr>
            <p:ph type="title"/>
          </p:nvPr>
        </p:nvSpPr>
        <p:spPr>
          <a:xfrm>
            <a:off x="571500" y="0"/>
            <a:ext cx="10515600" cy="1143793"/>
          </a:xfrm>
        </p:spPr>
        <p:txBody>
          <a:bodyPr/>
          <a:lstStyle/>
          <a:p>
            <a:r>
              <a:rPr lang="en-SG" dirty="0"/>
              <a:t>Publishing the site</a:t>
            </a:r>
          </a:p>
        </p:txBody>
      </p:sp>
      <p:grpSp>
        <p:nvGrpSpPr>
          <p:cNvPr id="9" name="Group 8">
            <a:extLst>
              <a:ext uri="{FF2B5EF4-FFF2-40B4-BE49-F238E27FC236}">
                <a16:creationId xmlns:a16="http://schemas.microsoft.com/office/drawing/2014/main" id="{035B735B-205E-4EB1-87EA-095336F3A68D}"/>
              </a:ext>
            </a:extLst>
          </p:cNvPr>
          <p:cNvGrpSpPr/>
          <p:nvPr/>
        </p:nvGrpSpPr>
        <p:grpSpPr>
          <a:xfrm>
            <a:off x="132558" y="972345"/>
            <a:ext cx="11683996" cy="5876924"/>
            <a:chOff x="142876" y="925981"/>
            <a:chExt cx="11706224" cy="5932019"/>
          </a:xfrm>
        </p:grpSpPr>
        <p:pic>
          <p:nvPicPr>
            <p:cNvPr id="5" name="Picture 4">
              <a:extLst>
                <a:ext uri="{FF2B5EF4-FFF2-40B4-BE49-F238E27FC236}">
                  <a16:creationId xmlns:a16="http://schemas.microsoft.com/office/drawing/2014/main" id="{72C58F89-512D-4979-A18A-CBB8C987054E}"/>
                </a:ext>
              </a:extLst>
            </p:cNvPr>
            <p:cNvPicPr>
              <a:picLocks noChangeAspect="1"/>
            </p:cNvPicPr>
            <p:nvPr/>
          </p:nvPicPr>
          <p:blipFill rotWithShape="1">
            <a:blip r:embed="rId2"/>
            <a:srcRect l="-625" t="5278" r="2110" b="5972"/>
            <a:stretch/>
          </p:blipFill>
          <p:spPr>
            <a:xfrm>
              <a:off x="142876" y="925981"/>
              <a:ext cx="11706224" cy="5932019"/>
            </a:xfrm>
            <a:prstGeom prst="rect">
              <a:avLst/>
            </a:prstGeom>
          </p:spPr>
        </p:pic>
        <p:sp>
          <p:nvSpPr>
            <p:cNvPr id="6" name="Rectangle 5">
              <a:extLst>
                <a:ext uri="{FF2B5EF4-FFF2-40B4-BE49-F238E27FC236}">
                  <a16:creationId xmlns:a16="http://schemas.microsoft.com/office/drawing/2014/main" id="{103A9A61-D965-4828-AE34-22F7F060ADAD}"/>
                </a:ext>
              </a:extLst>
            </p:cNvPr>
            <p:cNvSpPr/>
            <p:nvPr/>
          </p:nvSpPr>
          <p:spPr>
            <a:xfrm>
              <a:off x="1514475" y="925981"/>
              <a:ext cx="1400175" cy="2178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4277305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A981-0086-4453-89CB-7ED657C9F359}"/>
              </a:ext>
            </a:extLst>
          </p:cNvPr>
          <p:cNvSpPr>
            <a:spLocks noGrp="1"/>
          </p:cNvSpPr>
          <p:nvPr>
            <p:ph type="title"/>
          </p:nvPr>
        </p:nvSpPr>
        <p:spPr/>
        <p:txBody>
          <a:bodyPr/>
          <a:lstStyle/>
          <a:p>
            <a:r>
              <a:rPr lang="en-SG" dirty="0"/>
              <a:t>Activity 12.4</a:t>
            </a:r>
          </a:p>
        </p:txBody>
      </p:sp>
      <p:sp>
        <p:nvSpPr>
          <p:cNvPr id="3" name="Content Placeholder 2">
            <a:extLst>
              <a:ext uri="{FF2B5EF4-FFF2-40B4-BE49-F238E27FC236}">
                <a16:creationId xmlns:a16="http://schemas.microsoft.com/office/drawing/2014/main" id="{6502D7CE-F113-4CCC-AC6C-066476E5D548}"/>
              </a:ext>
            </a:extLst>
          </p:cNvPr>
          <p:cNvSpPr>
            <a:spLocks noGrp="1"/>
          </p:cNvSpPr>
          <p:nvPr>
            <p:ph idx="1"/>
          </p:nvPr>
        </p:nvSpPr>
        <p:spPr/>
        <p:txBody>
          <a:bodyPr/>
          <a:lstStyle/>
          <a:p>
            <a:r>
              <a:rPr lang="en-SG" dirty="0"/>
              <a:t>Refer to your book for Activity 12.4</a:t>
            </a:r>
          </a:p>
          <a:p>
            <a:pPr marL="0" indent="0">
              <a:buNone/>
            </a:pPr>
            <a:endParaRPr lang="en-SG" dirty="0"/>
          </a:p>
        </p:txBody>
      </p:sp>
    </p:spTree>
    <p:extLst>
      <p:ext uri="{BB962C8B-B14F-4D97-AF65-F5344CB8AC3E}">
        <p14:creationId xmlns:p14="http://schemas.microsoft.com/office/powerpoint/2010/main" val="135655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normAutofit/>
          </a:bodyPr>
          <a:lstStyle/>
          <a:p>
            <a:r>
              <a:rPr lang="en-SG" b="1" u="sng" dirty="0"/>
              <a:t>Portfolio</a:t>
            </a:r>
            <a:r>
              <a:rPr lang="en-SG" dirty="0"/>
              <a:t> – Wix Dashboard</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pPr marL="0" indent="0">
              <a:buNone/>
            </a:pPr>
            <a:r>
              <a:rPr lang="en-SG" dirty="0"/>
              <a:t>The contents of your portfolio for this lesson are the following:</a:t>
            </a:r>
          </a:p>
          <a:p>
            <a:endParaRPr lang="en-SG" dirty="0"/>
          </a:p>
          <a:p>
            <a:r>
              <a:rPr lang="en-SG" dirty="0"/>
              <a:t>Upload a promotional video for branding purposes in your video library.</a:t>
            </a:r>
          </a:p>
          <a:p>
            <a:r>
              <a:rPr lang="en-SG" dirty="0"/>
              <a:t>Created one simple service </a:t>
            </a:r>
          </a:p>
          <a:p>
            <a:r>
              <a:rPr lang="en-SG" dirty="0"/>
              <a:t>Installed and added one free App in your Wix site</a:t>
            </a:r>
          </a:p>
          <a:p>
            <a:r>
              <a:rPr lang="en-SG" dirty="0"/>
              <a:t>Published site with a free Wix domain name</a:t>
            </a:r>
          </a:p>
          <a:p>
            <a:endParaRPr lang="en-SG" dirty="0"/>
          </a:p>
          <a:p>
            <a:endParaRPr lang="en-SG" dirty="0"/>
          </a:p>
          <a:p>
            <a:pPr marL="0" indent="0">
              <a:buNone/>
            </a:pPr>
            <a:endParaRPr lang="en-SG" dirty="0"/>
          </a:p>
          <a:p>
            <a:pPr marL="0" indent="0">
              <a:buNone/>
            </a:pPr>
            <a:endParaRPr lang="en-SG" dirty="0"/>
          </a:p>
          <a:p>
            <a:endParaRPr lang="en-SG" dirty="0"/>
          </a:p>
        </p:txBody>
      </p:sp>
    </p:spTree>
    <p:extLst>
      <p:ext uri="{BB962C8B-B14F-4D97-AF65-F5344CB8AC3E}">
        <p14:creationId xmlns:p14="http://schemas.microsoft.com/office/powerpoint/2010/main" val="778205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540</Words>
  <Application>Microsoft Office PowerPoint</Application>
  <PresentationFormat>Widescreen</PresentationFormat>
  <Paragraphs>60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Abadi</vt:lpstr>
      <vt:lpstr>Arial</vt:lpstr>
      <vt:lpstr>Calibri</vt:lpstr>
      <vt:lpstr>Calibri Light</vt:lpstr>
      <vt:lpstr>Office Theme</vt:lpstr>
      <vt:lpstr>Digital Business and               E-Commerce Management</vt:lpstr>
      <vt:lpstr>Setting a Wix Site Part 3</vt:lpstr>
      <vt:lpstr>The Wix Dashboard</vt:lpstr>
      <vt:lpstr>The Wix Dashboard</vt:lpstr>
      <vt:lpstr>The Wix Dashboard</vt:lpstr>
      <vt:lpstr>The Wix Dashboard</vt:lpstr>
      <vt:lpstr>Activity 12.1</vt:lpstr>
      <vt:lpstr>The Wix Dashboard</vt:lpstr>
      <vt:lpstr>The Wix Dashboard</vt:lpstr>
      <vt:lpstr>The Wix Dashboard</vt:lpstr>
      <vt:lpstr>Activity 12.2</vt:lpstr>
      <vt:lpstr>The Wix Dashboard</vt:lpstr>
      <vt:lpstr>The Wix Dashboard</vt:lpstr>
      <vt:lpstr>Add Functionality via Wix App</vt:lpstr>
      <vt:lpstr>Activity 12.3</vt:lpstr>
      <vt:lpstr>Wix Pricing Plans</vt:lpstr>
      <vt:lpstr>Publishing the site</vt:lpstr>
      <vt:lpstr>Publishing the site</vt:lpstr>
      <vt:lpstr>Publishing the site</vt:lpstr>
      <vt:lpstr>Activity 12.4</vt:lpstr>
      <vt:lpstr>Portfolio – Wix Dashboard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and               E-Commerce Management</dc:title>
  <dc:creator>Marie Chris Soque</dc:creator>
  <cp:lastModifiedBy>Marie Chris Soque</cp:lastModifiedBy>
  <cp:revision>243</cp:revision>
  <dcterms:created xsi:type="dcterms:W3CDTF">2020-04-20T07:51:16Z</dcterms:created>
  <dcterms:modified xsi:type="dcterms:W3CDTF">2020-04-21T06:34:08Z</dcterms:modified>
</cp:coreProperties>
</file>