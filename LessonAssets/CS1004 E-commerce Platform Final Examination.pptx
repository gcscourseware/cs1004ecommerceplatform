
<file path=[Content_Types].xml><?xml version="1.0" encoding="utf-8"?>
<Types xmlns="http://schemas.openxmlformats.org/package/2006/content-types">
  <Default Extension="jp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9" r:id="rId2"/>
    <p:sldId id="352" r:id="rId3"/>
    <p:sldId id="310" r:id="rId4"/>
    <p:sldId id="299" r:id="rId5"/>
    <p:sldId id="300" r:id="rId6"/>
    <p:sldId id="301" r:id="rId7"/>
    <p:sldId id="304" r:id="rId8"/>
    <p:sldId id="328" r:id="rId9"/>
    <p:sldId id="330" r:id="rId10"/>
    <p:sldId id="329" r:id="rId11"/>
    <p:sldId id="331" r:id="rId12"/>
    <p:sldId id="332" r:id="rId13"/>
    <p:sldId id="334" r:id="rId14"/>
    <p:sldId id="333" r:id="rId15"/>
    <p:sldId id="335" r:id="rId16"/>
    <p:sldId id="315" r:id="rId17"/>
    <p:sldId id="316" r:id="rId18"/>
    <p:sldId id="336" r:id="rId19"/>
    <p:sldId id="337" r:id="rId20"/>
    <p:sldId id="338" r:id="rId21"/>
    <p:sldId id="339" r:id="rId22"/>
    <p:sldId id="340" r:id="rId23"/>
    <p:sldId id="341" r:id="rId24"/>
    <p:sldId id="342" r:id="rId25"/>
    <p:sldId id="343" r:id="rId26"/>
    <p:sldId id="325" r:id="rId27"/>
    <p:sldId id="326" r:id="rId28"/>
    <p:sldId id="344" r:id="rId29"/>
    <p:sldId id="345" r:id="rId30"/>
    <p:sldId id="346" r:id="rId31"/>
    <p:sldId id="347" r:id="rId32"/>
    <p:sldId id="348" r:id="rId33"/>
    <p:sldId id="349" r:id="rId34"/>
    <p:sldId id="350" r:id="rId35"/>
    <p:sldId id="351" r:id="rId36"/>
    <p:sldId id="32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55" d="100"/>
          <a:sy n="55" d="100"/>
        </p:scale>
        <p:origin x="98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F9933D-76A3-4713-BA17-0ACC5F61C70A}" type="datetimeFigureOut">
              <a:rPr lang="en-SG" smtClean="0"/>
              <a:t>26/3/2026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EB8D8D-F2A5-47A4-8DF0-653802A2F3D3}" type="slidenum">
              <a:rPr lang="en-SG" smtClean="0"/>
              <a:t>‹#›</a:t>
            </a:fld>
            <a:endParaRPr lang="en-SG"/>
          </a:p>
        </p:txBody>
      </p:sp>
    </p:spTree>
    <p:extLst>
      <p:ext uri="{BB962C8B-B14F-4D97-AF65-F5344CB8AC3E}">
        <p14:creationId xmlns:p14="http://schemas.microsoft.com/office/powerpoint/2010/main" val="378261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1447-B444-43F2-8A34-98132DC1DF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dirty="0"/>
          </a:p>
        </p:txBody>
      </p:sp>
      <p:sp>
        <p:nvSpPr>
          <p:cNvPr id="3" name="Subtitle 2">
            <a:extLst>
              <a:ext uri="{FF2B5EF4-FFF2-40B4-BE49-F238E27FC236}">
                <a16:creationId xmlns:a16="http://schemas.microsoft.com/office/drawing/2014/main" id="{BD4CD788-F5A3-4B0E-82BA-20FE133FD8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dirty="0"/>
          </a:p>
        </p:txBody>
      </p:sp>
      <p:sp>
        <p:nvSpPr>
          <p:cNvPr id="4" name="Date Placeholder 3">
            <a:extLst>
              <a:ext uri="{FF2B5EF4-FFF2-40B4-BE49-F238E27FC236}">
                <a16:creationId xmlns:a16="http://schemas.microsoft.com/office/drawing/2014/main" id="{509F5B45-3AD3-44F8-9D20-193D07010AA4}"/>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5" name="Footer Placeholder 4">
            <a:extLst>
              <a:ext uri="{FF2B5EF4-FFF2-40B4-BE49-F238E27FC236}">
                <a16:creationId xmlns:a16="http://schemas.microsoft.com/office/drawing/2014/main" id="{145B1800-E834-4A71-8E48-4037017344A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23E7BA7-2F2E-4BAB-A9DF-8B72384EEB38}"/>
              </a:ext>
            </a:extLst>
          </p:cNvPr>
          <p:cNvSpPr>
            <a:spLocks noGrp="1"/>
          </p:cNvSpPr>
          <p:nvPr>
            <p:ph type="sldNum" sz="quarter" idx="12"/>
          </p:nvPr>
        </p:nvSpPr>
        <p:spPr/>
        <p:txBody>
          <a:bodyPr/>
          <a:lstStyle/>
          <a:p>
            <a:fld id="{BD3DB6AF-6051-4A0F-9624-8CD5960808BD}" type="slidenum">
              <a:rPr lang="en-SG" smtClean="0"/>
              <a:t>‹#›</a:t>
            </a:fld>
            <a:endParaRPr lang="en-SG"/>
          </a:p>
        </p:txBody>
      </p:sp>
      <p:cxnSp>
        <p:nvCxnSpPr>
          <p:cNvPr id="9" name="Straight Connector 8">
            <a:extLst>
              <a:ext uri="{FF2B5EF4-FFF2-40B4-BE49-F238E27FC236}">
                <a16:creationId xmlns:a16="http://schemas.microsoft.com/office/drawing/2014/main" id="{EE5AC3CB-FC01-4B16-A955-28BD71ED9F43}"/>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A820F14F-6BB9-40B6-AFA7-E962CFEDA40A}"/>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CS1004 – E-commerce Platform</a:t>
            </a:r>
          </a:p>
        </p:txBody>
      </p:sp>
      <p:sp>
        <p:nvSpPr>
          <p:cNvPr id="11" name="Rectangle 10">
            <a:extLst>
              <a:ext uri="{FF2B5EF4-FFF2-40B4-BE49-F238E27FC236}">
                <a16:creationId xmlns:a16="http://schemas.microsoft.com/office/drawing/2014/main" id="{E806B02D-6E28-4CA2-A598-3992331417F2}"/>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2" name="Picture 11" descr="A picture containing clipart&#10;&#10;Description automatically generated">
            <a:extLst>
              <a:ext uri="{FF2B5EF4-FFF2-40B4-BE49-F238E27FC236}">
                <a16:creationId xmlns:a16="http://schemas.microsoft.com/office/drawing/2014/main" id="{D67A5063-F5F0-4E17-9B04-31DD5E5398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136525"/>
            <a:ext cx="1364857" cy="737891"/>
          </a:xfrm>
          <a:prstGeom prst="rect">
            <a:avLst/>
          </a:prstGeom>
        </p:spPr>
      </p:pic>
    </p:spTree>
    <p:extLst>
      <p:ext uri="{BB962C8B-B14F-4D97-AF65-F5344CB8AC3E}">
        <p14:creationId xmlns:p14="http://schemas.microsoft.com/office/powerpoint/2010/main" val="3376594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4B487-4B8D-49A9-8575-6AC3A18C2BD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F4ED7219-D296-48DE-B18E-BF594AFA12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AA40184-BACC-4792-A4D6-566AB6683E56}"/>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5" name="Footer Placeholder 4">
            <a:extLst>
              <a:ext uri="{FF2B5EF4-FFF2-40B4-BE49-F238E27FC236}">
                <a16:creationId xmlns:a16="http://schemas.microsoft.com/office/drawing/2014/main" id="{F423E331-50B5-4DF3-8C16-6E997FD4789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8EBA7F0-6146-412C-A9DA-8FDD776CC81B}"/>
              </a:ext>
            </a:extLst>
          </p:cNvPr>
          <p:cNvSpPr>
            <a:spLocks noGrp="1"/>
          </p:cNvSpPr>
          <p:nvPr>
            <p:ph type="sldNum" sz="quarter" idx="12"/>
          </p:nvPr>
        </p:nvSpPr>
        <p:spPr/>
        <p:txBody>
          <a:bodyPr/>
          <a:lstStyle/>
          <a:p>
            <a:fld id="{BD3DB6AF-6051-4A0F-9624-8CD5960808BD}" type="slidenum">
              <a:rPr lang="en-SG" smtClean="0"/>
              <a:t>‹#›</a:t>
            </a:fld>
            <a:endParaRPr lang="en-SG"/>
          </a:p>
        </p:txBody>
      </p:sp>
      <p:cxnSp>
        <p:nvCxnSpPr>
          <p:cNvPr id="9" name="Straight Connector 8">
            <a:extLst>
              <a:ext uri="{FF2B5EF4-FFF2-40B4-BE49-F238E27FC236}">
                <a16:creationId xmlns:a16="http://schemas.microsoft.com/office/drawing/2014/main" id="{7F73F560-53E8-44BC-9DA6-264598EBB9A2}"/>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id="{6F418F93-90E8-45FD-8BCB-10503F7AB85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2" name="Picture 11" descr="A picture containing clipart&#10;&#10;Description automatically generated">
            <a:extLst>
              <a:ext uri="{FF2B5EF4-FFF2-40B4-BE49-F238E27FC236}">
                <a16:creationId xmlns:a16="http://schemas.microsoft.com/office/drawing/2014/main" id="{E5E6404B-CF19-4AB8-9483-677E4EEE8D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136525"/>
            <a:ext cx="1364857" cy="737891"/>
          </a:xfrm>
          <a:prstGeom prst="rect">
            <a:avLst/>
          </a:prstGeom>
        </p:spPr>
      </p:pic>
      <p:sp>
        <p:nvSpPr>
          <p:cNvPr id="7" name="Rectangle 6">
            <a:extLst>
              <a:ext uri="{FF2B5EF4-FFF2-40B4-BE49-F238E27FC236}">
                <a16:creationId xmlns:a16="http://schemas.microsoft.com/office/drawing/2014/main" id="{F696B559-D481-F72B-F0AE-E662796769D2}"/>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CS1004 – E-commerce Platform</a:t>
            </a:r>
          </a:p>
        </p:txBody>
      </p:sp>
    </p:spTree>
    <p:extLst>
      <p:ext uri="{BB962C8B-B14F-4D97-AF65-F5344CB8AC3E}">
        <p14:creationId xmlns:p14="http://schemas.microsoft.com/office/powerpoint/2010/main" val="255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485DE-BB38-4E44-888F-48814BF003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27CC9B50-38D2-454E-8097-D70E24E453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9A6819-75AA-4A3F-948B-028820A95FF3}"/>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5" name="Footer Placeholder 4">
            <a:extLst>
              <a:ext uri="{FF2B5EF4-FFF2-40B4-BE49-F238E27FC236}">
                <a16:creationId xmlns:a16="http://schemas.microsoft.com/office/drawing/2014/main" id="{EDDC1A4A-AF03-450B-AD38-B477F10667B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CE55ABD-AF51-4647-8FA3-E340481ED8D1}"/>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818736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47A4A-957C-41A9-BE31-6D1B6FF1CEB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F9CE808-E60C-4E5A-873C-F9609D8BD7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2F0EE9D-59D5-480F-A286-46042DF58C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3838D38E-499E-4C14-9ED4-2E06586FCD93}"/>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6" name="Footer Placeholder 5">
            <a:extLst>
              <a:ext uri="{FF2B5EF4-FFF2-40B4-BE49-F238E27FC236}">
                <a16:creationId xmlns:a16="http://schemas.microsoft.com/office/drawing/2014/main" id="{C7B72310-4C55-4AE1-9C76-BECAD983EFA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D075886-47C7-4251-9EEA-2123E113BBC6}"/>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858134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733F-638B-434C-BF67-6B16A4504068}"/>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7C06F2B5-5B3D-4CE3-AC67-A3DD539318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68CA23-6F63-4D05-8887-9B9CBEE6FF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F88E8A94-387D-40D4-9E69-4219F3417A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54DA84-F08A-4892-95CE-A0AC8D6BC9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F477C99E-797D-4811-B63F-0429F70EEE41}"/>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8" name="Footer Placeholder 7">
            <a:extLst>
              <a:ext uri="{FF2B5EF4-FFF2-40B4-BE49-F238E27FC236}">
                <a16:creationId xmlns:a16="http://schemas.microsoft.com/office/drawing/2014/main" id="{23750CEE-B2EF-4F99-B896-DB732E77B98D}"/>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60FF745A-65EC-4BBE-AD47-73CAC76087DB}"/>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1729006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61067-ADF9-4E36-B131-80F716AD303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79E715DA-4EA0-4D0C-A7B1-75AFA4A381DC}"/>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4" name="Footer Placeholder 3">
            <a:extLst>
              <a:ext uri="{FF2B5EF4-FFF2-40B4-BE49-F238E27FC236}">
                <a16:creationId xmlns:a16="http://schemas.microsoft.com/office/drawing/2014/main" id="{6D228E58-6F09-4B44-B8C9-69E45557B6C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05DDA3E0-100C-4DB4-AD03-05F929858760}"/>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445631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7DA86-BA46-4A94-8030-50BDD53EEE52}"/>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3" name="Footer Placeholder 2">
            <a:extLst>
              <a:ext uri="{FF2B5EF4-FFF2-40B4-BE49-F238E27FC236}">
                <a16:creationId xmlns:a16="http://schemas.microsoft.com/office/drawing/2014/main" id="{C8074C45-BB22-4C8F-A26F-C1EE854E69E2}"/>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B6DD6BE8-06C1-440A-B72F-6C629F6BF558}"/>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3500212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D596-A316-42CB-8EBA-E289BDC54A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89EB968-F3A1-42E8-A8E4-FB4C96C85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21F77055-738F-46AB-9126-EF45B09C1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2447E6-8CA0-45CB-ABE3-54EA3654423D}"/>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6" name="Footer Placeholder 5">
            <a:extLst>
              <a:ext uri="{FF2B5EF4-FFF2-40B4-BE49-F238E27FC236}">
                <a16:creationId xmlns:a16="http://schemas.microsoft.com/office/drawing/2014/main" id="{4673B57A-D30B-4DA3-B95B-DCC50065439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469A50B-8E51-4645-BE3C-1DEFC177F1C8}"/>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4124755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3606-95D2-461E-ADAD-836665DF29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AEA5F61-B4E3-4F3B-902F-13D04B757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AE57F163-4B1B-4953-B1B7-C3E889662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E1455C-8DDC-4E8E-A83C-A72DB358772A}"/>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6" name="Footer Placeholder 5">
            <a:extLst>
              <a:ext uri="{FF2B5EF4-FFF2-40B4-BE49-F238E27FC236}">
                <a16:creationId xmlns:a16="http://schemas.microsoft.com/office/drawing/2014/main" id="{3D71FB97-AD0C-4A5B-9CAE-34C733B92F4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1DFBF65-B6AE-4D61-9FD4-3D0B919BCF04}"/>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703805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CBDE3-9398-4121-815A-62743BE6CDA4}"/>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98A5190-EBC8-4DA8-9B67-B67D5E1542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401FE5C-D662-422F-8382-2EE4E0464542}"/>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5" name="Footer Placeholder 4">
            <a:extLst>
              <a:ext uri="{FF2B5EF4-FFF2-40B4-BE49-F238E27FC236}">
                <a16:creationId xmlns:a16="http://schemas.microsoft.com/office/drawing/2014/main" id="{7E6DB556-D37D-434D-9628-C9BAE6DB33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04BEF01-B45B-4E54-B05B-0C8CBB7C613A}"/>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158773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802E40-32E7-44A9-8BF4-32FAA9B0E5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A28C05C-1D3E-4B3B-B223-73852A065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ED8AB1E-D84D-4F78-8205-57C5D2DD9AE1}"/>
              </a:ext>
            </a:extLst>
          </p:cNvPr>
          <p:cNvSpPr>
            <a:spLocks noGrp="1"/>
          </p:cNvSpPr>
          <p:nvPr>
            <p:ph type="dt" sz="half" idx="10"/>
          </p:nvPr>
        </p:nvSpPr>
        <p:spPr/>
        <p:txBody>
          <a:bodyPr/>
          <a:lstStyle/>
          <a:p>
            <a:fld id="{C9CCEB45-63C5-425B-8D13-3F29452E1276}" type="datetimeFigureOut">
              <a:rPr lang="en-SG" smtClean="0"/>
              <a:t>26/3/2026</a:t>
            </a:fld>
            <a:endParaRPr lang="en-SG"/>
          </a:p>
        </p:txBody>
      </p:sp>
      <p:sp>
        <p:nvSpPr>
          <p:cNvPr id="5" name="Footer Placeholder 4">
            <a:extLst>
              <a:ext uri="{FF2B5EF4-FFF2-40B4-BE49-F238E27FC236}">
                <a16:creationId xmlns:a16="http://schemas.microsoft.com/office/drawing/2014/main" id="{B562A0C2-0682-47E6-8D2C-F7BE53C4CE1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E4952B5-E37F-43A3-ABCA-B9AC2F22DB0D}"/>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700388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4A05A8-9416-4EBF-A6D3-BA5F7EB9BB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6E107F0-23DF-474F-A9D0-3A4FBBE415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EA78A3E-85E8-40F5-8B21-FBF4E3855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CCEB45-63C5-425B-8D13-3F29452E1276}" type="datetimeFigureOut">
              <a:rPr lang="en-SG" smtClean="0"/>
              <a:t>26/3/2026</a:t>
            </a:fld>
            <a:endParaRPr lang="en-SG"/>
          </a:p>
        </p:txBody>
      </p:sp>
      <p:sp>
        <p:nvSpPr>
          <p:cNvPr id="5" name="Footer Placeholder 4">
            <a:extLst>
              <a:ext uri="{FF2B5EF4-FFF2-40B4-BE49-F238E27FC236}">
                <a16:creationId xmlns:a16="http://schemas.microsoft.com/office/drawing/2014/main" id="{56B8D8C3-7CC6-4473-8575-91E3FF4FD9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E42EEC86-BE78-4779-ABFD-99BC06C523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3DB6AF-6051-4A0F-9624-8CD5960808BD}" type="slidenum">
              <a:rPr lang="en-SG" smtClean="0"/>
              <a:t>‹#›</a:t>
            </a:fld>
            <a:endParaRPr lang="en-SG"/>
          </a:p>
        </p:txBody>
      </p:sp>
    </p:spTree>
    <p:extLst>
      <p:ext uri="{BB962C8B-B14F-4D97-AF65-F5344CB8AC3E}">
        <p14:creationId xmlns:p14="http://schemas.microsoft.com/office/powerpoint/2010/main" val="3082186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hyperlink" Target="mailto:mackysportsapparel@gmail.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hyperlink" Target="mailto:mackysportsapparel@gmail.co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CE3D-499A-49AB-ADD8-785D0A08B3ED}"/>
              </a:ext>
            </a:extLst>
          </p:cNvPr>
          <p:cNvSpPr>
            <a:spLocks noGrp="1"/>
          </p:cNvSpPr>
          <p:nvPr>
            <p:ph type="ctrTitle"/>
          </p:nvPr>
        </p:nvSpPr>
        <p:spPr>
          <a:xfrm>
            <a:off x="1524000" y="710588"/>
            <a:ext cx="9144000" cy="2387600"/>
          </a:xfrm>
        </p:spPr>
        <p:txBody>
          <a:bodyPr>
            <a:normAutofit/>
          </a:bodyPr>
          <a:lstStyle/>
          <a:p>
            <a:r>
              <a:rPr lang="en-US" b="1" dirty="0"/>
              <a:t>CS1004 – E-Commerce Platform</a:t>
            </a:r>
            <a:endParaRPr lang="en-SG" b="1" dirty="0"/>
          </a:p>
        </p:txBody>
      </p:sp>
      <p:graphicFrame>
        <p:nvGraphicFramePr>
          <p:cNvPr id="4" name="Table 4">
            <a:extLst>
              <a:ext uri="{FF2B5EF4-FFF2-40B4-BE49-F238E27FC236}">
                <a16:creationId xmlns:a16="http://schemas.microsoft.com/office/drawing/2014/main" id="{FCE6FD10-A894-4A74-B2A3-FB6AAED316A9}"/>
              </a:ext>
            </a:extLst>
          </p:cNvPr>
          <p:cNvGraphicFramePr>
            <a:graphicFrameLocks noGrp="1"/>
          </p:cNvGraphicFramePr>
          <p:nvPr>
            <p:extLst>
              <p:ext uri="{D42A27DB-BD31-4B8C-83A1-F6EECF244321}">
                <p14:modId xmlns:p14="http://schemas.microsoft.com/office/powerpoint/2010/main" val="1767577816"/>
              </p:ext>
            </p:extLst>
          </p:nvPr>
        </p:nvGraphicFramePr>
        <p:xfrm>
          <a:off x="1313542" y="3263318"/>
          <a:ext cx="9929845" cy="1057012"/>
        </p:xfrm>
        <a:graphic>
          <a:graphicData uri="http://schemas.openxmlformats.org/drawingml/2006/table">
            <a:tbl>
              <a:tblPr firstRow="1" bandRow="1">
                <a:tableStyleId>{5C22544A-7EE6-4342-B048-85BDC9FD1C3A}</a:tableStyleId>
              </a:tblPr>
              <a:tblGrid>
                <a:gridCol w="9929845">
                  <a:extLst>
                    <a:ext uri="{9D8B030D-6E8A-4147-A177-3AD203B41FA5}">
                      <a16:colId xmlns:a16="http://schemas.microsoft.com/office/drawing/2014/main" val="2563540020"/>
                    </a:ext>
                  </a:extLst>
                </a:gridCol>
              </a:tblGrid>
              <a:tr h="1057012">
                <a:tc>
                  <a:txBody>
                    <a:bodyPr/>
                    <a:lstStyle/>
                    <a:p>
                      <a:pPr algn="ctr"/>
                      <a:r>
                        <a:rPr lang="en-SG" sz="3600" b="0" dirty="0"/>
                        <a:t>Final Examination (2 Hours and 10 Minutes)</a:t>
                      </a:r>
                    </a:p>
                  </a:txBody>
                  <a:tcPr/>
                </a:tc>
                <a:extLst>
                  <a:ext uri="{0D108BD9-81ED-4DB2-BD59-A6C34878D82A}">
                    <a16:rowId xmlns:a16="http://schemas.microsoft.com/office/drawing/2014/main" val="3643198376"/>
                  </a:ext>
                </a:extLst>
              </a:tr>
            </a:tbl>
          </a:graphicData>
        </a:graphic>
      </p:graphicFrame>
      <p:graphicFrame>
        <p:nvGraphicFramePr>
          <p:cNvPr id="6" name="Table 6">
            <a:extLst>
              <a:ext uri="{FF2B5EF4-FFF2-40B4-BE49-F238E27FC236}">
                <a16:creationId xmlns:a16="http://schemas.microsoft.com/office/drawing/2014/main" id="{4C499F40-ED94-4A54-A6C0-2660AE997D04}"/>
              </a:ext>
            </a:extLst>
          </p:cNvPr>
          <p:cNvGraphicFramePr>
            <a:graphicFrameLocks noGrp="1"/>
          </p:cNvGraphicFramePr>
          <p:nvPr>
            <p:extLst>
              <p:ext uri="{D42A27DB-BD31-4B8C-83A1-F6EECF244321}">
                <p14:modId xmlns:p14="http://schemas.microsoft.com/office/powerpoint/2010/main" val="2635730106"/>
              </p:ext>
            </p:extLst>
          </p:nvPr>
        </p:nvGraphicFramePr>
        <p:xfrm>
          <a:off x="1313541" y="4657740"/>
          <a:ext cx="9929846" cy="1463040"/>
        </p:xfrm>
        <a:graphic>
          <a:graphicData uri="http://schemas.openxmlformats.org/drawingml/2006/table">
            <a:tbl>
              <a:tblPr firstRow="1" bandRow="1">
                <a:tableStyleId>{5C22544A-7EE6-4342-B048-85BDC9FD1C3A}</a:tableStyleId>
              </a:tblPr>
              <a:tblGrid>
                <a:gridCol w="6374883">
                  <a:extLst>
                    <a:ext uri="{9D8B030D-6E8A-4147-A177-3AD203B41FA5}">
                      <a16:colId xmlns:a16="http://schemas.microsoft.com/office/drawing/2014/main" val="776233894"/>
                    </a:ext>
                  </a:extLst>
                </a:gridCol>
                <a:gridCol w="3554963">
                  <a:extLst>
                    <a:ext uri="{9D8B030D-6E8A-4147-A177-3AD203B41FA5}">
                      <a16:colId xmlns:a16="http://schemas.microsoft.com/office/drawing/2014/main" val="34218562"/>
                    </a:ext>
                  </a:extLst>
                </a:gridCol>
              </a:tblGrid>
              <a:tr h="370840">
                <a:tc>
                  <a:txBody>
                    <a:bodyPr/>
                    <a:lstStyle/>
                    <a:p>
                      <a:endParaRPr lang="en-SG" b="1" dirty="0">
                        <a:solidFill>
                          <a:schemeClr val="tx1"/>
                        </a:solidFill>
                      </a:endParaRPr>
                    </a:p>
                    <a:p>
                      <a:r>
                        <a:rPr lang="en-SG" b="1" dirty="0">
                          <a:solidFill>
                            <a:schemeClr val="tx1"/>
                          </a:solidFill>
                        </a:rPr>
                        <a:t>Learner Name: </a:t>
                      </a:r>
                    </a:p>
                    <a:p>
                      <a:endParaRPr lang="en-SG" b="1" dirty="0">
                        <a:solidFill>
                          <a:schemeClr val="tx1"/>
                        </a:solidFill>
                      </a:endParaRPr>
                    </a:p>
                    <a:p>
                      <a:r>
                        <a:rPr lang="en-SG" b="1" dirty="0">
                          <a:solidFill>
                            <a:schemeClr val="tx1"/>
                          </a:solidFill>
                        </a:rPr>
                        <a:t>Learner NRIC / FIN No.: [last 3 digits and letter]</a:t>
                      </a:r>
                    </a:p>
                    <a:p>
                      <a:endParaRPr lang="en-SG" b="1" dirty="0">
                        <a:solidFill>
                          <a:schemeClr val="tx1"/>
                        </a:solidFill>
                      </a:endParaRPr>
                    </a:p>
                  </a:txBody>
                  <a:tcPr>
                    <a:solidFill>
                      <a:schemeClr val="bg1"/>
                    </a:solidFill>
                  </a:tcPr>
                </a:tc>
                <a:tc>
                  <a:txBody>
                    <a:bodyPr/>
                    <a:lstStyle/>
                    <a:p>
                      <a:endParaRPr lang="en-SG" dirty="0">
                        <a:solidFill>
                          <a:schemeClr val="tx1"/>
                        </a:solidFill>
                      </a:endParaRPr>
                    </a:p>
                    <a:p>
                      <a:r>
                        <a:rPr lang="en-SG" dirty="0">
                          <a:solidFill>
                            <a:schemeClr val="tx1"/>
                          </a:solidFill>
                        </a:rPr>
                        <a:t>Date: March 27, 2026</a:t>
                      </a:r>
                    </a:p>
                  </a:txBody>
                  <a:tcPr>
                    <a:solidFill>
                      <a:schemeClr val="bg1"/>
                    </a:solidFill>
                  </a:tcPr>
                </a:tc>
                <a:extLst>
                  <a:ext uri="{0D108BD9-81ED-4DB2-BD59-A6C34878D82A}">
                    <a16:rowId xmlns:a16="http://schemas.microsoft.com/office/drawing/2014/main" val="1470501566"/>
                  </a:ext>
                </a:extLst>
              </a:tr>
            </a:tbl>
          </a:graphicData>
        </a:graphic>
      </p:graphicFrame>
    </p:spTree>
    <p:extLst>
      <p:ext uri="{BB962C8B-B14F-4D97-AF65-F5344CB8AC3E}">
        <p14:creationId xmlns:p14="http://schemas.microsoft.com/office/powerpoint/2010/main" val="249372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D5739-AAC4-9E93-92C2-2BBCF45B7E1E}"/>
              </a:ext>
            </a:extLst>
          </p:cNvPr>
          <p:cNvSpPr>
            <a:spLocks noGrp="1"/>
          </p:cNvSpPr>
          <p:nvPr>
            <p:ph type="title"/>
          </p:nvPr>
        </p:nvSpPr>
        <p:spPr/>
        <p:txBody>
          <a:bodyPr/>
          <a:lstStyle/>
          <a:p>
            <a:r>
              <a:rPr lang="en-SG" b="1" dirty="0">
                <a:solidFill>
                  <a:srgbClr val="FF0000"/>
                </a:solidFill>
              </a:rPr>
              <a:t>Important : Read the Instructions Carefully </a:t>
            </a:r>
            <a:endParaRPr lang="en-SG" dirty="0"/>
          </a:p>
        </p:txBody>
      </p:sp>
      <p:sp>
        <p:nvSpPr>
          <p:cNvPr id="3" name="Content Placeholder 2">
            <a:extLst>
              <a:ext uri="{FF2B5EF4-FFF2-40B4-BE49-F238E27FC236}">
                <a16:creationId xmlns:a16="http://schemas.microsoft.com/office/drawing/2014/main" id="{D15FEB56-795B-AE26-7557-0B76D20DA849}"/>
              </a:ext>
            </a:extLst>
          </p:cNvPr>
          <p:cNvSpPr>
            <a:spLocks noGrp="1"/>
          </p:cNvSpPr>
          <p:nvPr>
            <p:ph idx="1"/>
          </p:nvPr>
        </p:nvSpPr>
        <p:spPr>
          <a:xfrm>
            <a:off x="838200" y="1574157"/>
            <a:ext cx="10515600" cy="4602806"/>
          </a:xfrm>
        </p:spPr>
        <p:txBody>
          <a:bodyPr>
            <a:normAutofit fontScale="92500"/>
          </a:bodyPr>
          <a:lstStyle/>
          <a:p>
            <a:r>
              <a:rPr lang="en-SG" dirty="0"/>
              <a:t>Each question may need you to write the answers in the slide or take a screenshot and paste in the slide.  </a:t>
            </a:r>
          </a:p>
          <a:p>
            <a:endParaRPr lang="en-SG" dirty="0"/>
          </a:p>
          <a:p>
            <a:endParaRPr lang="en-SG" dirty="0"/>
          </a:p>
          <a:p>
            <a:endParaRPr lang="en-SG" dirty="0"/>
          </a:p>
          <a:p>
            <a:pPr marL="0" indent="0">
              <a:buNone/>
            </a:pPr>
            <a:endParaRPr lang="en-SG" dirty="0"/>
          </a:p>
          <a:p>
            <a:pPr marL="0" indent="0">
              <a:buNone/>
            </a:pPr>
            <a:endParaRPr lang="en-SG" dirty="0"/>
          </a:p>
          <a:p>
            <a:r>
              <a:rPr lang="en-SG" dirty="0"/>
              <a:t>Don’t forget to review each answer and/or screenshot before submission.</a:t>
            </a:r>
          </a:p>
          <a:p>
            <a:r>
              <a:rPr lang="en-SG" dirty="0">
                <a:solidFill>
                  <a:srgbClr val="FF0000"/>
                </a:solidFill>
              </a:rPr>
              <a:t>PLEASE DO NOT DELETE THE POWERPOINT PORTFOLIO FILE </a:t>
            </a:r>
            <a:r>
              <a:rPr lang="en-SG" dirty="0"/>
              <a:t>from the desktop of the computer/laptop.</a:t>
            </a:r>
          </a:p>
          <a:p>
            <a:endParaRPr lang="en-SG" dirty="0"/>
          </a:p>
          <a:p>
            <a:endParaRPr lang="en-SG" dirty="0"/>
          </a:p>
        </p:txBody>
      </p:sp>
      <p:grpSp>
        <p:nvGrpSpPr>
          <p:cNvPr id="4" name="Group 3">
            <a:extLst>
              <a:ext uri="{FF2B5EF4-FFF2-40B4-BE49-F238E27FC236}">
                <a16:creationId xmlns:a16="http://schemas.microsoft.com/office/drawing/2014/main" id="{02374148-048D-0B86-C451-01FE10ADE953}"/>
              </a:ext>
            </a:extLst>
          </p:cNvPr>
          <p:cNvGrpSpPr/>
          <p:nvPr/>
        </p:nvGrpSpPr>
        <p:grpSpPr>
          <a:xfrm>
            <a:off x="1148843" y="2614620"/>
            <a:ext cx="6512004" cy="1628760"/>
            <a:chOff x="1264590" y="4218915"/>
            <a:chExt cx="5505325" cy="1628760"/>
          </a:xfrm>
        </p:grpSpPr>
        <p:pic>
          <p:nvPicPr>
            <p:cNvPr id="5" name="Picture 4">
              <a:extLst>
                <a:ext uri="{FF2B5EF4-FFF2-40B4-BE49-F238E27FC236}">
                  <a16:creationId xmlns:a16="http://schemas.microsoft.com/office/drawing/2014/main" id="{B164AF81-8B6A-F866-B722-03D75D2FED24}"/>
                </a:ext>
              </a:extLst>
            </p:cNvPr>
            <p:cNvPicPr>
              <a:picLocks noChangeAspect="1"/>
            </p:cNvPicPr>
            <p:nvPr/>
          </p:nvPicPr>
          <p:blipFill>
            <a:blip r:embed="rId2"/>
            <a:stretch>
              <a:fillRect/>
            </a:stretch>
          </p:blipFill>
          <p:spPr>
            <a:xfrm>
              <a:off x="1264590" y="4218915"/>
              <a:ext cx="653143" cy="653143"/>
            </a:xfrm>
            <a:prstGeom prst="rect">
              <a:avLst/>
            </a:prstGeom>
          </p:spPr>
        </p:pic>
        <p:sp>
          <p:nvSpPr>
            <p:cNvPr id="6" name="TextBox 5">
              <a:extLst>
                <a:ext uri="{FF2B5EF4-FFF2-40B4-BE49-F238E27FC236}">
                  <a16:creationId xmlns:a16="http://schemas.microsoft.com/office/drawing/2014/main" id="{4033A8F8-BEE8-11B7-82BE-B4FC7C356567}"/>
                </a:ext>
              </a:extLst>
            </p:cNvPr>
            <p:cNvSpPr txBox="1"/>
            <p:nvPr/>
          </p:nvSpPr>
          <p:spPr>
            <a:xfrm>
              <a:off x="2344123" y="4311940"/>
              <a:ext cx="4014732" cy="369332"/>
            </a:xfrm>
            <a:prstGeom prst="rect">
              <a:avLst/>
            </a:prstGeom>
            <a:noFill/>
          </p:spPr>
          <p:txBody>
            <a:bodyPr wrap="square" rtlCol="0">
              <a:spAutoFit/>
            </a:bodyPr>
            <a:lstStyle/>
            <a:p>
              <a:r>
                <a:rPr lang="en-US" dirty="0"/>
                <a:t>Question for you to type in the answer.</a:t>
              </a:r>
              <a:endParaRPr lang="en-SG" dirty="0"/>
            </a:p>
          </p:txBody>
        </p:sp>
        <p:pic>
          <p:nvPicPr>
            <p:cNvPr id="7" name="Picture 6">
              <a:extLst>
                <a:ext uri="{FF2B5EF4-FFF2-40B4-BE49-F238E27FC236}">
                  <a16:creationId xmlns:a16="http://schemas.microsoft.com/office/drawing/2014/main" id="{ABD868C6-14C9-CE13-412C-070ACF5297C6}"/>
                </a:ext>
              </a:extLst>
            </p:cNvPr>
            <p:cNvPicPr>
              <a:picLocks noChangeAspect="1"/>
            </p:cNvPicPr>
            <p:nvPr/>
          </p:nvPicPr>
          <p:blipFill rotWithShape="1">
            <a:blip r:embed="rId3"/>
            <a:srcRect l="5441" t="21126" r="5209" b="8571"/>
            <a:stretch/>
          </p:blipFill>
          <p:spPr>
            <a:xfrm>
              <a:off x="1264590" y="5267557"/>
              <a:ext cx="653142" cy="513906"/>
            </a:xfrm>
            <a:prstGeom prst="rect">
              <a:avLst/>
            </a:prstGeom>
          </p:spPr>
        </p:pic>
        <p:sp>
          <p:nvSpPr>
            <p:cNvPr id="8" name="TextBox 7">
              <a:extLst>
                <a:ext uri="{FF2B5EF4-FFF2-40B4-BE49-F238E27FC236}">
                  <a16:creationId xmlns:a16="http://schemas.microsoft.com/office/drawing/2014/main" id="{EB258FCB-9C6E-818D-E03A-F4019558BB5E}"/>
                </a:ext>
              </a:extLst>
            </p:cNvPr>
            <p:cNvSpPr txBox="1"/>
            <p:nvPr/>
          </p:nvSpPr>
          <p:spPr>
            <a:xfrm>
              <a:off x="2344122" y="5201344"/>
              <a:ext cx="4425793" cy="646331"/>
            </a:xfrm>
            <a:prstGeom prst="rect">
              <a:avLst/>
            </a:prstGeom>
            <a:noFill/>
          </p:spPr>
          <p:txBody>
            <a:bodyPr wrap="square" rtlCol="0">
              <a:spAutoFit/>
            </a:bodyPr>
            <a:lstStyle/>
            <a:p>
              <a:r>
                <a:rPr lang="en-US" dirty="0"/>
                <a:t>Question for you to perform a task and screenshot your result and paste it in your Portfolio Slide.</a:t>
              </a:r>
              <a:endParaRPr lang="en-SG" dirty="0"/>
            </a:p>
          </p:txBody>
        </p:sp>
      </p:grpSp>
    </p:spTree>
    <p:extLst>
      <p:ext uri="{BB962C8B-B14F-4D97-AF65-F5344CB8AC3E}">
        <p14:creationId xmlns:p14="http://schemas.microsoft.com/office/powerpoint/2010/main" val="2848101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77214-C74C-91A3-C04D-3D6BE16E8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E5BAD-838E-24D7-5DC1-AEB6B74928AA}"/>
              </a:ext>
            </a:extLst>
          </p:cNvPr>
          <p:cNvSpPr>
            <a:spLocks noGrp="1"/>
          </p:cNvSpPr>
          <p:nvPr>
            <p:ph type="title"/>
          </p:nvPr>
        </p:nvSpPr>
        <p:spPr>
          <a:xfrm>
            <a:off x="627927" y="661722"/>
            <a:ext cx="10515600" cy="1325563"/>
          </a:xfrm>
        </p:spPr>
        <p:txBody>
          <a:bodyPr/>
          <a:lstStyle/>
          <a:p>
            <a:pPr algn="ctr"/>
            <a:r>
              <a:rPr lang="en-SG" dirty="0"/>
              <a:t>E-commerce Platform  Fundamentals </a:t>
            </a:r>
            <a:br>
              <a:rPr lang="en-SG" dirty="0"/>
            </a:br>
            <a:r>
              <a:rPr lang="en-SG" dirty="0"/>
              <a:t>(10 Marks) </a:t>
            </a:r>
          </a:p>
        </p:txBody>
      </p:sp>
      <p:sp>
        <p:nvSpPr>
          <p:cNvPr id="4" name="Title 1">
            <a:extLst>
              <a:ext uri="{FF2B5EF4-FFF2-40B4-BE49-F238E27FC236}">
                <a16:creationId xmlns:a16="http://schemas.microsoft.com/office/drawing/2014/main" id="{93A03CD9-9C39-138C-8B30-0697C09CCB7D}"/>
              </a:ext>
            </a:extLst>
          </p:cNvPr>
          <p:cNvSpPr txBox="1">
            <a:spLocks/>
          </p:cNvSpPr>
          <p:nvPr/>
        </p:nvSpPr>
        <p:spPr>
          <a:xfrm>
            <a:off x="1048473" y="19872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Marking Rubrics:</a:t>
            </a:r>
          </a:p>
        </p:txBody>
      </p:sp>
      <p:graphicFrame>
        <p:nvGraphicFramePr>
          <p:cNvPr id="6" name="Table 5">
            <a:extLst>
              <a:ext uri="{FF2B5EF4-FFF2-40B4-BE49-F238E27FC236}">
                <a16:creationId xmlns:a16="http://schemas.microsoft.com/office/drawing/2014/main" id="{BDBE79EF-26C7-F69A-14B0-BDDB13D52965}"/>
              </a:ext>
            </a:extLst>
          </p:cNvPr>
          <p:cNvGraphicFramePr>
            <a:graphicFrameLocks noGrp="1"/>
          </p:cNvGraphicFramePr>
          <p:nvPr>
            <p:extLst>
              <p:ext uri="{D42A27DB-BD31-4B8C-83A1-F6EECF244321}">
                <p14:modId xmlns:p14="http://schemas.microsoft.com/office/powerpoint/2010/main" val="3745969864"/>
              </p:ext>
            </p:extLst>
          </p:nvPr>
        </p:nvGraphicFramePr>
        <p:xfrm>
          <a:off x="1048473" y="3312848"/>
          <a:ext cx="10005351" cy="1381760"/>
        </p:xfrm>
        <a:graphic>
          <a:graphicData uri="http://schemas.openxmlformats.org/drawingml/2006/table">
            <a:tbl>
              <a:tblPr firstRow="1" bandRow="1">
                <a:tableStyleId>{5C22544A-7EE6-4342-B048-85BDC9FD1C3A}</a:tableStyleId>
              </a:tblPr>
              <a:tblGrid>
                <a:gridCol w="1829698">
                  <a:extLst>
                    <a:ext uri="{9D8B030D-6E8A-4147-A177-3AD203B41FA5}">
                      <a16:colId xmlns:a16="http://schemas.microsoft.com/office/drawing/2014/main" val="1800813412"/>
                    </a:ext>
                  </a:extLst>
                </a:gridCol>
                <a:gridCol w="4840536">
                  <a:extLst>
                    <a:ext uri="{9D8B030D-6E8A-4147-A177-3AD203B41FA5}">
                      <a16:colId xmlns:a16="http://schemas.microsoft.com/office/drawing/2014/main" val="4080650455"/>
                    </a:ext>
                  </a:extLst>
                </a:gridCol>
                <a:gridCol w="3335117">
                  <a:extLst>
                    <a:ext uri="{9D8B030D-6E8A-4147-A177-3AD203B41FA5}">
                      <a16:colId xmlns:a16="http://schemas.microsoft.com/office/drawing/2014/main" val="2770320181"/>
                    </a:ext>
                  </a:extLst>
                </a:gridCol>
              </a:tblGrid>
              <a:tr h="370840">
                <a:tc>
                  <a:txBody>
                    <a:bodyPr/>
                    <a:lstStyle/>
                    <a:p>
                      <a:r>
                        <a:rPr lang="en-SG" dirty="0"/>
                        <a:t>Question #</a:t>
                      </a:r>
                    </a:p>
                  </a:txBody>
                  <a:tcPr/>
                </a:tc>
                <a:tc>
                  <a:txBody>
                    <a:bodyPr/>
                    <a:lstStyle/>
                    <a:p>
                      <a:r>
                        <a:rPr lang="en-SG" dirty="0"/>
                        <a:t>Requirements</a:t>
                      </a:r>
                    </a:p>
                  </a:txBody>
                  <a:tcPr/>
                </a:tc>
                <a:tc>
                  <a:txBody>
                    <a:bodyPr/>
                    <a:lstStyle/>
                    <a:p>
                      <a:r>
                        <a:rPr lang="en-SG" dirty="0"/>
                        <a:t>Marks</a:t>
                      </a:r>
                    </a:p>
                  </a:txBody>
                  <a:tcPr/>
                </a:tc>
                <a:extLst>
                  <a:ext uri="{0D108BD9-81ED-4DB2-BD59-A6C34878D82A}">
                    <a16:rowId xmlns:a16="http://schemas.microsoft.com/office/drawing/2014/main" val="3814175881"/>
                  </a:ext>
                </a:extLst>
              </a:tr>
              <a:tr h="370840">
                <a:tc>
                  <a:txBody>
                    <a:bodyPr/>
                    <a:lstStyle/>
                    <a:p>
                      <a:r>
                        <a:rPr lang="en-SG" dirty="0"/>
                        <a:t>Question 1</a:t>
                      </a:r>
                    </a:p>
                  </a:txBody>
                  <a:tcPr/>
                </a:tc>
                <a:tc>
                  <a:txBody>
                    <a:bodyPr/>
                    <a:lstStyle/>
                    <a:p>
                      <a:r>
                        <a:rPr lang="en-SG" dirty="0"/>
                        <a:t>Provided  three(3) E-commerce Platforms</a:t>
                      </a:r>
                    </a:p>
                  </a:txBody>
                  <a:tcPr/>
                </a:tc>
                <a:tc>
                  <a:txBody>
                    <a:bodyPr/>
                    <a:lstStyle/>
                    <a:p>
                      <a:r>
                        <a:rPr lang="en-SG" dirty="0"/>
                        <a:t>6</a:t>
                      </a:r>
                    </a:p>
                  </a:txBody>
                  <a:tcPr/>
                </a:tc>
                <a:extLst>
                  <a:ext uri="{0D108BD9-81ED-4DB2-BD59-A6C34878D82A}">
                    <a16:rowId xmlns:a16="http://schemas.microsoft.com/office/drawing/2014/main" val="3863238905"/>
                  </a:ext>
                </a:extLst>
              </a:tr>
              <a:tr h="370840">
                <a:tc>
                  <a:txBody>
                    <a:bodyPr/>
                    <a:lstStyle/>
                    <a:p>
                      <a:r>
                        <a:rPr lang="en-SG" dirty="0"/>
                        <a:t>Question 2</a:t>
                      </a:r>
                    </a:p>
                  </a:txBody>
                  <a:tcPr/>
                </a:tc>
                <a:tc>
                  <a:txBody>
                    <a:bodyPr/>
                    <a:lstStyle/>
                    <a:p>
                      <a:r>
                        <a:rPr lang="en-SG" dirty="0"/>
                        <a:t>Provided two(2) E-commerce Marketing Strategies</a:t>
                      </a:r>
                    </a:p>
                  </a:txBody>
                  <a:tcPr/>
                </a:tc>
                <a:tc>
                  <a:txBody>
                    <a:bodyPr/>
                    <a:lstStyle/>
                    <a:p>
                      <a:r>
                        <a:rPr lang="en-SG" dirty="0"/>
                        <a:t>4</a:t>
                      </a:r>
                    </a:p>
                  </a:txBody>
                  <a:tcPr/>
                </a:tc>
                <a:extLst>
                  <a:ext uri="{0D108BD9-81ED-4DB2-BD59-A6C34878D82A}">
                    <a16:rowId xmlns:a16="http://schemas.microsoft.com/office/drawing/2014/main" val="1740075226"/>
                  </a:ext>
                </a:extLst>
              </a:tr>
            </a:tbl>
          </a:graphicData>
        </a:graphic>
      </p:graphicFrame>
    </p:spTree>
    <p:extLst>
      <p:ext uri="{BB962C8B-B14F-4D97-AF65-F5344CB8AC3E}">
        <p14:creationId xmlns:p14="http://schemas.microsoft.com/office/powerpoint/2010/main" val="1713266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544A-968A-4A75-BB9D-CE1D7A4DA16D}"/>
              </a:ext>
            </a:extLst>
          </p:cNvPr>
          <p:cNvSpPr>
            <a:spLocks noGrp="1"/>
          </p:cNvSpPr>
          <p:nvPr>
            <p:ph type="title"/>
          </p:nvPr>
        </p:nvSpPr>
        <p:spPr/>
        <p:txBody>
          <a:bodyPr/>
          <a:lstStyle/>
          <a:p>
            <a:r>
              <a:rPr lang="en-SG" b="1" dirty="0"/>
              <a:t>Question 1  - 1/2 </a:t>
            </a:r>
          </a:p>
        </p:txBody>
      </p:sp>
      <p:sp>
        <p:nvSpPr>
          <p:cNvPr id="3" name="Content Placeholder 2">
            <a:extLst>
              <a:ext uri="{FF2B5EF4-FFF2-40B4-BE49-F238E27FC236}">
                <a16:creationId xmlns:a16="http://schemas.microsoft.com/office/drawing/2014/main" id="{ACCF6043-3130-42A3-A78E-4001D742F59E}"/>
              </a:ext>
            </a:extLst>
          </p:cNvPr>
          <p:cNvSpPr>
            <a:spLocks noGrp="1"/>
          </p:cNvSpPr>
          <p:nvPr>
            <p:ph idx="1"/>
          </p:nvPr>
        </p:nvSpPr>
        <p:spPr/>
        <p:txBody>
          <a:bodyPr/>
          <a:lstStyle/>
          <a:p>
            <a:pPr marL="0" indent="0">
              <a:buNone/>
            </a:pPr>
            <a:r>
              <a:rPr lang="en-SG" dirty="0"/>
              <a:t>Write down three (3) E-commerce Platforms.</a:t>
            </a:r>
          </a:p>
          <a:p>
            <a:pPr marL="0" indent="0">
              <a:buNone/>
            </a:pPr>
            <a:endParaRPr lang="en-SG" dirty="0">
              <a:solidFill>
                <a:srgbClr val="FF0000"/>
              </a:solidFill>
            </a:endParaRPr>
          </a:p>
        </p:txBody>
      </p:sp>
      <p:pic>
        <p:nvPicPr>
          <p:cNvPr id="4" name="Picture 3">
            <a:extLst>
              <a:ext uri="{FF2B5EF4-FFF2-40B4-BE49-F238E27FC236}">
                <a16:creationId xmlns:a16="http://schemas.microsoft.com/office/drawing/2014/main" id="{7C779B16-065B-4A24-9281-BE30DB5379C3}"/>
              </a:ext>
            </a:extLst>
          </p:cNvPr>
          <p:cNvPicPr>
            <a:picLocks noChangeAspect="1"/>
          </p:cNvPicPr>
          <p:nvPr/>
        </p:nvPicPr>
        <p:blipFill>
          <a:blip r:embed="rId2"/>
          <a:stretch>
            <a:fillRect/>
          </a:stretch>
        </p:blipFill>
        <p:spPr>
          <a:xfrm>
            <a:off x="5769428" y="620923"/>
            <a:ext cx="653143" cy="653143"/>
          </a:xfrm>
          <a:prstGeom prst="rect">
            <a:avLst/>
          </a:prstGeom>
        </p:spPr>
      </p:pic>
      <p:graphicFrame>
        <p:nvGraphicFramePr>
          <p:cNvPr id="5" name="Table 5">
            <a:extLst>
              <a:ext uri="{FF2B5EF4-FFF2-40B4-BE49-F238E27FC236}">
                <a16:creationId xmlns:a16="http://schemas.microsoft.com/office/drawing/2014/main" id="{A14C2E2C-0CBD-4858-8383-1C625AE5AD21}"/>
              </a:ext>
            </a:extLst>
          </p:cNvPr>
          <p:cNvGraphicFramePr>
            <a:graphicFrameLocks noGrp="1"/>
          </p:cNvGraphicFramePr>
          <p:nvPr>
            <p:extLst>
              <p:ext uri="{D42A27DB-BD31-4B8C-83A1-F6EECF244321}">
                <p14:modId xmlns:p14="http://schemas.microsoft.com/office/powerpoint/2010/main" val="3610549505"/>
              </p:ext>
            </p:extLst>
          </p:nvPr>
        </p:nvGraphicFramePr>
        <p:xfrm>
          <a:off x="986560" y="2653033"/>
          <a:ext cx="10020963" cy="2127099"/>
        </p:xfrm>
        <a:graphic>
          <a:graphicData uri="http://schemas.openxmlformats.org/drawingml/2006/table">
            <a:tbl>
              <a:tblPr firstRow="1" bandRow="1">
                <a:tableStyleId>{5C22544A-7EE6-4342-B048-85BDC9FD1C3A}</a:tableStyleId>
              </a:tblPr>
              <a:tblGrid>
                <a:gridCol w="10020963">
                  <a:extLst>
                    <a:ext uri="{9D8B030D-6E8A-4147-A177-3AD203B41FA5}">
                      <a16:colId xmlns:a16="http://schemas.microsoft.com/office/drawing/2014/main" val="3733657391"/>
                    </a:ext>
                  </a:extLst>
                </a:gridCol>
              </a:tblGrid>
              <a:tr h="709033">
                <a:tc>
                  <a:txBody>
                    <a:bodyPr/>
                    <a:lstStyle/>
                    <a:p>
                      <a:r>
                        <a:rPr lang="en-SG" sz="2800" dirty="0"/>
                        <a:t>1. </a:t>
                      </a:r>
                    </a:p>
                  </a:txBody>
                  <a:tcPr/>
                </a:tc>
                <a:extLst>
                  <a:ext uri="{0D108BD9-81ED-4DB2-BD59-A6C34878D82A}">
                    <a16:rowId xmlns:a16="http://schemas.microsoft.com/office/drawing/2014/main" val="3241149498"/>
                  </a:ext>
                </a:extLst>
              </a:tr>
              <a:tr h="709033">
                <a:tc>
                  <a:txBody>
                    <a:bodyPr/>
                    <a:lstStyle/>
                    <a:p>
                      <a:r>
                        <a:rPr lang="en-SG" sz="2800" dirty="0"/>
                        <a:t>2. </a:t>
                      </a:r>
                    </a:p>
                  </a:txBody>
                  <a:tcPr/>
                </a:tc>
                <a:extLst>
                  <a:ext uri="{0D108BD9-81ED-4DB2-BD59-A6C34878D82A}">
                    <a16:rowId xmlns:a16="http://schemas.microsoft.com/office/drawing/2014/main" val="3981513686"/>
                  </a:ext>
                </a:extLst>
              </a:tr>
              <a:tr h="709033">
                <a:tc>
                  <a:txBody>
                    <a:bodyPr/>
                    <a:lstStyle/>
                    <a:p>
                      <a:r>
                        <a:rPr lang="en-SG" sz="2800" dirty="0"/>
                        <a:t>3. </a:t>
                      </a:r>
                    </a:p>
                  </a:txBody>
                  <a:tcPr/>
                </a:tc>
                <a:extLst>
                  <a:ext uri="{0D108BD9-81ED-4DB2-BD59-A6C34878D82A}">
                    <a16:rowId xmlns:a16="http://schemas.microsoft.com/office/drawing/2014/main" val="389805479"/>
                  </a:ext>
                </a:extLst>
              </a:tr>
            </a:tbl>
          </a:graphicData>
        </a:graphic>
      </p:graphicFrame>
    </p:spTree>
    <p:extLst>
      <p:ext uri="{BB962C8B-B14F-4D97-AF65-F5344CB8AC3E}">
        <p14:creationId xmlns:p14="http://schemas.microsoft.com/office/powerpoint/2010/main" val="2013820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39BB-8FFD-9BF1-4F21-8D9B9EA36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52BBE-4E94-A5A5-9B40-95C19BD06602}"/>
              </a:ext>
            </a:extLst>
          </p:cNvPr>
          <p:cNvSpPr>
            <a:spLocks noGrp="1"/>
          </p:cNvSpPr>
          <p:nvPr>
            <p:ph type="title"/>
          </p:nvPr>
        </p:nvSpPr>
        <p:spPr/>
        <p:txBody>
          <a:bodyPr/>
          <a:lstStyle/>
          <a:p>
            <a:r>
              <a:rPr lang="en-SG" b="1" dirty="0"/>
              <a:t>Question 1  - 2/2 </a:t>
            </a:r>
          </a:p>
        </p:txBody>
      </p:sp>
      <p:pic>
        <p:nvPicPr>
          <p:cNvPr id="4" name="Picture 3">
            <a:extLst>
              <a:ext uri="{FF2B5EF4-FFF2-40B4-BE49-F238E27FC236}">
                <a16:creationId xmlns:a16="http://schemas.microsoft.com/office/drawing/2014/main" id="{DD3C1585-24BE-FD5C-5A29-70BE1D689B35}"/>
              </a:ext>
            </a:extLst>
          </p:cNvPr>
          <p:cNvPicPr>
            <a:picLocks noChangeAspect="1"/>
          </p:cNvPicPr>
          <p:nvPr/>
        </p:nvPicPr>
        <p:blipFill>
          <a:blip r:embed="rId2"/>
          <a:stretch>
            <a:fillRect/>
          </a:stretch>
        </p:blipFill>
        <p:spPr>
          <a:xfrm>
            <a:off x="5769428" y="620923"/>
            <a:ext cx="653143" cy="653143"/>
          </a:xfrm>
          <a:prstGeom prst="rect">
            <a:avLst/>
          </a:prstGeom>
        </p:spPr>
      </p:pic>
      <p:graphicFrame>
        <p:nvGraphicFramePr>
          <p:cNvPr id="7" name="Table 6">
            <a:extLst>
              <a:ext uri="{FF2B5EF4-FFF2-40B4-BE49-F238E27FC236}">
                <a16:creationId xmlns:a16="http://schemas.microsoft.com/office/drawing/2014/main" id="{7E437C46-A526-B2CB-F168-3DB47C3961F4}"/>
              </a:ext>
            </a:extLst>
          </p:cNvPr>
          <p:cNvGraphicFramePr>
            <a:graphicFrameLocks noGrp="1"/>
          </p:cNvGraphicFramePr>
          <p:nvPr>
            <p:extLst>
              <p:ext uri="{D42A27DB-BD31-4B8C-83A1-F6EECF244321}">
                <p14:modId xmlns:p14="http://schemas.microsoft.com/office/powerpoint/2010/main" val="4002161163"/>
              </p:ext>
            </p:extLst>
          </p:nvPr>
        </p:nvGraphicFramePr>
        <p:xfrm>
          <a:off x="955553" y="2756810"/>
          <a:ext cx="9218593" cy="1583696"/>
        </p:xfrm>
        <a:graphic>
          <a:graphicData uri="http://schemas.openxmlformats.org/drawingml/2006/table">
            <a:tbl>
              <a:tblPr firstRow="1" bandRow="1">
                <a:tableStyleId>{5C22544A-7EE6-4342-B048-85BDC9FD1C3A}</a:tableStyleId>
              </a:tblPr>
              <a:tblGrid>
                <a:gridCol w="9218593">
                  <a:extLst>
                    <a:ext uri="{9D8B030D-6E8A-4147-A177-3AD203B41FA5}">
                      <a16:colId xmlns:a16="http://schemas.microsoft.com/office/drawing/2014/main" val="207122860"/>
                    </a:ext>
                  </a:extLst>
                </a:gridCol>
              </a:tblGrid>
              <a:tr h="791848">
                <a:tc>
                  <a:txBody>
                    <a:bodyPr/>
                    <a:lstStyle/>
                    <a:p>
                      <a:r>
                        <a:rPr lang="en-SG" sz="2800" dirty="0"/>
                        <a:t>1.</a:t>
                      </a:r>
                    </a:p>
                  </a:txBody>
                  <a:tcPr/>
                </a:tc>
                <a:extLst>
                  <a:ext uri="{0D108BD9-81ED-4DB2-BD59-A6C34878D82A}">
                    <a16:rowId xmlns:a16="http://schemas.microsoft.com/office/drawing/2014/main" val="3129767478"/>
                  </a:ext>
                </a:extLst>
              </a:tr>
              <a:tr h="791848">
                <a:tc>
                  <a:txBody>
                    <a:bodyPr/>
                    <a:lstStyle/>
                    <a:p>
                      <a:r>
                        <a:rPr lang="en-SG" sz="2800" dirty="0"/>
                        <a:t>2.</a:t>
                      </a:r>
                    </a:p>
                  </a:txBody>
                  <a:tcPr/>
                </a:tc>
                <a:extLst>
                  <a:ext uri="{0D108BD9-81ED-4DB2-BD59-A6C34878D82A}">
                    <a16:rowId xmlns:a16="http://schemas.microsoft.com/office/drawing/2014/main" val="3862964321"/>
                  </a:ext>
                </a:extLst>
              </a:tr>
            </a:tbl>
          </a:graphicData>
        </a:graphic>
      </p:graphicFrame>
      <p:sp>
        <p:nvSpPr>
          <p:cNvPr id="8" name="Content Placeholder 2">
            <a:extLst>
              <a:ext uri="{FF2B5EF4-FFF2-40B4-BE49-F238E27FC236}">
                <a16:creationId xmlns:a16="http://schemas.microsoft.com/office/drawing/2014/main" id="{97A05624-A0AE-B106-205D-4C435BFBAB86}"/>
              </a:ext>
            </a:extLst>
          </p:cNvPr>
          <p:cNvSpPr>
            <a:spLocks noGrp="1"/>
          </p:cNvSpPr>
          <p:nvPr>
            <p:ph idx="1"/>
          </p:nvPr>
        </p:nvSpPr>
        <p:spPr>
          <a:xfrm>
            <a:off x="838200" y="1529864"/>
            <a:ext cx="10515600" cy="4351338"/>
          </a:xfrm>
        </p:spPr>
        <p:txBody>
          <a:bodyPr/>
          <a:lstStyle/>
          <a:p>
            <a:pPr marL="0" indent="0">
              <a:buNone/>
            </a:pPr>
            <a:r>
              <a:rPr lang="en-SG" dirty="0"/>
              <a:t>Write down two (2) E-commerce </a:t>
            </a:r>
            <a:r>
              <a:rPr lang="en-SG"/>
              <a:t>Marketing Strategies</a:t>
            </a:r>
            <a:endParaRPr lang="en-SG" dirty="0"/>
          </a:p>
          <a:p>
            <a:pPr marL="0" indent="0">
              <a:buNone/>
            </a:pPr>
            <a:endParaRPr lang="en-SG" dirty="0">
              <a:solidFill>
                <a:srgbClr val="FF0000"/>
              </a:solidFill>
            </a:endParaRPr>
          </a:p>
        </p:txBody>
      </p:sp>
    </p:spTree>
    <p:extLst>
      <p:ext uri="{BB962C8B-B14F-4D97-AF65-F5344CB8AC3E}">
        <p14:creationId xmlns:p14="http://schemas.microsoft.com/office/powerpoint/2010/main" val="374554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C3A1B-1669-548A-BD3D-AC846D8ACA03}"/>
              </a:ext>
            </a:extLst>
          </p:cNvPr>
          <p:cNvSpPr>
            <a:spLocks noGrp="1"/>
          </p:cNvSpPr>
          <p:nvPr>
            <p:ph type="title"/>
          </p:nvPr>
        </p:nvSpPr>
        <p:spPr>
          <a:xfrm>
            <a:off x="838200" y="330401"/>
            <a:ext cx="10515600" cy="1325563"/>
          </a:xfrm>
        </p:spPr>
        <p:txBody>
          <a:bodyPr/>
          <a:lstStyle/>
          <a:p>
            <a:pPr algn="ctr"/>
            <a:r>
              <a:rPr lang="en-SG" dirty="0"/>
              <a:t>Shopify Questions (30 Marks) </a:t>
            </a:r>
          </a:p>
        </p:txBody>
      </p:sp>
      <p:sp>
        <p:nvSpPr>
          <p:cNvPr id="4" name="Title 1">
            <a:extLst>
              <a:ext uri="{FF2B5EF4-FFF2-40B4-BE49-F238E27FC236}">
                <a16:creationId xmlns:a16="http://schemas.microsoft.com/office/drawing/2014/main" id="{281D01DC-5A18-5A8E-3738-D14A0E12A7DF}"/>
              </a:ext>
            </a:extLst>
          </p:cNvPr>
          <p:cNvSpPr txBox="1">
            <a:spLocks/>
          </p:cNvSpPr>
          <p:nvPr/>
        </p:nvSpPr>
        <p:spPr>
          <a:xfrm>
            <a:off x="1071622" y="114255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Marking Rubrics:</a:t>
            </a:r>
          </a:p>
        </p:txBody>
      </p:sp>
      <p:graphicFrame>
        <p:nvGraphicFramePr>
          <p:cNvPr id="6" name="Table 5">
            <a:extLst>
              <a:ext uri="{FF2B5EF4-FFF2-40B4-BE49-F238E27FC236}">
                <a16:creationId xmlns:a16="http://schemas.microsoft.com/office/drawing/2014/main" id="{7750E914-F5CB-B17F-27C9-791BED41EB1C}"/>
              </a:ext>
            </a:extLst>
          </p:cNvPr>
          <p:cNvGraphicFramePr>
            <a:graphicFrameLocks noGrp="1"/>
          </p:cNvGraphicFramePr>
          <p:nvPr>
            <p:extLst>
              <p:ext uri="{D42A27DB-BD31-4B8C-83A1-F6EECF244321}">
                <p14:modId xmlns:p14="http://schemas.microsoft.com/office/powerpoint/2010/main" val="2557508476"/>
              </p:ext>
            </p:extLst>
          </p:nvPr>
        </p:nvGraphicFramePr>
        <p:xfrm>
          <a:off x="1175794" y="2350260"/>
          <a:ext cx="10259992" cy="4241800"/>
        </p:xfrm>
        <a:graphic>
          <a:graphicData uri="http://schemas.openxmlformats.org/drawingml/2006/table">
            <a:tbl>
              <a:tblPr firstRow="1" bandRow="1">
                <a:tableStyleId>{5C22544A-7EE6-4342-B048-85BDC9FD1C3A}</a:tableStyleId>
              </a:tblPr>
              <a:tblGrid>
                <a:gridCol w="1876264">
                  <a:extLst>
                    <a:ext uri="{9D8B030D-6E8A-4147-A177-3AD203B41FA5}">
                      <a16:colId xmlns:a16="http://schemas.microsoft.com/office/drawing/2014/main" val="1800813412"/>
                    </a:ext>
                  </a:extLst>
                </a:gridCol>
                <a:gridCol w="6954718">
                  <a:extLst>
                    <a:ext uri="{9D8B030D-6E8A-4147-A177-3AD203B41FA5}">
                      <a16:colId xmlns:a16="http://schemas.microsoft.com/office/drawing/2014/main" val="4080650455"/>
                    </a:ext>
                  </a:extLst>
                </a:gridCol>
                <a:gridCol w="1429010">
                  <a:extLst>
                    <a:ext uri="{9D8B030D-6E8A-4147-A177-3AD203B41FA5}">
                      <a16:colId xmlns:a16="http://schemas.microsoft.com/office/drawing/2014/main" val="2770320181"/>
                    </a:ext>
                  </a:extLst>
                </a:gridCol>
              </a:tblGrid>
              <a:tr h="370840">
                <a:tc>
                  <a:txBody>
                    <a:bodyPr/>
                    <a:lstStyle/>
                    <a:p>
                      <a:r>
                        <a:rPr lang="en-SG" dirty="0"/>
                        <a:t>Question #</a:t>
                      </a:r>
                    </a:p>
                  </a:txBody>
                  <a:tcPr/>
                </a:tc>
                <a:tc>
                  <a:txBody>
                    <a:bodyPr/>
                    <a:lstStyle/>
                    <a:p>
                      <a:r>
                        <a:rPr lang="en-SG" dirty="0"/>
                        <a:t>Requirements</a:t>
                      </a:r>
                    </a:p>
                  </a:txBody>
                  <a:tcPr/>
                </a:tc>
                <a:tc>
                  <a:txBody>
                    <a:bodyPr/>
                    <a:lstStyle/>
                    <a:p>
                      <a:pPr algn="ctr"/>
                      <a:r>
                        <a:rPr lang="en-SG" dirty="0"/>
                        <a:t>Marks</a:t>
                      </a:r>
                    </a:p>
                  </a:txBody>
                  <a:tcPr/>
                </a:tc>
                <a:extLst>
                  <a:ext uri="{0D108BD9-81ED-4DB2-BD59-A6C34878D82A}">
                    <a16:rowId xmlns:a16="http://schemas.microsoft.com/office/drawing/2014/main" val="3814175881"/>
                  </a:ext>
                </a:extLst>
              </a:tr>
              <a:tr h="370840">
                <a:tc>
                  <a:txBody>
                    <a:bodyPr/>
                    <a:lstStyle/>
                    <a:p>
                      <a:r>
                        <a:rPr lang="en-SG" dirty="0"/>
                        <a:t>Question 2</a:t>
                      </a:r>
                    </a:p>
                  </a:txBody>
                  <a:tcPr/>
                </a:tc>
                <a:tc>
                  <a:txBody>
                    <a:bodyPr/>
                    <a:lstStyle/>
                    <a:p>
                      <a:r>
                        <a:rPr lang="en-SG" dirty="0"/>
                        <a:t>Created a new collection based on the proposed company</a:t>
                      </a:r>
                    </a:p>
                  </a:txBody>
                  <a:tcPr/>
                </a:tc>
                <a:tc>
                  <a:txBody>
                    <a:bodyPr/>
                    <a:lstStyle/>
                    <a:p>
                      <a:pPr algn="ctr"/>
                      <a:r>
                        <a:rPr lang="en-SG" dirty="0"/>
                        <a:t>3</a:t>
                      </a:r>
                    </a:p>
                  </a:txBody>
                  <a:tcPr/>
                </a:tc>
                <a:extLst>
                  <a:ext uri="{0D108BD9-81ED-4DB2-BD59-A6C34878D82A}">
                    <a16:rowId xmlns:a16="http://schemas.microsoft.com/office/drawing/2014/main" val="1740075226"/>
                  </a:ext>
                </a:extLst>
              </a:tr>
              <a:tr h="370840">
                <a:tc>
                  <a:txBody>
                    <a:bodyPr/>
                    <a:lstStyle/>
                    <a:p>
                      <a:r>
                        <a:rPr lang="en-SG" dirty="0"/>
                        <a:t>Question 3</a:t>
                      </a:r>
                    </a:p>
                  </a:txBody>
                  <a:tcPr/>
                </a:tc>
                <a:tc>
                  <a:txBody>
                    <a:bodyPr/>
                    <a:lstStyle/>
                    <a:p>
                      <a:r>
                        <a:rPr lang="en-SG" dirty="0"/>
                        <a:t>Created a new product which belongs to the collection created in Question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620873852"/>
                  </a:ext>
                </a:extLst>
              </a:tr>
              <a:tr h="370840">
                <a:tc>
                  <a:txBody>
                    <a:bodyPr/>
                    <a:lstStyle/>
                    <a:p>
                      <a:r>
                        <a:rPr lang="en-SG" dirty="0"/>
                        <a:t>Question 4</a:t>
                      </a:r>
                    </a:p>
                  </a:txBody>
                  <a:tcPr/>
                </a:tc>
                <a:tc>
                  <a:txBody>
                    <a:bodyPr/>
                    <a:lstStyle/>
                    <a:p>
                      <a:r>
                        <a:rPr lang="en-SG" dirty="0"/>
                        <a:t>Created a Free Shipping Discount which follows all stipulated requirements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894768120"/>
                  </a:ext>
                </a:extLst>
              </a:tr>
              <a:tr h="370840">
                <a:tc>
                  <a:txBody>
                    <a:bodyPr/>
                    <a:lstStyle/>
                    <a:p>
                      <a:r>
                        <a:rPr lang="en-SG" dirty="0"/>
                        <a:t>Question 5</a:t>
                      </a:r>
                    </a:p>
                  </a:txBody>
                  <a:tcPr/>
                </a:tc>
                <a:tc>
                  <a:txBody>
                    <a:bodyPr/>
                    <a:lstStyle/>
                    <a:p>
                      <a:r>
                        <a:rPr lang="en-SG" dirty="0"/>
                        <a:t>Created a new page which follows all the required settings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758842797"/>
                  </a:ext>
                </a:extLst>
              </a:tr>
              <a:tr h="370840">
                <a:tc>
                  <a:txBody>
                    <a:bodyPr/>
                    <a:lstStyle/>
                    <a:p>
                      <a:r>
                        <a:rPr lang="en-SG" dirty="0"/>
                        <a:t>Question 6</a:t>
                      </a:r>
                    </a:p>
                  </a:txBody>
                  <a:tcPr/>
                </a:tc>
                <a:tc>
                  <a:txBody>
                    <a:bodyPr/>
                    <a:lstStyle/>
                    <a:p>
                      <a:r>
                        <a:rPr lang="en-SG" dirty="0"/>
                        <a:t>Screenshot the analytics section of the Shopify Store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019941182"/>
                  </a:ext>
                </a:extLst>
              </a:tr>
              <a:tr h="370840">
                <a:tc>
                  <a:txBody>
                    <a:bodyPr/>
                    <a:lstStyle/>
                    <a:p>
                      <a:r>
                        <a:rPr lang="en-SG" dirty="0"/>
                        <a:t>Question 7</a:t>
                      </a:r>
                    </a:p>
                  </a:txBody>
                  <a:tcPr/>
                </a:tc>
                <a:tc>
                  <a:txBody>
                    <a:bodyPr/>
                    <a:lstStyle/>
                    <a:p>
                      <a:r>
                        <a:rPr lang="en-SG" dirty="0"/>
                        <a:t>Added a new theme on the Shopify Store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950886459"/>
                  </a:ext>
                </a:extLst>
              </a:tr>
              <a:tr h="370840">
                <a:tc>
                  <a:txBody>
                    <a:bodyPr/>
                    <a:lstStyle/>
                    <a:p>
                      <a:r>
                        <a:rPr lang="en-SG" dirty="0"/>
                        <a:t>Question 8</a:t>
                      </a:r>
                    </a:p>
                  </a:txBody>
                  <a:tcPr/>
                </a:tc>
                <a:tc>
                  <a:txBody>
                    <a:bodyPr/>
                    <a:lstStyle/>
                    <a:p>
                      <a:r>
                        <a:rPr lang="en-SG" dirty="0"/>
                        <a:t>Added a new role “Digital Marketing” on the Shopify Store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326637090"/>
                  </a:ext>
                </a:extLst>
              </a:tr>
              <a:tr h="370840">
                <a:tc>
                  <a:txBody>
                    <a:bodyPr/>
                    <a:lstStyle/>
                    <a:p>
                      <a:r>
                        <a:rPr lang="en-SG" dirty="0"/>
                        <a:t>Question 9</a:t>
                      </a:r>
                    </a:p>
                  </a:txBody>
                  <a:tcPr/>
                </a:tc>
                <a:tc>
                  <a:txBody>
                    <a:bodyPr/>
                    <a:lstStyle/>
                    <a:p>
                      <a:r>
                        <a:rPr lang="en-SG" dirty="0"/>
                        <a:t>Created a GA4 Tag/G-tag ID in Google Analytics for the Shopify Website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259208184"/>
                  </a:ext>
                </a:extLst>
              </a:tr>
              <a:tr h="249993">
                <a:tc>
                  <a:txBody>
                    <a:bodyPr/>
                    <a:lstStyle/>
                    <a:p>
                      <a:r>
                        <a:rPr lang="en-SG" dirty="0"/>
                        <a:t>Question 10</a:t>
                      </a:r>
                    </a:p>
                  </a:txBody>
                  <a:tcPr/>
                </a:tc>
                <a:tc>
                  <a:txBody>
                    <a:bodyPr/>
                    <a:lstStyle/>
                    <a:p>
                      <a:r>
                        <a:rPr lang="en-SG" dirty="0"/>
                        <a:t>Integrated manually the G-tag ID in the theme.liquid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6</a:t>
                      </a:r>
                    </a:p>
                  </a:txBody>
                  <a:tcPr/>
                </a:tc>
                <a:extLst>
                  <a:ext uri="{0D108BD9-81ED-4DB2-BD59-A6C34878D82A}">
                    <a16:rowId xmlns:a16="http://schemas.microsoft.com/office/drawing/2014/main" val="799691059"/>
                  </a:ext>
                </a:extLst>
              </a:tr>
            </a:tbl>
          </a:graphicData>
        </a:graphic>
      </p:graphicFrame>
    </p:spTree>
    <p:extLst>
      <p:ext uri="{BB962C8B-B14F-4D97-AF65-F5344CB8AC3E}">
        <p14:creationId xmlns:p14="http://schemas.microsoft.com/office/powerpoint/2010/main" val="1384818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E6D08-7D30-7D7E-A7BD-86ACA10DB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97887-6BF3-833A-8CB7-DA62299D43A8}"/>
              </a:ext>
            </a:extLst>
          </p:cNvPr>
          <p:cNvSpPr>
            <a:spLocks noGrp="1"/>
          </p:cNvSpPr>
          <p:nvPr>
            <p:ph type="title"/>
          </p:nvPr>
        </p:nvSpPr>
        <p:spPr/>
        <p:txBody>
          <a:bodyPr/>
          <a:lstStyle/>
          <a:p>
            <a:r>
              <a:rPr lang="en-SG" b="1" dirty="0"/>
              <a:t>Question 2  </a:t>
            </a:r>
          </a:p>
        </p:txBody>
      </p:sp>
      <p:sp>
        <p:nvSpPr>
          <p:cNvPr id="3" name="Content Placeholder 2">
            <a:extLst>
              <a:ext uri="{FF2B5EF4-FFF2-40B4-BE49-F238E27FC236}">
                <a16:creationId xmlns:a16="http://schemas.microsoft.com/office/drawing/2014/main" id="{627F234C-FC68-81E5-8FAD-F5F4E5F46D4D}"/>
              </a:ext>
            </a:extLst>
          </p:cNvPr>
          <p:cNvSpPr>
            <a:spLocks noGrp="1"/>
          </p:cNvSpPr>
          <p:nvPr>
            <p:ph idx="1"/>
          </p:nvPr>
        </p:nvSpPr>
        <p:spPr/>
        <p:txBody>
          <a:bodyPr/>
          <a:lstStyle/>
          <a:p>
            <a:pPr marL="0" indent="0">
              <a:buNone/>
            </a:pPr>
            <a:r>
              <a:rPr lang="en-SG" dirty="0"/>
              <a:t>Create a new collection based on the proposed company. Screenshot and paste here the newly created collection in Shopify.</a:t>
            </a:r>
          </a:p>
          <a:p>
            <a:pPr marL="0" indent="0">
              <a:buNone/>
            </a:pPr>
            <a:endParaRPr lang="en-SG" dirty="0">
              <a:solidFill>
                <a:srgbClr val="FF0000"/>
              </a:solidFill>
            </a:endParaRPr>
          </a:p>
        </p:txBody>
      </p:sp>
      <p:pic>
        <p:nvPicPr>
          <p:cNvPr id="6" name="Picture 5">
            <a:extLst>
              <a:ext uri="{FF2B5EF4-FFF2-40B4-BE49-F238E27FC236}">
                <a16:creationId xmlns:a16="http://schemas.microsoft.com/office/drawing/2014/main" id="{D2BBE4C4-5015-08BD-1EDA-62EE2B10E551}"/>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14136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0158C-11F7-185C-7E2A-B7403B446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2CA4D-83B7-C6F3-9FEB-4D46D437E6A6}"/>
              </a:ext>
            </a:extLst>
          </p:cNvPr>
          <p:cNvSpPr>
            <a:spLocks noGrp="1"/>
          </p:cNvSpPr>
          <p:nvPr>
            <p:ph type="title"/>
          </p:nvPr>
        </p:nvSpPr>
        <p:spPr/>
        <p:txBody>
          <a:bodyPr/>
          <a:lstStyle/>
          <a:p>
            <a:r>
              <a:rPr lang="en-SG" b="1" dirty="0"/>
              <a:t>Question 3  </a:t>
            </a:r>
          </a:p>
        </p:txBody>
      </p:sp>
      <p:sp>
        <p:nvSpPr>
          <p:cNvPr id="3" name="Content Placeholder 2">
            <a:extLst>
              <a:ext uri="{FF2B5EF4-FFF2-40B4-BE49-F238E27FC236}">
                <a16:creationId xmlns:a16="http://schemas.microsoft.com/office/drawing/2014/main" id="{A4445910-B3EE-A5BD-8D3D-38092C06CC7B}"/>
              </a:ext>
            </a:extLst>
          </p:cNvPr>
          <p:cNvSpPr>
            <a:spLocks noGrp="1"/>
          </p:cNvSpPr>
          <p:nvPr>
            <p:ph idx="1"/>
          </p:nvPr>
        </p:nvSpPr>
        <p:spPr/>
        <p:txBody>
          <a:bodyPr/>
          <a:lstStyle/>
          <a:p>
            <a:pPr marL="0" indent="0">
              <a:buNone/>
            </a:pPr>
            <a:r>
              <a:rPr lang="en-SG" dirty="0"/>
              <a:t>Create a new product which belongs to the collection created in Question 2. Screenshot and paste here the newly created product.</a:t>
            </a:r>
            <a:endParaRPr lang="en-SG" dirty="0">
              <a:solidFill>
                <a:srgbClr val="FF0000"/>
              </a:solidFill>
            </a:endParaRPr>
          </a:p>
        </p:txBody>
      </p:sp>
      <p:pic>
        <p:nvPicPr>
          <p:cNvPr id="6" name="Picture 5">
            <a:extLst>
              <a:ext uri="{FF2B5EF4-FFF2-40B4-BE49-F238E27FC236}">
                <a16:creationId xmlns:a16="http://schemas.microsoft.com/office/drawing/2014/main" id="{281500D8-8B02-6144-7C81-7A7F4A00B5C6}"/>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452813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37AE7-0218-1D89-139A-41F72ED70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AF4C2-C8EA-4C5E-1523-24D748ADAC4A}"/>
              </a:ext>
            </a:extLst>
          </p:cNvPr>
          <p:cNvSpPr>
            <a:spLocks noGrp="1"/>
          </p:cNvSpPr>
          <p:nvPr>
            <p:ph type="title"/>
          </p:nvPr>
        </p:nvSpPr>
        <p:spPr/>
        <p:txBody>
          <a:bodyPr/>
          <a:lstStyle/>
          <a:p>
            <a:r>
              <a:rPr lang="en-SG" b="1" dirty="0"/>
              <a:t>Question 4  </a:t>
            </a:r>
          </a:p>
        </p:txBody>
      </p:sp>
      <p:sp>
        <p:nvSpPr>
          <p:cNvPr id="3" name="Content Placeholder 2">
            <a:extLst>
              <a:ext uri="{FF2B5EF4-FFF2-40B4-BE49-F238E27FC236}">
                <a16:creationId xmlns:a16="http://schemas.microsoft.com/office/drawing/2014/main" id="{FB46A8F4-1EBB-4355-1507-380CC04B4DBB}"/>
              </a:ext>
            </a:extLst>
          </p:cNvPr>
          <p:cNvSpPr>
            <a:spLocks noGrp="1"/>
          </p:cNvSpPr>
          <p:nvPr>
            <p:ph idx="1"/>
          </p:nvPr>
        </p:nvSpPr>
        <p:spPr/>
        <p:txBody>
          <a:bodyPr/>
          <a:lstStyle/>
          <a:p>
            <a:pPr marL="0" indent="0">
              <a:buNone/>
            </a:pPr>
            <a:endParaRPr lang="en-SG" dirty="0"/>
          </a:p>
          <a:p>
            <a:pPr marL="0" indent="0">
              <a:buNone/>
            </a:pPr>
            <a:endParaRPr lang="en-SG" dirty="0">
              <a:solidFill>
                <a:srgbClr val="FF0000"/>
              </a:solidFill>
            </a:endParaRPr>
          </a:p>
        </p:txBody>
      </p:sp>
      <p:pic>
        <p:nvPicPr>
          <p:cNvPr id="6" name="Picture 5">
            <a:extLst>
              <a:ext uri="{FF2B5EF4-FFF2-40B4-BE49-F238E27FC236}">
                <a16:creationId xmlns:a16="http://schemas.microsoft.com/office/drawing/2014/main" id="{43EFB31B-B3A2-82AA-30D9-DDF723F8BBF6}"/>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
        <p:nvSpPr>
          <p:cNvPr id="4" name="Content Placeholder 2">
            <a:extLst>
              <a:ext uri="{FF2B5EF4-FFF2-40B4-BE49-F238E27FC236}">
                <a16:creationId xmlns:a16="http://schemas.microsoft.com/office/drawing/2014/main" id="{A7127226-7E22-C1D1-C959-0F4A16E37CCF}"/>
              </a:ext>
            </a:extLst>
          </p:cNvPr>
          <p:cNvSpPr txBox="1">
            <a:spLocks/>
          </p:cNvSpPr>
          <p:nvPr/>
        </p:nvSpPr>
        <p:spPr>
          <a:xfrm>
            <a:off x="838200" y="1647370"/>
            <a:ext cx="6372828" cy="47078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G" dirty="0"/>
              <a:t>Create a “Free Shipping” Discount in Shopify. </a:t>
            </a:r>
          </a:p>
          <a:p>
            <a:r>
              <a:rPr lang="en-SG" dirty="0"/>
              <a:t>The discount code should be “HOLIDAY2026”</a:t>
            </a:r>
          </a:p>
          <a:p>
            <a:r>
              <a:rPr lang="en-SG" dirty="0"/>
              <a:t>Start date: March 27, 2026 </a:t>
            </a:r>
          </a:p>
          <a:p>
            <a:r>
              <a:rPr lang="en-SG" dirty="0"/>
              <a:t>End date: April 27, 2026</a:t>
            </a:r>
          </a:p>
          <a:p>
            <a:r>
              <a:rPr lang="en-SG" dirty="0"/>
              <a:t>Minimum purchase amount:100</a:t>
            </a:r>
          </a:p>
          <a:p>
            <a:r>
              <a:rPr lang="en-SG" dirty="0"/>
              <a:t>Maximum discount uses: Limit to one user per customer,</a:t>
            </a:r>
          </a:p>
          <a:p>
            <a:r>
              <a:rPr lang="en-SG" dirty="0"/>
              <a:t>Combinations: Order Discount. </a:t>
            </a:r>
          </a:p>
          <a:p>
            <a:pPr marL="0" indent="0">
              <a:buNone/>
            </a:pPr>
            <a:r>
              <a:rPr lang="en-SG" dirty="0"/>
              <a:t>Screenshot and paste here the newly created discount</a:t>
            </a:r>
          </a:p>
          <a:p>
            <a:pPr marL="0" indent="0">
              <a:buFont typeface="Arial" panose="020B0604020202020204" pitchFamily="34" charset="0"/>
              <a:buNone/>
            </a:pPr>
            <a:endParaRPr lang="en-SG" dirty="0"/>
          </a:p>
          <a:p>
            <a:pPr marL="0" indent="0">
              <a:buFont typeface="Arial" panose="020B0604020202020204" pitchFamily="34" charset="0"/>
              <a:buNone/>
            </a:pPr>
            <a:endParaRPr lang="en-SG" dirty="0">
              <a:solidFill>
                <a:srgbClr val="FF0000"/>
              </a:solidFill>
            </a:endParaRPr>
          </a:p>
        </p:txBody>
      </p:sp>
    </p:spTree>
    <p:extLst>
      <p:ext uri="{BB962C8B-B14F-4D97-AF65-F5344CB8AC3E}">
        <p14:creationId xmlns:p14="http://schemas.microsoft.com/office/powerpoint/2010/main" val="2689376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FA36E-E1F9-41C7-B2C3-668C5E7E1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38451-020D-A2F8-7966-52EF5FD15858}"/>
              </a:ext>
            </a:extLst>
          </p:cNvPr>
          <p:cNvSpPr>
            <a:spLocks noGrp="1"/>
          </p:cNvSpPr>
          <p:nvPr>
            <p:ph type="title"/>
          </p:nvPr>
        </p:nvSpPr>
        <p:spPr/>
        <p:txBody>
          <a:bodyPr/>
          <a:lstStyle/>
          <a:p>
            <a:r>
              <a:rPr lang="en-SG" b="1" dirty="0"/>
              <a:t>Question 5  </a:t>
            </a:r>
          </a:p>
        </p:txBody>
      </p:sp>
      <p:sp>
        <p:nvSpPr>
          <p:cNvPr id="3" name="Content Placeholder 2">
            <a:extLst>
              <a:ext uri="{FF2B5EF4-FFF2-40B4-BE49-F238E27FC236}">
                <a16:creationId xmlns:a16="http://schemas.microsoft.com/office/drawing/2014/main" id="{59B0B000-9DCD-5726-78CA-DB12F675B992}"/>
              </a:ext>
            </a:extLst>
          </p:cNvPr>
          <p:cNvSpPr>
            <a:spLocks noGrp="1"/>
          </p:cNvSpPr>
          <p:nvPr>
            <p:ph idx="1"/>
          </p:nvPr>
        </p:nvSpPr>
        <p:spPr>
          <a:xfrm>
            <a:off x="838200" y="1627726"/>
            <a:ext cx="5257800" cy="4351338"/>
          </a:xfrm>
        </p:spPr>
        <p:txBody>
          <a:bodyPr/>
          <a:lstStyle/>
          <a:p>
            <a:pPr marL="0" indent="0">
              <a:buNone/>
            </a:pPr>
            <a:r>
              <a:rPr lang="en-SG" dirty="0"/>
              <a:t>Add a new Page. </a:t>
            </a:r>
          </a:p>
          <a:p>
            <a:r>
              <a:rPr lang="en-SG" dirty="0"/>
              <a:t>The title of the page is “Announcements”</a:t>
            </a:r>
          </a:p>
          <a:p>
            <a:r>
              <a:rPr lang="en-SG" dirty="0"/>
              <a:t>Contents “</a:t>
            </a:r>
            <a:r>
              <a:rPr lang="en-US" dirty="0"/>
              <a:t>Below is the list of events we will arrange from April 2026 to December 2026”. </a:t>
            </a:r>
          </a:p>
          <a:p>
            <a:r>
              <a:rPr lang="en-US" dirty="0"/>
              <a:t>Visibility is “Visible”</a:t>
            </a:r>
          </a:p>
          <a:p>
            <a:pPr marL="0" indent="0">
              <a:buNone/>
            </a:pPr>
            <a:r>
              <a:rPr lang="en-US" dirty="0"/>
              <a:t>Screenshot and paste here the newly created page.</a:t>
            </a:r>
            <a:endParaRPr lang="en-SG" dirty="0"/>
          </a:p>
        </p:txBody>
      </p:sp>
      <p:pic>
        <p:nvPicPr>
          <p:cNvPr id="6" name="Picture 5">
            <a:extLst>
              <a:ext uri="{FF2B5EF4-FFF2-40B4-BE49-F238E27FC236}">
                <a16:creationId xmlns:a16="http://schemas.microsoft.com/office/drawing/2014/main" id="{39CB3549-E204-64A5-0EA4-2542C6F52658}"/>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62943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BF542-9855-0332-8C2D-0F89EF265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23CB5-26D6-BDE8-5270-0B46BA8DB296}"/>
              </a:ext>
            </a:extLst>
          </p:cNvPr>
          <p:cNvSpPr>
            <a:spLocks noGrp="1"/>
          </p:cNvSpPr>
          <p:nvPr>
            <p:ph type="title"/>
          </p:nvPr>
        </p:nvSpPr>
        <p:spPr/>
        <p:txBody>
          <a:bodyPr/>
          <a:lstStyle/>
          <a:p>
            <a:r>
              <a:rPr lang="en-SG" b="1" dirty="0"/>
              <a:t>Question 6  </a:t>
            </a:r>
          </a:p>
        </p:txBody>
      </p:sp>
      <p:sp>
        <p:nvSpPr>
          <p:cNvPr id="3" name="Content Placeholder 2">
            <a:extLst>
              <a:ext uri="{FF2B5EF4-FFF2-40B4-BE49-F238E27FC236}">
                <a16:creationId xmlns:a16="http://schemas.microsoft.com/office/drawing/2014/main" id="{D5B76758-1FC2-723E-1F9B-C080ADE9C42C}"/>
              </a:ext>
            </a:extLst>
          </p:cNvPr>
          <p:cNvSpPr>
            <a:spLocks noGrp="1"/>
          </p:cNvSpPr>
          <p:nvPr>
            <p:ph idx="1"/>
          </p:nvPr>
        </p:nvSpPr>
        <p:spPr>
          <a:xfrm>
            <a:off x="838200" y="1627726"/>
            <a:ext cx="10515600" cy="4351338"/>
          </a:xfrm>
        </p:spPr>
        <p:txBody>
          <a:bodyPr/>
          <a:lstStyle/>
          <a:p>
            <a:pPr marL="0" indent="0">
              <a:buNone/>
            </a:pPr>
            <a:r>
              <a:rPr lang="en-SG" dirty="0"/>
              <a:t>Screenshot and paste here the basic analytics of your Shopify store.</a:t>
            </a:r>
          </a:p>
        </p:txBody>
      </p:sp>
      <p:pic>
        <p:nvPicPr>
          <p:cNvPr id="6" name="Picture 5">
            <a:extLst>
              <a:ext uri="{FF2B5EF4-FFF2-40B4-BE49-F238E27FC236}">
                <a16:creationId xmlns:a16="http://schemas.microsoft.com/office/drawing/2014/main" id="{F02B5A17-0FA1-2F28-3E61-9EA81C20F383}"/>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651288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682B3-577E-DEFD-43AD-B2970DA16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8EFF0-BCEF-7CBE-BAF1-330BB5F2D8D0}"/>
              </a:ext>
            </a:extLst>
          </p:cNvPr>
          <p:cNvSpPr>
            <a:spLocks noGrp="1"/>
          </p:cNvSpPr>
          <p:nvPr>
            <p:ph type="title"/>
          </p:nvPr>
        </p:nvSpPr>
        <p:spPr/>
        <p:txBody>
          <a:bodyPr/>
          <a:lstStyle/>
          <a:p>
            <a:r>
              <a:rPr lang="en-SG" b="1" dirty="0"/>
              <a:t>Question 7  </a:t>
            </a:r>
          </a:p>
        </p:txBody>
      </p:sp>
      <p:sp>
        <p:nvSpPr>
          <p:cNvPr id="3" name="Content Placeholder 2">
            <a:extLst>
              <a:ext uri="{FF2B5EF4-FFF2-40B4-BE49-F238E27FC236}">
                <a16:creationId xmlns:a16="http://schemas.microsoft.com/office/drawing/2014/main" id="{8CBD6957-2EE2-C434-F061-E2CAC6883D92}"/>
              </a:ext>
            </a:extLst>
          </p:cNvPr>
          <p:cNvSpPr>
            <a:spLocks noGrp="1"/>
          </p:cNvSpPr>
          <p:nvPr>
            <p:ph idx="1"/>
          </p:nvPr>
        </p:nvSpPr>
        <p:spPr>
          <a:xfrm>
            <a:off x="838200" y="1627726"/>
            <a:ext cx="10515600" cy="4351338"/>
          </a:xfrm>
        </p:spPr>
        <p:txBody>
          <a:bodyPr/>
          <a:lstStyle/>
          <a:p>
            <a:pPr marL="0" indent="0">
              <a:buNone/>
            </a:pPr>
            <a:r>
              <a:rPr lang="en-SG" dirty="0"/>
              <a:t>Add a “Ritual” or “Savor” theme to your Shopify store. Screenshot and paste here the newly added theme. </a:t>
            </a:r>
          </a:p>
        </p:txBody>
      </p:sp>
      <p:pic>
        <p:nvPicPr>
          <p:cNvPr id="6" name="Picture 5">
            <a:extLst>
              <a:ext uri="{FF2B5EF4-FFF2-40B4-BE49-F238E27FC236}">
                <a16:creationId xmlns:a16="http://schemas.microsoft.com/office/drawing/2014/main" id="{F85120CE-47BA-6129-7464-A3077428AB4A}"/>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275446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5FD6B-BB5D-4BC5-3251-B15F08092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ADA171-ACC4-DA0A-A3DD-5C9D23E1DBF3}"/>
              </a:ext>
            </a:extLst>
          </p:cNvPr>
          <p:cNvSpPr>
            <a:spLocks noGrp="1"/>
          </p:cNvSpPr>
          <p:nvPr>
            <p:ph type="title"/>
          </p:nvPr>
        </p:nvSpPr>
        <p:spPr/>
        <p:txBody>
          <a:bodyPr/>
          <a:lstStyle/>
          <a:p>
            <a:r>
              <a:rPr lang="en-SG" b="1" dirty="0"/>
              <a:t>Question 8  </a:t>
            </a:r>
          </a:p>
        </p:txBody>
      </p:sp>
      <p:sp>
        <p:nvSpPr>
          <p:cNvPr id="3" name="Content Placeholder 2">
            <a:extLst>
              <a:ext uri="{FF2B5EF4-FFF2-40B4-BE49-F238E27FC236}">
                <a16:creationId xmlns:a16="http://schemas.microsoft.com/office/drawing/2014/main" id="{FDB553E0-4737-B3B8-A456-A744BEFC97FE}"/>
              </a:ext>
            </a:extLst>
          </p:cNvPr>
          <p:cNvSpPr>
            <a:spLocks noGrp="1"/>
          </p:cNvSpPr>
          <p:nvPr>
            <p:ph idx="1"/>
          </p:nvPr>
        </p:nvSpPr>
        <p:spPr>
          <a:xfrm>
            <a:off x="838200" y="1627726"/>
            <a:ext cx="6604322" cy="4351338"/>
          </a:xfrm>
        </p:spPr>
        <p:txBody>
          <a:bodyPr/>
          <a:lstStyle/>
          <a:p>
            <a:pPr marL="0" indent="0">
              <a:buNone/>
            </a:pPr>
            <a:r>
              <a:rPr lang="en-SG" dirty="0"/>
              <a:t>Add a new Role. </a:t>
            </a:r>
          </a:p>
          <a:p>
            <a:r>
              <a:rPr lang="en-SG" dirty="0"/>
              <a:t>The Role Name is “Digital Marketer” </a:t>
            </a:r>
          </a:p>
          <a:p>
            <a:r>
              <a:rPr lang="en-SG" dirty="0"/>
              <a:t>Permission is “Store” </a:t>
            </a:r>
          </a:p>
          <a:p>
            <a:r>
              <a:rPr lang="en-SG" dirty="0"/>
              <a:t>Check/Tick on “Marketing”, “Markets” and “Content”</a:t>
            </a:r>
          </a:p>
          <a:p>
            <a:r>
              <a:rPr lang="en-SG" dirty="0"/>
              <a:t>Check/tick on “Manage and install apps and channels”</a:t>
            </a:r>
          </a:p>
          <a:p>
            <a:pPr marL="0" indent="0">
              <a:buNone/>
            </a:pPr>
            <a:r>
              <a:rPr lang="en-SG" dirty="0"/>
              <a:t>Screenshot and paste it here the newly added role. </a:t>
            </a:r>
          </a:p>
        </p:txBody>
      </p:sp>
      <p:pic>
        <p:nvPicPr>
          <p:cNvPr id="6" name="Picture 5">
            <a:extLst>
              <a:ext uri="{FF2B5EF4-FFF2-40B4-BE49-F238E27FC236}">
                <a16:creationId xmlns:a16="http://schemas.microsoft.com/office/drawing/2014/main" id="{78EB71AE-DE4E-6581-2FB7-FD881F47F053}"/>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20663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1E36-9700-124C-7FFA-40179ECC3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DDC91-8353-474B-CE10-28642A3C18F6}"/>
              </a:ext>
            </a:extLst>
          </p:cNvPr>
          <p:cNvSpPr>
            <a:spLocks noGrp="1"/>
          </p:cNvSpPr>
          <p:nvPr>
            <p:ph type="title"/>
          </p:nvPr>
        </p:nvSpPr>
        <p:spPr/>
        <p:txBody>
          <a:bodyPr/>
          <a:lstStyle/>
          <a:p>
            <a:r>
              <a:rPr lang="en-SG" b="1" dirty="0"/>
              <a:t>Question 9  </a:t>
            </a:r>
          </a:p>
        </p:txBody>
      </p:sp>
      <p:sp>
        <p:nvSpPr>
          <p:cNvPr id="3" name="Content Placeholder 2">
            <a:extLst>
              <a:ext uri="{FF2B5EF4-FFF2-40B4-BE49-F238E27FC236}">
                <a16:creationId xmlns:a16="http://schemas.microsoft.com/office/drawing/2014/main" id="{C16366AF-FFB6-B5B3-FD05-85BD0BC404E2}"/>
              </a:ext>
            </a:extLst>
          </p:cNvPr>
          <p:cNvSpPr>
            <a:spLocks noGrp="1"/>
          </p:cNvSpPr>
          <p:nvPr>
            <p:ph idx="1"/>
          </p:nvPr>
        </p:nvSpPr>
        <p:spPr>
          <a:xfrm>
            <a:off x="838200" y="1627726"/>
            <a:ext cx="10515600" cy="4351338"/>
          </a:xfrm>
        </p:spPr>
        <p:txBody>
          <a:bodyPr/>
          <a:lstStyle/>
          <a:p>
            <a:pPr marL="0" indent="0">
              <a:buNone/>
            </a:pPr>
            <a:r>
              <a:rPr lang="en-SG" dirty="0"/>
              <a:t>Create a GA4 tag/G-Tag in Google Analytics for the Shopify Website. Screenshot and paste here the newly created GA4 tag/G-Tag ID. </a:t>
            </a:r>
          </a:p>
        </p:txBody>
      </p:sp>
      <p:pic>
        <p:nvPicPr>
          <p:cNvPr id="6" name="Picture 5">
            <a:extLst>
              <a:ext uri="{FF2B5EF4-FFF2-40B4-BE49-F238E27FC236}">
                <a16:creationId xmlns:a16="http://schemas.microsoft.com/office/drawing/2014/main" id="{500618C5-C760-1220-128C-EABD3EF93CF7}"/>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071273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9D4F5-C0C0-008D-2792-4E1AE51FE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06F3F-61E7-BE30-AF5E-EB74469317AC}"/>
              </a:ext>
            </a:extLst>
          </p:cNvPr>
          <p:cNvSpPr>
            <a:spLocks noGrp="1"/>
          </p:cNvSpPr>
          <p:nvPr>
            <p:ph type="title"/>
          </p:nvPr>
        </p:nvSpPr>
        <p:spPr/>
        <p:txBody>
          <a:bodyPr/>
          <a:lstStyle/>
          <a:p>
            <a:r>
              <a:rPr lang="en-SG" b="1" dirty="0"/>
              <a:t>Question 10  </a:t>
            </a:r>
          </a:p>
        </p:txBody>
      </p:sp>
      <p:sp>
        <p:nvSpPr>
          <p:cNvPr id="3" name="Content Placeholder 2">
            <a:extLst>
              <a:ext uri="{FF2B5EF4-FFF2-40B4-BE49-F238E27FC236}">
                <a16:creationId xmlns:a16="http://schemas.microsoft.com/office/drawing/2014/main" id="{4D82C7A3-5FB2-B731-BB5A-E6F1DCC82E2E}"/>
              </a:ext>
            </a:extLst>
          </p:cNvPr>
          <p:cNvSpPr>
            <a:spLocks noGrp="1"/>
          </p:cNvSpPr>
          <p:nvPr>
            <p:ph idx="1"/>
          </p:nvPr>
        </p:nvSpPr>
        <p:spPr>
          <a:xfrm>
            <a:off x="838200" y="1627726"/>
            <a:ext cx="10515600" cy="4351338"/>
          </a:xfrm>
        </p:spPr>
        <p:txBody>
          <a:bodyPr/>
          <a:lstStyle/>
          <a:p>
            <a:pPr marL="0" indent="0">
              <a:buNone/>
            </a:pPr>
            <a:r>
              <a:rPr lang="en-SG" dirty="0"/>
              <a:t>Integrate manually the GA4 Tag/G-Tag ID in the Theme.liquid of Shopify Store. Screenshot and paste here the theme.liquid with the G-Tag script</a:t>
            </a:r>
          </a:p>
        </p:txBody>
      </p:sp>
      <p:pic>
        <p:nvPicPr>
          <p:cNvPr id="6" name="Picture 5">
            <a:extLst>
              <a:ext uri="{FF2B5EF4-FFF2-40B4-BE49-F238E27FC236}">
                <a16:creationId xmlns:a16="http://schemas.microsoft.com/office/drawing/2014/main" id="{2B2DC444-73B7-BFF3-3BF8-EA7900D44FF8}"/>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373492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78FFA-C5A4-E203-2A42-4FF72CCEC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EFC34-8588-5A77-6965-291FC95F06E3}"/>
              </a:ext>
            </a:extLst>
          </p:cNvPr>
          <p:cNvSpPr>
            <a:spLocks noGrp="1"/>
          </p:cNvSpPr>
          <p:nvPr>
            <p:ph type="title"/>
          </p:nvPr>
        </p:nvSpPr>
        <p:spPr>
          <a:xfrm>
            <a:off x="838200" y="0"/>
            <a:ext cx="10515600" cy="1325563"/>
          </a:xfrm>
        </p:spPr>
        <p:txBody>
          <a:bodyPr/>
          <a:lstStyle/>
          <a:p>
            <a:pPr algn="ctr"/>
            <a:r>
              <a:rPr lang="en-SG" dirty="0"/>
              <a:t>Wix Questions (30 Marks) </a:t>
            </a:r>
          </a:p>
        </p:txBody>
      </p:sp>
      <p:sp>
        <p:nvSpPr>
          <p:cNvPr id="4" name="Title 1">
            <a:extLst>
              <a:ext uri="{FF2B5EF4-FFF2-40B4-BE49-F238E27FC236}">
                <a16:creationId xmlns:a16="http://schemas.microsoft.com/office/drawing/2014/main" id="{568F111D-92DE-1815-70FB-88DE44B82AED}"/>
              </a:ext>
            </a:extLst>
          </p:cNvPr>
          <p:cNvSpPr txBox="1">
            <a:spLocks/>
          </p:cNvSpPr>
          <p:nvPr/>
        </p:nvSpPr>
        <p:spPr>
          <a:xfrm>
            <a:off x="1048473" y="87634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Marking Rubrics:</a:t>
            </a:r>
          </a:p>
        </p:txBody>
      </p:sp>
      <p:graphicFrame>
        <p:nvGraphicFramePr>
          <p:cNvPr id="6" name="Table 5">
            <a:extLst>
              <a:ext uri="{FF2B5EF4-FFF2-40B4-BE49-F238E27FC236}">
                <a16:creationId xmlns:a16="http://schemas.microsoft.com/office/drawing/2014/main" id="{74132C61-D0AB-981B-4451-7EBF2DF9C18B}"/>
              </a:ext>
            </a:extLst>
          </p:cNvPr>
          <p:cNvGraphicFramePr>
            <a:graphicFrameLocks noGrp="1"/>
          </p:cNvGraphicFramePr>
          <p:nvPr>
            <p:extLst>
              <p:ext uri="{D42A27DB-BD31-4B8C-83A1-F6EECF244321}">
                <p14:modId xmlns:p14="http://schemas.microsoft.com/office/powerpoint/2010/main" val="3228760951"/>
              </p:ext>
            </p:extLst>
          </p:nvPr>
        </p:nvGraphicFramePr>
        <p:xfrm>
          <a:off x="1175793" y="2060893"/>
          <a:ext cx="10063225" cy="3977640"/>
        </p:xfrm>
        <a:graphic>
          <a:graphicData uri="http://schemas.openxmlformats.org/drawingml/2006/table">
            <a:tbl>
              <a:tblPr firstRow="1" bandRow="1">
                <a:tableStyleId>{5C22544A-7EE6-4342-B048-85BDC9FD1C3A}</a:tableStyleId>
              </a:tblPr>
              <a:tblGrid>
                <a:gridCol w="1840282">
                  <a:extLst>
                    <a:ext uri="{9D8B030D-6E8A-4147-A177-3AD203B41FA5}">
                      <a16:colId xmlns:a16="http://schemas.microsoft.com/office/drawing/2014/main" val="1800813412"/>
                    </a:ext>
                  </a:extLst>
                </a:gridCol>
                <a:gridCol w="6821339">
                  <a:extLst>
                    <a:ext uri="{9D8B030D-6E8A-4147-A177-3AD203B41FA5}">
                      <a16:colId xmlns:a16="http://schemas.microsoft.com/office/drawing/2014/main" val="4080650455"/>
                    </a:ext>
                  </a:extLst>
                </a:gridCol>
                <a:gridCol w="1401604">
                  <a:extLst>
                    <a:ext uri="{9D8B030D-6E8A-4147-A177-3AD203B41FA5}">
                      <a16:colId xmlns:a16="http://schemas.microsoft.com/office/drawing/2014/main" val="2770320181"/>
                    </a:ext>
                  </a:extLst>
                </a:gridCol>
              </a:tblGrid>
              <a:tr h="370840">
                <a:tc>
                  <a:txBody>
                    <a:bodyPr/>
                    <a:lstStyle/>
                    <a:p>
                      <a:r>
                        <a:rPr lang="en-SG" dirty="0"/>
                        <a:t>Question #</a:t>
                      </a:r>
                    </a:p>
                  </a:txBody>
                  <a:tcPr/>
                </a:tc>
                <a:tc>
                  <a:txBody>
                    <a:bodyPr/>
                    <a:lstStyle/>
                    <a:p>
                      <a:r>
                        <a:rPr lang="en-SG" dirty="0"/>
                        <a:t>Requirements</a:t>
                      </a:r>
                    </a:p>
                  </a:txBody>
                  <a:tcPr/>
                </a:tc>
                <a:tc>
                  <a:txBody>
                    <a:bodyPr/>
                    <a:lstStyle/>
                    <a:p>
                      <a:pPr algn="ctr"/>
                      <a:r>
                        <a:rPr lang="en-SG" dirty="0"/>
                        <a:t>Marks</a:t>
                      </a:r>
                    </a:p>
                  </a:txBody>
                  <a:tcPr/>
                </a:tc>
                <a:extLst>
                  <a:ext uri="{0D108BD9-81ED-4DB2-BD59-A6C34878D82A}">
                    <a16:rowId xmlns:a16="http://schemas.microsoft.com/office/drawing/2014/main" val="3814175881"/>
                  </a:ext>
                </a:extLst>
              </a:tr>
              <a:tr h="370840">
                <a:tc>
                  <a:txBody>
                    <a:bodyPr/>
                    <a:lstStyle/>
                    <a:p>
                      <a:r>
                        <a:rPr lang="en-SG" dirty="0"/>
                        <a:t>Question 11</a:t>
                      </a:r>
                    </a:p>
                  </a:txBody>
                  <a:tcPr/>
                </a:tc>
                <a:tc>
                  <a:txBody>
                    <a:bodyPr/>
                    <a:lstStyle/>
                    <a:p>
                      <a:r>
                        <a:rPr lang="en-SG" dirty="0"/>
                        <a:t>Created a new Invoice and sent it to mackysportsapparel@gmail.com</a:t>
                      </a:r>
                    </a:p>
                  </a:txBody>
                  <a:tcPr/>
                </a:tc>
                <a:tc>
                  <a:txBody>
                    <a:bodyPr/>
                    <a:lstStyle/>
                    <a:p>
                      <a:pPr algn="ctr"/>
                      <a:r>
                        <a:rPr lang="en-SG" dirty="0"/>
                        <a:t>3</a:t>
                      </a:r>
                    </a:p>
                  </a:txBody>
                  <a:tcPr/>
                </a:tc>
                <a:extLst>
                  <a:ext uri="{0D108BD9-81ED-4DB2-BD59-A6C34878D82A}">
                    <a16:rowId xmlns:a16="http://schemas.microsoft.com/office/drawing/2014/main" val="1740075226"/>
                  </a:ext>
                </a:extLst>
              </a:tr>
              <a:tr h="370840">
                <a:tc>
                  <a:txBody>
                    <a:bodyPr/>
                    <a:lstStyle/>
                    <a:p>
                      <a:r>
                        <a:rPr lang="en-SG" dirty="0"/>
                        <a:t>Question 12</a:t>
                      </a:r>
                    </a:p>
                  </a:txBody>
                  <a:tcPr/>
                </a:tc>
                <a:tc>
                  <a:txBody>
                    <a:bodyPr/>
                    <a:lstStyle/>
                    <a:p>
                      <a:r>
                        <a:rPr lang="en-SG" dirty="0"/>
                        <a:t>Created a new category based on the proposed company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2620873852"/>
                  </a:ext>
                </a:extLst>
              </a:tr>
              <a:tr h="370840">
                <a:tc>
                  <a:txBody>
                    <a:bodyPr/>
                    <a:lstStyle/>
                    <a:p>
                      <a:r>
                        <a:rPr lang="en-SG" dirty="0"/>
                        <a:t>Question 13</a:t>
                      </a:r>
                    </a:p>
                  </a:txBody>
                  <a:tcPr/>
                </a:tc>
                <a:tc>
                  <a:txBody>
                    <a:bodyPr/>
                    <a:lstStyle/>
                    <a:p>
                      <a:r>
                        <a:rPr lang="en-SG" dirty="0"/>
                        <a:t>Changed the inventory status of any two products to “Out of Stock”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2894768120"/>
                  </a:ext>
                </a:extLst>
              </a:tr>
              <a:tr h="411267">
                <a:tc>
                  <a:txBody>
                    <a:bodyPr/>
                    <a:lstStyle/>
                    <a:p>
                      <a:r>
                        <a:rPr lang="en-SG" dirty="0"/>
                        <a:t>Question 14</a:t>
                      </a:r>
                    </a:p>
                  </a:txBody>
                  <a:tcPr/>
                </a:tc>
                <a:tc>
                  <a:txBody>
                    <a:bodyPr/>
                    <a:lstStyle/>
                    <a:p>
                      <a:r>
                        <a:rPr lang="en-SG" dirty="0"/>
                        <a:t>Edited the gift card amount to 50, 100, 150, 200, 250 and 300. Edited the expiration date to 12 months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758842797"/>
                  </a:ext>
                </a:extLst>
              </a:tr>
              <a:tr h="370840">
                <a:tc>
                  <a:txBody>
                    <a:bodyPr/>
                    <a:lstStyle/>
                    <a:p>
                      <a:r>
                        <a:rPr lang="en-SG" dirty="0"/>
                        <a:t>Question 15</a:t>
                      </a:r>
                    </a:p>
                  </a:txBody>
                  <a:tcPr/>
                </a:tc>
                <a:tc>
                  <a:txBody>
                    <a:bodyPr/>
                    <a:lstStyle/>
                    <a:p>
                      <a:r>
                        <a:rPr lang="en-SG" dirty="0"/>
                        <a:t>Created a new product under a specific category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4019941182"/>
                  </a:ext>
                </a:extLst>
              </a:tr>
              <a:tr h="370840">
                <a:tc>
                  <a:txBody>
                    <a:bodyPr/>
                    <a:lstStyle/>
                    <a:p>
                      <a:r>
                        <a:rPr lang="en-SG" dirty="0"/>
                        <a:t>Question 16</a:t>
                      </a:r>
                    </a:p>
                  </a:txBody>
                  <a:tcPr/>
                </a:tc>
                <a:tc>
                  <a:txBody>
                    <a:bodyPr/>
                    <a:lstStyle/>
                    <a:p>
                      <a:r>
                        <a:rPr lang="en-SG" dirty="0"/>
                        <a:t>Screenshot the Site Speed information and data of your Wix Website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2950886459"/>
                  </a:ext>
                </a:extLst>
              </a:tr>
              <a:tr h="370840">
                <a:tc>
                  <a:txBody>
                    <a:bodyPr/>
                    <a:lstStyle/>
                    <a:p>
                      <a:r>
                        <a:rPr lang="en-SG" dirty="0"/>
                        <a:t>Question 17</a:t>
                      </a:r>
                    </a:p>
                  </a:txBody>
                  <a:tcPr/>
                </a:tc>
                <a:tc>
                  <a:txBody>
                    <a:bodyPr/>
                    <a:lstStyle/>
                    <a:p>
                      <a:r>
                        <a:rPr lang="en-SG" dirty="0"/>
                        <a:t>Created an Email Marketing using the template “Start a Promotion”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4</a:t>
                      </a:r>
                    </a:p>
                  </a:txBody>
                  <a:tcPr/>
                </a:tc>
                <a:extLst>
                  <a:ext uri="{0D108BD9-81ED-4DB2-BD59-A6C34878D82A}">
                    <a16:rowId xmlns:a16="http://schemas.microsoft.com/office/drawing/2014/main" val="2326637090"/>
                  </a:ext>
                </a:extLst>
              </a:tr>
              <a:tr h="370840">
                <a:tc>
                  <a:txBody>
                    <a:bodyPr/>
                    <a:lstStyle/>
                    <a:p>
                      <a:r>
                        <a:rPr lang="en-SG" dirty="0"/>
                        <a:t>Question18</a:t>
                      </a:r>
                    </a:p>
                  </a:txBody>
                  <a:tcPr/>
                </a:tc>
                <a:tc>
                  <a:txBody>
                    <a:bodyPr/>
                    <a:lstStyle/>
                    <a:p>
                      <a:r>
                        <a:rPr lang="en-SG" dirty="0"/>
                        <a:t>Created a “Cash Payment” manual payment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4</a:t>
                      </a:r>
                    </a:p>
                  </a:txBody>
                  <a:tcPr/>
                </a:tc>
                <a:extLst>
                  <a:ext uri="{0D108BD9-81ED-4DB2-BD59-A6C34878D82A}">
                    <a16:rowId xmlns:a16="http://schemas.microsoft.com/office/drawing/2014/main" val="1259208184"/>
                  </a:ext>
                </a:extLst>
              </a:tr>
              <a:tr h="370840">
                <a:tc>
                  <a:txBody>
                    <a:bodyPr/>
                    <a:lstStyle/>
                    <a:p>
                      <a:r>
                        <a:rPr lang="en-SG" dirty="0"/>
                        <a:t>Question 19</a:t>
                      </a:r>
                    </a:p>
                  </a:txBody>
                  <a:tcPr/>
                </a:tc>
                <a:tc>
                  <a:txBody>
                    <a:bodyPr/>
                    <a:lstStyle/>
                    <a:p>
                      <a:r>
                        <a:rPr lang="en-SG" dirty="0"/>
                        <a:t>Created a New Form with the required fields with the Submit Button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4</a:t>
                      </a:r>
                    </a:p>
                  </a:txBody>
                  <a:tcPr/>
                </a:tc>
                <a:extLst>
                  <a:ext uri="{0D108BD9-81ED-4DB2-BD59-A6C34878D82A}">
                    <a16:rowId xmlns:a16="http://schemas.microsoft.com/office/drawing/2014/main" val="799691059"/>
                  </a:ext>
                </a:extLst>
              </a:tr>
            </a:tbl>
          </a:graphicData>
        </a:graphic>
      </p:graphicFrame>
    </p:spTree>
    <p:extLst>
      <p:ext uri="{BB962C8B-B14F-4D97-AF65-F5344CB8AC3E}">
        <p14:creationId xmlns:p14="http://schemas.microsoft.com/office/powerpoint/2010/main" val="3628885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E295-B90C-7DBE-577C-81E5F38AD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4E2AE-01E1-05B6-1B15-94A0CD77AFBE}"/>
              </a:ext>
            </a:extLst>
          </p:cNvPr>
          <p:cNvSpPr>
            <a:spLocks noGrp="1"/>
          </p:cNvSpPr>
          <p:nvPr>
            <p:ph type="title"/>
          </p:nvPr>
        </p:nvSpPr>
        <p:spPr/>
        <p:txBody>
          <a:bodyPr/>
          <a:lstStyle/>
          <a:p>
            <a:r>
              <a:rPr lang="en-SG" b="1" dirty="0"/>
              <a:t>Question 11  </a:t>
            </a:r>
          </a:p>
        </p:txBody>
      </p:sp>
      <p:sp>
        <p:nvSpPr>
          <p:cNvPr id="4" name="Content Placeholder 2">
            <a:extLst>
              <a:ext uri="{FF2B5EF4-FFF2-40B4-BE49-F238E27FC236}">
                <a16:creationId xmlns:a16="http://schemas.microsoft.com/office/drawing/2014/main" id="{D430FAD5-4C0F-34AC-8EE3-7AC06B2935AF}"/>
              </a:ext>
            </a:extLst>
          </p:cNvPr>
          <p:cNvSpPr>
            <a:spLocks noGrp="1"/>
          </p:cNvSpPr>
          <p:nvPr>
            <p:ph idx="1"/>
          </p:nvPr>
        </p:nvSpPr>
        <p:spPr>
          <a:xfrm>
            <a:off x="838200" y="1825625"/>
            <a:ext cx="10515600" cy="4351338"/>
          </a:xfrm>
        </p:spPr>
        <p:txBody>
          <a:bodyPr/>
          <a:lstStyle/>
          <a:p>
            <a:pPr marL="0" indent="0">
              <a:buNone/>
            </a:pPr>
            <a:r>
              <a:rPr lang="en-SG" dirty="0"/>
              <a:t>Create a new invoice which includes two products and sent it to </a:t>
            </a:r>
            <a:r>
              <a:rPr lang="en-SG" dirty="0">
                <a:hlinkClick r:id="rId2"/>
              </a:rPr>
              <a:t>mackysportsapparel@gmail.com</a:t>
            </a:r>
            <a:r>
              <a:rPr lang="en-SG" dirty="0"/>
              <a:t>. Screenshot and paste here the newly created invoice and the sent email settings.</a:t>
            </a:r>
          </a:p>
          <a:p>
            <a:pPr marL="0" indent="0">
              <a:buNone/>
            </a:pPr>
            <a:endParaRPr lang="en-SG" dirty="0"/>
          </a:p>
        </p:txBody>
      </p:sp>
      <p:pic>
        <p:nvPicPr>
          <p:cNvPr id="3" name="Picture 2">
            <a:extLst>
              <a:ext uri="{FF2B5EF4-FFF2-40B4-BE49-F238E27FC236}">
                <a16:creationId xmlns:a16="http://schemas.microsoft.com/office/drawing/2014/main" id="{D3165EFC-D670-6EEE-D5EE-3A091113A062}"/>
              </a:ext>
            </a:extLst>
          </p:cNvPr>
          <p:cNvPicPr>
            <a:picLocks noChangeAspect="1"/>
          </p:cNvPicPr>
          <p:nvPr/>
        </p:nvPicPr>
        <p:blipFill rotWithShape="1">
          <a:blip r:embed="rId3"/>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504881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CCF65-295B-BC27-AD4F-2FF3525FD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54763-8DA8-B84F-37A5-17F84F785061}"/>
              </a:ext>
            </a:extLst>
          </p:cNvPr>
          <p:cNvSpPr>
            <a:spLocks noGrp="1"/>
          </p:cNvSpPr>
          <p:nvPr>
            <p:ph type="title"/>
          </p:nvPr>
        </p:nvSpPr>
        <p:spPr/>
        <p:txBody>
          <a:bodyPr/>
          <a:lstStyle/>
          <a:p>
            <a:r>
              <a:rPr lang="en-SG" b="1" dirty="0"/>
              <a:t>Question 12  </a:t>
            </a:r>
          </a:p>
        </p:txBody>
      </p:sp>
      <p:sp>
        <p:nvSpPr>
          <p:cNvPr id="4" name="Content Placeholder 2">
            <a:extLst>
              <a:ext uri="{FF2B5EF4-FFF2-40B4-BE49-F238E27FC236}">
                <a16:creationId xmlns:a16="http://schemas.microsoft.com/office/drawing/2014/main" id="{311B679D-91D9-F388-8A7B-574F799F7441}"/>
              </a:ext>
            </a:extLst>
          </p:cNvPr>
          <p:cNvSpPr>
            <a:spLocks noGrp="1"/>
          </p:cNvSpPr>
          <p:nvPr>
            <p:ph idx="1"/>
          </p:nvPr>
        </p:nvSpPr>
        <p:spPr>
          <a:xfrm>
            <a:off x="838200" y="1825625"/>
            <a:ext cx="10515600" cy="4351338"/>
          </a:xfrm>
        </p:spPr>
        <p:txBody>
          <a:bodyPr/>
          <a:lstStyle/>
          <a:p>
            <a:pPr marL="0" indent="0">
              <a:buNone/>
            </a:pPr>
            <a:r>
              <a:rPr lang="en-SG" dirty="0"/>
              <a:t>Create a new category in Wix related to your proposed company. Screenshot and paste here the newly created category in Wix. </a:t>
            </a:r>
          </a:p>
        </p:txBody>
      </p:sp>
      <p:pic>
        <p:nvPicPr>
          <p:cNvPr id="3" name="Picture 2">
            <a:extLst>
              <a:ext uri="{FF2B5EF4-FFF2-40B4-BE49-F238E27FC236}">
                <a16:creationId xmlns:a16="http://schemas.microsoft.com/office/drawing/2014/main" id="{82AE9E07-0C8A-3202-399D-8D5E838D4A1C}"/>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079285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DF78-EBD8-0BAF-9A7F-21498D9F1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A8EF9-F07C-FE65-7CAB-2B64B50A0FAA}"/>
              </a:ext>
            </a:extLst>
          </p:cNvPr>
          <p:cNvSpPr>
            <a:spLocks noGrp="1"/>
          </p:cNvSpPr>
          <p:nvPr>
            <p:ph type="title"/>
          </p:nvPr>
        </p:nvSpPr>
        <p:spPr/>
        <p:txBody>
          <a:bodyPr/>
          <a:lstStyle/>
          <a:p>
            <a:r>
              <a:rPr lang="en-SG" b="1" dirty="0"/>
              <a:t>Question 13  </a:t>
            </a:r>
          </a:p>
        </p:txBody>
      </p:sp>
      <p:sp>
        <p:nvSpPr>
          <p:cNvPr id="4" name="Content Placeholder 2">
            <a:extLst>
              <a:ext uri="{FF2B5EF4-FFF2-40B4-BE49-F238E27FC236}">
                <a16:creationId xmlns:a16="http://schemas.microsoft.com/office/drawing/2014/main" id="{A42474F0-4BC7-6CCA-4A7B-430C2FD4E8E6}"/>
              </a:ext>
            </a:extLst>
          </p:cNvPr>
          <p:cNvSpPr>
            <a:spLocks noGrp="1"/>
          </p:cNvSpPr>
          <p:nvPr>
            <p:ph idx="1"/>
          </p:nvPr>
        </p:nvSpPr>
        <p:spPr>
          <a:xfrm>
            <a:off x="838200" y="1825625"/>
            <a:ext cx="10515600" cy="4351338"/>
          </a:xfrm>
        </p:spPr>
        <p:txBody>
          <a:bodyPr/>
          <a:lstStyle/>
          <a:p>
            <a:pPr marL="0" indent="0">
              <a:buNone/>
            </a:pPr>
            <a:r>
              <a:rPr lang="en-SG" dirty="0"/>
              <a:t>Changed the Inventory status on two of your products to “Out of Stock”.  Screenshot and paste here the evidence on the status changed of your inventory.</a:t>
            </a:r>
          </a:p>
        </p:txBody>
      </p:sp>
      <p:pic>
        <p:nvPicPr>
          <p:cNvPr id="3" name="Picture 2">
            <a:extLst>
              <a:ext uri="{FF2B5EF4-FFF2-40B4-BE49-F238E27FC236}">
                <a16:creationId xmlns:a16="http://schemas.microsoft.com/office/drawing/2014/main" id="{C9199AE8-9885-A875-6BD9-7CDA8F6AB38A}"/>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529688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D35D8-FA56-66DC-36AC-2B72B8F11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257DC-5505-8028-FA1B-3F6C702F3484}"/>
              </a:ext>
            </a:extLst>
          </p:cNvPr>
          <p:cNvSpPr>
            <a:spLocks noGrp="1"/>
          </p:cNvSpPr>
          <p:nvPr>
            <p:ph type="title"/>
          </p:nvPr>
        </p:nvSpPr>
        <p:spPr/>
        <p:txBody>
          <a:bodyPr/>
          <a:lstStyle/>
          <a:p>
            <a:r>
              <a:rPr lang="en-SG" b="1" dirty="0"/>
              <a:t>Question 14  </a:t>
            </a:r>
          </a:p>
        </p:txBody>
      </p:sp>
      <p:sp>
        <p:nvSpPr>
          <p:cNvPr id="4" name="Content Placeholder 2">
            <a:extLst>
              <a:ext uri="{FF2B5EF4-FFF2-40B4-BE49-F238E27FC236}">
                <a16:creationId xmlns:a16="http://schemas.microsoft.com/office/drawing/2014/main" id="{0C87E777-19A0-D061-C52A-DB5A939A3743}"/>
              </a:ext>
            </a:extLst>
          </p:cNvPr>
          <p:cNvSpPr>
            <a:spLocks noGrp="1"/>
          </p:cNvSpPr>
          <p:nvPr>
            <p:ph idx="1"/>
          </p:nvPr>
        </p:nvSpPr>
        <p:spPr>
          <a:xfrm>
            <a:off x="838200" y="1825625"/>
            <a:ext cx="10515600" cy="4351338"/>
          </a:xfrm>
        </p:spPr>
        <p:txBody>
          <a:bodyPr/>
          <a:lstStyle/>
          <a:p>
            <a:pPr marL="0" indent="0">
              <a:buNone/>
            </a:pPr>
            <a:r>
              <a:rPr lang="en-SG" dirty="0"/>
              <a:t>In your gift card, edit the amounts to 50, 100, 150, 200, 250 and 300. Set the expiration to 12 months. Screenshot and paste here the amount settings and the expiration months.</a:t>
            </a:r>
          </a:p>
        </p:txBody>
      </p:sp>
      <p:pic>
        <p:nvPicPr>
          <p:cNvPr id="3" name="Picture 2">
            <a:extLst>
              <a:ext uri="{FF2B5EF4-FFF2-40B4-BE49-F238E27FC236}">
                <a16:creationId xmlns:a16="http://schemas.microsoft.com/office/drawing/2014/main" id="{80039BE1-AB8B-2330-096F-499C1677AFFB}"/>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80113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6F92F-5306-751F-EAE6-FBF2570A1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EE8B4-74C7-4041-9C05-CCC2C0775AE0}"/>
              </a:ext>
            </a:extLst>
          </p:cNvPr>
          <p:cNvSpPr>
            <a:spLocks noGrp="1"/>
          </p:cNvSpPr>
          <p:nvPr>
            <p:ph type="title"/>
          </p:nvPr>
        </p:nvSpPr>
        <p:spPr/>
        <p:txBody>
          <a:bodyPr/>
          <a:lstStyle/>
          <a:p>
            <a:r>
              <a:rPr lang="en-SG" b="1" dirty="0"/>
              <a:t>Question 15 </a:t>
            </a:r>
          </a:p>
        </p:txBody>
      </p:sp>
      <p:sp>
        <p:nvSpPr>
          <p:cNvPr id="4" name="Content Placeholder 2">
            <a:extLst>
              <a:ext uri="{FF2B5EF4-FFF2-40B4-BE49-F238E27FC236}">
                <a16:creationId xmlns:a16="http://schemas.microsoft.com/office/drawing/2014/main" id="{ECFCDFF6-647D-12A0-7C8D-47278608B264}"/>
              </a:ext>
            </a:extLst>
          </p:cNvPr>
          <p:cNvSpPr>
            <a:spLocks noGrp="1"/>
          </p:cNvSpPr>
          <p:nvPr>
            <p:ph idx="1"/>
          </p:nvPr>
        </p:nvSpPr>
        <p:spPr>
          <a:xfrm>
            <a:off x="838200" y="1825625"/>
            <a:ext cx="10515600" cy="4351338"/>
          </a:xfrm>
        </p:spPr>
        <p:txBody>
          <a:bodyPr/>
          <a:lstStyle/>
          <a:p>
            <a:pPr marL="0" indent="0">
              <a:buNone/>
            </a:pPr>
            <a:r>
              <a:rPr lang="en-SG" dirty="0"/>
              <a:t>Create a new product under a specific category. This new product should be related to the category and to your proposed business. You can decide on the product information/settings. Screenshot and paste here the newly created product. </a:t>
            </a:r>
          </a:p>
        </p:txBody>
      </p:sp>
      <p:pic>
        <p:nvPicPr>
          <p:cNvPr id="3" name="Picture 2">
            <a:extLst>
              <a:ext uri="{FF2B5EF4-FFF2-40B4-BE49-F238E27FC236}">
                <a16:creationId xmlns:a16="http://schemas.microsoft.com/office/drawing/2014/main" id="{B0281480-D5A7-749D-8BA5-39B74A0AA7AB}"/>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89610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F4AA5-85F9-E4E5-EC80-B1A679489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A1587-E3AF-0BCC-AF07-E6FC6ACD29C3}"/>
              </a:ext>
            </a:extLst>
          </p:cNvPr>
          <p:cNvSpPr>
            <a:spLocks noGrp="1"/>
          </p:cNvSpPr>
          <p:nvPr>
            <p:ph type="title"/>
          </p:nvPr>
        </p:nvSpPr>
        <p:spPr/>
        <p:txBody>
          <a:bodyPr/>
          <a:lstStyle/>
          <a:p>
            <a:r>
              <a:rPr lang="en-SG" b="1" dirty="0"/>
              <a:t>Question 16 </a:t>
            </a:r>
          </a:p>
        </p:txBody>
      </p:sp>
      <p:sp>
        <p:nvSpPr>
          <p:cNvPr id="4" name="Content Placeholder 2">
            <a:extLst>
              <a:ext uri="{FF2B5EF4-FFF2-40B4-BE49-F238E27FC236}">
                <a16:creationId xmlns:a16="http://schemas.microsoft.com/office/drawing/2014/main" id="{9159CAD4-32EF-1960-659A-6C79486A1200}"/>
              </a:ext>
            </a:extLst>
          </p:cNvPr>
          <p:cNvSpPr>
            <a:spLocks noGrp="1"/>
          </p:cNvSpPr>
          <p:nvPr>
            <p:ph idx="1"/>
          </p:nvPr>
        </p:nvSpPr>
        <p:spPr>
          <a:xfrm>
            <a:off x="838200" y="1825625"/>
            <a:ext cx="10515600" cy="4351338"/>
          </a:xfrm>
        </p:spPr>
        <p:txBody>
          <a:bodyPr/>
          <a:lstStyle/>
          <a:p>
            <a:pPr marL="0" indent="0">
              <a:buNone/>
            </a:pPr>
            <a:r>
              <a:rPr lang="en-SG" dirty="0"/>
              <a:t>Screenshot and paste here the Site Speed data and information of your Wix Website. </a:t>
            </a:r>
          </a:p>
        </p:txBody>
      </p:sp>
      <p:pic>
        <p:nvPicPr>
          <p:cNvPr id="3" name="Picture 2">
            <a:extLst>
              <a:ext uri="{FF2B5EF4-FFF2-40B4-BE49-F238E27FC236}">
                <a16:creationId xmlns:a16="http://schemas.microsoft.com/office/drawing/2014/main" id="{B9B6AA67-427D-A12E-7570-52EA03E37C03}"/>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60764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EA298-030E-7D0D-03B0-1334D151E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E623B-430D-93CC-46BE-7CE96460DFFF}"/>
              </a:ext>
            </a:extLst>
          </p:cNvPr>
          <p:cNvSpPr>
            <a:spLocks noGrp="1"/>
          </p:cNvSpPr>
          <p:nvPr>
            <p:ph type="title"/>
          </p:nvPr>
        </p:nvSpPr>
        <p:spPr/>
        <p:txBody>
          <a:bodyPr/>
          <a:lstStyle/>
          <a:p>
            <a:r>
              <a:rPr lang="en-SG" b="1" dirty="0"/>
              <a:t>Question 17 </a:t>
            </a:r>
          </a:p>
        </p:txBody>
      </p:sp>
      <p:sp>
        <p:nvSpPr>
          <p:cNvPr id="4" name="Content Placeholder 2">
            <a:extLst>
              <a:ext uri="{FF2B5EF4-FFF2-40B4-BE49-F238E27FC236}">
                <a16:creationId xmlns:a16="http://schemas.microsoft.com/office/drawing/2014/main" id="{CA2354E7-C2C0-0907-F7B0-6E854EC1EEA7}"/>
              </a:ext>
            </a:extLst>
          </p:cNvPr>
          <p:cNvSpPr>
            <a:spLocks noGrp="1"/>
          </p:cNvSpPr>
          <p:nvPr>
            <p:ph idx="1"/>
          </p:nvPr>
        </p:nvSpPr>
        <p:spPr>
          <a:xfrm>
            <a:off x="838200" y="1825625"/>
            <a:ext cx="10515600" cy="4351338"/>
          </a:xfrm>
        </p:spPr>
        <p:txBody>
          <a:bodyPr/>
          <a:lstStyle/>
          <a:p>
            <a:pPr marL="0" indent="0">
              <a:buNone/>
            </a:pPr>
            <a:r>
              <a:rPr lang="en-SG" dirty="0"/>
              <a:t>Create an Email Marketing using the Template “Start a Promotion”. Use the AI Email Builder in Wix and send it to </a:t>
            </a:r>
            <a:r>
              <a:rPr lang="en-SG" dirty="0">
                <a:hlinkClick r:id="rId2"/>
              </a:rPr>
              <a:t>mackysportsapparel@gmail.com</a:t>
            </a:r>
            <a:r>
              <a:rPr lang="en-SG" dirty="0"/>
              <a:t>. Screenshot and paste here the newly created Email Marketing settings. </a:t>
            </a:r>
          </a:p>
        </p:txBody>
      </p:sp>
      <p:pic>
        <p:nvPicPr>
          <p:cNvPr id="3" name="Picture 2">
            <a:extLst>
              <a:ext uri="{FF2B5EF4-FFF2-40B4-BE49-F238E27FC236}">
                <a16:creationId xmlns:a16="http://schemas.microsoft.com/office/drawing/2014/main" id="{4A23469A-0363-0FF5-80E3-8AF1499E295B}"/>
              </a:ext>
            </a:extLst>
          </p:cNvPr>
          <p:cNvPicPr>
            <a:picLocks noChangeAspect="1"/>
          </p:cNvPicPr>
          <p:nvPr/>
        </p:nvPicPr>
        <p:blipFill rotWithShape="1">
          <a:blip r:embed="rId3"/>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064074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12135-8270-5565-ADDA-5F236C32D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EAC7E-FD31-4D7C-B523-034A49F81126}"/>
              </a:ext>
            </a:extLst>
          </p:cNvPr>
          <p:cNvSpPr>
            <a:spLocks noGrp="1"/>
          </p:cNvSpPr>
          <p:nvPr>
            <p:ph type="title"/>
          </p:nvPr>
        </p:nvSpPr>
        <p:spPr/>
        <p:txBody>
          <a:bodyPr/>
          <a:lstStyle/>
          <a:p>
            <a:r>
              <a:rPr lang="en-SG" b="1" dirty="0"/>
              <a:t>Question 18 </a:t>
            </a:r>
          </a:p>
        </p:txBody>
      </p:sp>
      <p:sp>
        <p:nvSpPr>
          <p:cNvPr id="4" name="Content Placeholder 2">
            <a:extLst>
              <a:ext uri="{FF2B5EF4-FFF2-40B4-BE49-F238E27FC236}">
                <a16:creationId xmlns:a16="http://schemas.microsoft.com/office/drawing/2014/main" id="{6E4C5738-E1E6-ACFD-0AE7-06F8013BAF2E}"/>
              </a:ext>
            </a:extLst>
          </p:cNvPr>
          <p:cNvSpPr>
            <a:spLocks noGrp="1"/>
          </p:cNvSpPr>
          <p:nvPr>
            <p:ph idx="1"/>
          </p:nvPr>
        </p:nvSpPr>
        <p:spPr>
          <a:xfrm>
            <a:off x="838200" y="1825625"/>
            <a:ext cx="10515600" cy="4351338"/>
          </a:xfrm>
        </p:spPr>
        <p:txBody>
          <a:bodyPr/>
          <a:lstStyle/>
          <a:p>
            <a:pPr marL="0" indent="0">
              <a:buNone/>
            </a:pPr>
            <a:r>
              <a:rPr lang="en-SG" dirty="0"/>
              <a:t>Set-up a “Cash Payment” manual payment in your Wix store. Screenshot and paste here the manual payment settings.</a:t>
            </a:r>
          </a:p>
        </p:txBody>
      </p:sp>
      <p:pic>
        <p:nvPicPr>
          <p:cNvPr id="3" name="Picture 2">
            <a:extLst>
              <a:ext uri="{FF2B5EF4-FFF2-40B4-BE49-F238E27FC236}">
                <a16:creationId xmlns:a16="http://schemas.microsoft.com/office/drawing/2014/main" id="{B7E9681E-0773-2949-3A32-68749D7A63DA}"/>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5845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FF798-F3C3-1D3A-84DA-223CDF906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B3528-FC00-6F72-2871-2D60F47FE93D}"/>
              </a:ext>
            </a:extLst>
          </p:cNvPr>
          <p:cNvSpPr>
            <a:spLocks noGrp="1"/>
          </p:cNvSpPr>
          <p:nvPr>
            <p:ph type="title"/>
          </p:nvPr>
        </p:nvSpPr>
        <p:spPr/>
        <p:txBody>
          <a:bodyPr/>
          <a:lstStyle/>
          <a:p>
            <a:r>
              <a:rPr lang="en-SG" b="1" dirty="0"/>
              <a:t>Question 19 </a:t>
            </a:r>
          </a:p>
        </p:txBody>
      </p:sp>
      <p:sp>
        <p:nvSpPr>
          <p:cNvPr id="4" name="Content Placeholder 2">
            <a:extLst>
              <a:ext uri="{FF2B5EF4-FFF2-40B4-BE49-F238E27FC236}">
                <a16:creationId xmlns:a16="http://schemas.microsoft.com/office/drawing/2014/main" id="{9B7595BB-27B0-1A9C-0F21-0E1A5410E0BF}"/>
              </a:ext>
            </a:extLst>
          </p:cNvPr>
          <p:cNvSpPr>
            <a:spLocks noGrp="1"/>
          </p:cNvSpPr>
          <p:nvPr>
            <p:ph idx="1"/>
          </p:nvPr>
        </p:nvSpPr>
        <p:spPr>
          <a:xfrm>
            <a:off x="838200" y="1825625"/>
            <a:ext cx="10515600" cy="4351338"/>
          </a:xfrm>
        </p:spPr>
        <p:txBody>
          <a:bodyPr/>
          <a:lstStyle/>
          <a:p>
            <a:pPr marL="0" indent="0">
              <a:buNone/>
            </a:pPr>
            <a:r>
              <a:rPr lang="en-SG" dirty="0"/>
              <a:t>In your Customers &amp; Leads, create a new Form and name it as “My Inquiry” with the fields FirstName, LastName, Email, Phone and Long Answer fields with Submit button. Screenshot and paste here the newly created Form. </a:t>
            </a:r>
          </a:p>
        </p:txBody>
      </p:sp>
      <p:pic>
        <p:nvPicPr>
          <p:cNvPr id="3" name="Picture 2">
            <a:extLst>
              <a:ext uri="{FF2B5EF4-FFF2-40B4-BE49-F238E27FC236}">
                <a16:creationId xmlns:a16="http://schemas.microsoft.com/office/drawing/2014/main" id="{B2D9B71F-D3B7-2C9D-C023-5A4D3CBD8B38}"/>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192522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12E9E-4E85-C9A7-2D40-CCB9DBC549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309E8-B678-B2A7-42A6-AE68E587E0E3}"/>
              </a:ext>
            </a:extLst>
          </p:cNvPr>
          <p:cNvSpPr>
            <a:spLocks noGrp="1"/>
          </p:cNvSpPr>
          <p:nvPr>
            <p:ph type="title"/>
          </p:nvPr>
        </p:nvSpPr>
        <p:spPr>
          <a:xfrm>
            <a:off x="838200" y="330401"/>
            <a:ext cx="10515600" cy="1325563"/>
          </a:xfrm>
        </p:spPr>
        <p:txBody>
          <a:bodyPr/>
          <a:lstStyle/>
          <a:p>
            <a:pPr algn="ctr"/>
            <a:r>
              <a:rPr lang="en-SG" dirty="0"/>
              <a:t>WordPress Questions (30 Marks) </a:t>
            </a:r>
          </a:p>
        </p:txBody>
      </p:sp>
      <p:sp>
        <p:nvSpPr>
          <p:cNvPr id="4" name="Title 1">
            <a:extLst>
              <a:ext uri="{FF2B5EF4-FFF2-40B4-BE49-F238E27FC236}">
                <a16:creationId xmlns:a16="http://schemas.microsoft.com/office/drawing/2014/main" id="{1305125E-094B-9853-08D9-0364F7C7DA1A}"/>
              </a:ext>
            </a:extLst>
          </p:cNvPr>
          <p:cNvSpPr txBox="1">
            <a:spLocks/>
          </p:cNvSpPr>
          <p:nvPr/>
        </p:nvSpPr>
        <p:spPr>
          <a:xfrm>
            <a:off x="1071622" y="114255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Marking Rubrics:</a:t>
            </a:r>
          </a:p>
        </p:txBody>
      </p:sp>
      <p:graphicFrame>
        <p:nvGraphicFramePr>
          <p:cNvPr id="6" name="Table 5">
            <a:extLst>
              <a:ext uri="{FF2B5EF4-FFF2-40B4-BE49-F238E27FC236}">
                <a16:creationId xmlns:a16="http://schemas.microsoft.com/office/drawing/2014/main" id="{256BEBF3-6317-BF28-4AE6-12B946281A13}"/>
              </a:ext>
            </a:extLst>
          </p:cNvPr>
          <p:cNvGraphicFramePr>
            <a:graphicFrameLocks noGrp="1"/>
          </p:cNvGraphicFramePr>
          <p:nvPr>
            <p:extLst>
              <p:ext uri="{D42A27DB-BD31-4B8C-83A1-F6EECF244321}">
                <p14:modId xmlns:p14="http://schemas.microsoft.com/office/powerpoint/2010/main" val="1540245515"/>
              </p:ext>
            </p:extLst>
          </p:nvPr>
        </p:nvGraphicFramePr>
        <p:xfrm>
          <a:off x="1175794" y="2215640"/>
          <a:ext cx="10411428" cy="4516120"/>
        </p:xfrm>
        <a:graphic>
          <a:graphicData uri="http://schemas.openxmlformats.org/drawingml/2006/table">
            <a:tbl>
              <a:tblPr firstRow="1" bandRow="1">
                <a:tableStyleId>{5C22544A-7EE6-4342-B048-85BDC9FD1C3A}</a:tableStyleId>
              </a:tblPr>
              <a:tblGrid>
                <a:gridCol w="1903958">
                  <a:extLst>
                    <a:ext uri="{9D8B030D-6E8A-4147-A177-3AD203B41FA5}">
                      <a16:colId xmlns:a16="http://schemas.microsoft.com/office/drawing/2014/main" val="1800813412"/>
                    </a:ext>
                  </a:extLst>
                </a:gridCol>
                <a:gridCol w="7057368">
                  <a:extLst>
                    <a:ext uri="{9D8B030D-6E8A-4147-A177-3AD203B41FA5}">
                      <a16:colId xmlns:a16="http://schemas.microsoft.com/office/drawing/2014/main" val="4080650455"/>
                    </a:ext>
                  </a:extLst>
                </a:gridCol>
                <a:gridCol w="1450102">
                  <a:extLst>
                    <a:ext uri="{9D8B030D-6E8A-4147-A177-3AD203B41FA5}">
                      <a16:colId xmlns:a16="http://schemas.microsoft.com/office/drawing/2014/main" val="2770320181"/>
                    </a:ext>
                  </a:extLst>
                </a:gridCol>
              </a:tblGrid>
              <a:tr h="370840">
                <a:tc>
                  <a:txBody>
                    <a:bodyPr/>
                    <a:lstStyle/>
                    <a:p>
                      <a:r>
                        <a:rPr lang="en-SG" dirty="0"/>
                        <a:t>Question #</a:t>
                      </a:r>
                    </a:p>
                  </a:txBody>
                  <a:tcPr/>
                </a:tc>
                <a:tc>
                  <a:txBody>
                    <a:bodyPr/>
                    <a:lstStyle/>
                    <a:p>
                      <a:r>
                        <a:rPr lang="en-SG" dirty="0"/>
                        <a:t>Requirements</a:t>
                      </a:r>
                    </a:p>
                  </a:txBody>
                  <a:tcPr/>
                </a:tc>
                <a:tc>
                  <a:txBody>
                    <a:bodyPr/>
                    <a:lstStyle/>
                    <a:p>
                      <a:pPr algn="ctr"/>
                      <a:r>
                        <a:rPr lang="en-SG" dirty="0"/>
                        <a:t>Marks</a:t>
                      </a:r>
                    </a:p>
                  </a:txBody>
                  <a:tcPr/>
                </a:tc>
                <a:extLst>
                  <a:ext uri="{0D108BD9-81ED-4DB2-BD59-A6C34878D82A}">
                    <a16:rowId xmlns:a16="http://schemas.microsoft.com/office/drawing/2014/main" val="3814175881"/>
                  </a:ext>
                </a:extLst>
              </a:tr>
              <a:tr h="370840">
                <a:tc>
                  <a:txBody>
                    <a:bodyPr/>
                    <a:lstStyle/>
                    <a:p>
                      <a:r>
                        <a:rPr lang="en-SG" dirty="0"/>
                        <a:t>Question 20</a:t>
                      </a:r>
                    </a:p>
                  </a:txBody>
                  <a:tcPr/>
                </a:tc>
                <a:tc>
                  <a:txBody>
                    <a:bodyPr/>
                    <a:lstStyle/>
                    <a:p>
                      <a:r>
                        <a:rPr lang="en-SG" dirty="0"/>
                        <a:t>Screenshot the current statistics of your WordPress website</a:t>
                      </a:r>
                    </a:p>
                  </a:txBody>
                  <a:tcPr/>
                </a:tc>
                <a:tc>
                  <a:txBody>
                    <a:bodyPr/>
                    <a:lstStyle/>
                    <a:p>
                      <a:pPr algn="ctr"/>
                      <a:r>
                        <a:rPr lang="en-SG" dirty="0"/>
                        <a:t>3</a:t>
                      </a:r>
                    </a:p>
                  </a:txBody>
                  <a:tcPr/>
                </a:tc>
                <a:extLst>
                  <a:ext uri="{0D108BD9-81ED-4DB2-BD59-A6C34878D82A}">
                    <a16:rowId xmlns:a16="http://schemas.microsoft.com/office/drawing/2014/main" val="1740075226"/>
                  </a:ext>
                </a:extLst>
              </a:tr>
              <a:tr h="370840">
                <a:tc>
                  <a:txBody>
                    <a:bodyPr/>
                    <a:lstStyle/>
                    <a:p>
                      <a:r>
                        <a:rPr lang="en-SG" dirty="0"/>
                        <a:t>Question 21</a:t>
                      </a:r>
                    </a:p>
                  </a:txBody>
                  <a:tcPr/>
                </a:tc>
                <a:tc>
                  <a:txBody>
                    <a:bodyPr/>
                    <a:lstStyle/>
                    <a:p>
                      <a:r>
                        <a:rPr lang="en-SG" dirty="0"/>
                        <a:t>Created a Registration Form using the JetPack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620873852"/>
                  </a:ext>
                </a:extLst>
              </a:tr>
              <a:tr h="370840">
                <a:tc>
                  <a:txBody>
                    <a:bodyPr/>
                    <a:lstStyle/>
                    <a:p>
                      <a:r>
                        <a:rPr lang="en-SG" dirty="0"/>
                        <a:t>Question 22</a:t>
                      </a:r>
                    </a:p>
                  </a:txBody>
                  <a:tcPr/>
                </a:tc>
                <a:tc>
                  <a:txBody>
                    <a:bodyPr/>
                    <a:lstStyle/>
                    <a:p>
                      <a:r>
                        <a:rPr lang="en-SG" dirty="0"/>
                        <a:t>Created a new Post on the topic “Reduce, Reuse, Recycle” and add it under the Category Blog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2894768120"/>
                  </a:ext>
                </a:extLst>
              </a:tr>
              <a:tr h="370840">
                <a:tc>
                  <a:txBody>
                    <a:bodyPr/>
                    <a:lstStyle/>
                    <a:p>
                      <a:r>
                        <a:rPr lang="en-SG" dirty="0"/>
                        <a:t>Question 23</a:t>
                      </a:r>
                    </a:p>
                  </a:txBody>
                  <a:tcPr/>
                </a:tc>
                <a:tc>
                  <a:txBody>
                    <a:bodyPr/>
                    <a:lstStyle/>
                    <a:p>
                      <a:r>
                        <a:rPr lang="en-SG" dirty="0"/>
                        <a:t>Selected a new color palette for the WordPress website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7588427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Question 24</a:t>
                      </a:r>
                    </a:p>
                  </a:txBody>
                  <a:tcPr/>
                </a:tc>
                <a:tc>
                  <a:txBody>
                    <a:bodyPr/>
                    <a:lstStyle/>
                    <a:p>
                      <a:r>
                        <a:rPr lang="en-SG" dirty="0"/>
                        <a:t>Created a new Testimonial Page and add two blocks (Review 2, Testimonial Submission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019941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Question 25</a:t>
                      </a:r>
                    </a:p>
                  </a:txBody>
                  <a:tcPr/>
                </a:tc>
                <a:tc>
                  <a:txBody>
                    <a:bodyPr/>
                    <a:lstStyle/>
                    <a:p>
                      <a:r>
                        <a:rPr lang="en-SG" dirty="0"/>
                        <a:t>Imported three product images inside Media using “Pexels free Photo”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9508864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Question 26</a:t>
                      </a:r>
                    </a:p>
                  </a:txBody>
                  <a:tcPr/>
                </a:tc>
                <a:tc>
                  <a:txBody>
                    <a:bodyPr/>
                    <a:lstStyle/>
                    <a:p>
                      <a:r>
                        <a:rPr lang="en-SG" dirty="0"/>
                        <a:t>Added an icon into the WordPress website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3266370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Question 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Screenshot three (3) plugins that are necessary for any WordPress E-commerce websites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2592081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Question 28</a:t>
                      </a:r>
                    </a:p>
                  </a:txBody>
                  <a:tcPr/>
                </a:tc>
                <a:tc>
                  <a:txBody>
                    <a:bodyPr/>
                    <a:lstStyle/>
                    <a:p>
                      <a:r>
                        <a:rPr lang="en-SG" dirty="0"/>
                        <a:t>Created a menu and name it as “Primary Menu – Ecommerce”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6</a:t>
                      </a:r>
                    </a:p>
                  </a:txBody>
                  <a:tcPr/>
                </a:tc>
                <a:extLst>
                  <a:ext uri="{0D108BD9-81ED-4DB2-BD59-A6C34878D82A}">
                    <a16:rowId xmlns:a16="http://schemas.microsoft.com/office/drawing/2014/main" val="799691059"/>
                  </a:ext>
                </a:extLst>
              </a:tr>
            </a:tbl>
          </a:graphicData>
        </a:graphic>
      </p:graphicFrame>
    </p:spTree>
    <p:extLst>
      <p:ext uri="{BB962C8B-B14F-4D97-AF65-F5344CB8AC3E}">
        <p14:creationId xmlns:p14="http://schemas.microsoft.com/office/powerpoint/2010/main" val="1292448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CA480-8555-BA70-92CB-A88A1466E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C5868-ED4F-3405-2BB3-6B4D94956C47}"/>
              </a:ext>
            </a:extLst>
          </p:cNvPr>
          <p:cNvSpPr>
            <a:spLocks noGrp="1"/>
          </p:cNvSpPr>
          <p:nvPr>
            <p:ph type="title"/>
          </p:nvPr>
        </p:nvSpPr>
        <p:spPr/>
        <p:txBody>
          <a:bodyPr/>
          <a:lstStyle/>
          <a:p>
            <a:r>
              <a:rPr lang="en-SG" b="1" dirty="0"/>
              <a:t>Question 20 </a:t>
            </a:r>
          </a:p>
        </p:txBody>
      </p:sp>
      <p:sp>
        <p:nvSpPr>
          <p:cNvPr id="4" name="Content Placeholder 2">
            <a:extLst>
              <a:ext uri="{FF2B5EF4-FFF2-40B4-BE49-F238E27FC236}">
                <a16:creationId xmlns:a16="http://schemas.microsoft.com/office/drawing/2014/main" id="{3506D611-1964-7703-DB18-D38AC061EBE3}"/>
              </a:ext>
            </a:extLst>
          </p:cNvPr>
          <p:cNvSpPr>
            <a:spLocks noGrp="1"/>
          </p:cNvSpPr>
          <p:nvPr>
            <p:ph idx="1"/>
          </p:nvPr>
        </p:nvSpPr>
        <p:spPr>
          <a:xfrm>
            <a:off x="838200" y="1825625"/>
            <a:ext cx="10515600" cy="4351338"/>
          </a:xfrm>
        </p:spPr>
        <p:txBody>
          <a:bodyPr/>
          <a:lstStyle/>
          <a:p>
            <a:pPr marL="0" indent="0">
              <a:buNone/>
            </a:pPr>
            <a:r>
              <a:rPr lang="en-SG" dirty="0"/>
              <a:t>Screenshot and paste here the current statistics of your WordPress website. </a:t>
            </a:r>
            <a:endParaRPr lang="en-SG" i="1" dirty="0"/>
          </a:p>
        </p:txBody>
      </p:sp>
      <p:pic>
        <p:nvPicPr>
          <p:cNvPr id="3" name="Picture 2">
            <a:extLst>
              <a:ext uri="{FF2B5EF4-FFF2-40B4-BE49-F238E27FC236}">
                <a16:creationId xmlns:a16="http://schemas.microsoft.com/office/drawing/2014/main" id="{A1D3CEC2-9E00-2A6C-AE7D-34F1DF4D1877}"/>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225217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77BC-4407-0049-AB16-4F85122D8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7AD78-2EBE-46B0-E256-ED596892F919}"/>
              </a:ext>
            </a:extLst>
          </p:cNvPr>
          <p:cNvSpPr>
            <a:spLocks noGrp="1"/>
          </p:cNvSpPr>
          <p:nvPr>
            <p:ph type="title"/>
          </p:nvPr>
        </p:nvSpPr>
        <p:spPr/>
        <p:txBody>
          <a:bodyPr/>
          <a:lstStyle/>
          <a:p>
            <a:r>
              <a:rPr lang="en-SG" b="1" dirty="0"/>
              <a:t>Question 21 </a:t>
            </a:r>
          </a:p>
        </p:txBody>
      </p:sp>
      <p:sp>
        <p:nvSpPr>
          <p:cNvPr id="4" name="Content Placeholder 2">
            <a:extLst>
              <a:ext uri="{FF2B5EF4-FFF2-40B4-BE49-F238E27FC236}">
                <a16:creationId xmlns:a16="http://schemas.microsoft.com/office/drawing/2014/main" id="{3AC574E8-8702-FC65-6536-ED5C51D3F525}"/>
              </a:ext>
            </a:extLst>
          </p:cNvPr>
          <p:cNvSpPr>
            <a:spLocks noGrp="1"/>
          </p:cNvSpPr>
          <p:nvPr>
            <p:ph idx="1"/>
          </p:nvPr>
        </p:nvSpPr>
        <p:spPr>
          <a:xfrm>
            <a:off x="838200" y="1825625"/>
            <a:ext cx="10515600" cy="4351338"/>
          </a:xfrm>
        </p:spPr>
        <p:txBody>
          <a:bodyPr/>
          <a:lstStyle/>
          <a:p>
            <a:pPr marL="0" indent="0">
              <a:buNone/>
            </a:pPr>
            <a:r>
              <a:rPr lang="en-SG" dirty="0"/>
              <a:t>In your Jetpack Form, create a new Registration Form and then publish it. Screenshot and paste here the newly created Registration Form. </a:t>
            </a:r>
            <a:endParaRPr lang="en-SG" i="1" dirty="0"/>
          </a:p>
        </p:txBody>
      </p:sp>
      <p:pic>
        <p:nvPicPr>
          <p:cNvPr id="3" name="Picture 2">
            <a:extLst>
              <a:ext uri="{FF2B5EF4-FFF2-40B4-BE49-F238E27FC236}">
                <a16:creationId xmlns:a16="http://schemas.microsoft.com/office/drawing/2014/main" id="{99E4B4F8-10E3-CBEF-6DB0-CD3B968AD79C}"/>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687471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0F43A-418D-2584-F3FE-FFD6C554C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5BEFC-BBFD-F190-E9E6-EF974120CE24}"/>
              </a:ext>
            </a:extLst>
          </p:cNvPr>
          <p:cNvSpPr>
            <a:spLocks noGrp="1"/>
          </p:cNvSpPr>
          <p:nvPr>
            <p:ph type="title"/>
          </p:nvPr>
        </p:nvSpPr>
        <p:spPr/>
        <p:txBody>
          <a:bodyPr/>
          <a:lstStyle/>
          <a:p>
            <a:r>
              <a:rPr lang="en-SG" b="1" dirty="0"/>
              <a:t>Question 22 </a:t>
            </a:r>
          </a:p>
        </p:txBody>
      </p:sp>
      <p:sp>
        <p:nvSpPr>
          <p:cNvPr id="4" name="Content Placeholder 2">
            <a:extLst>
              <a:ext uri="{FF2B5EF4-FFF2-40B4-BE49-F238E27FC236}">
                <a16:creationId xmlns:a16="http://schemas.microsoft.com/office/drawing/2014/main" id="{7B084F3F-20F8-8AE6-FB73-D80AC76615F1}"/>
              </a:ext>
            </a:extLst>
          </p:cNvPr>
          <p:cNvSpPr>
            <a:spLocks noGrp="1"/>
          </p:cNvSpPr>
          <p:nvPr>
            <p:ph idx="1"/>
          </p:nvPr>
        </p:nvSpPr>
        <p:spPr>
          <a:xfrm>
            <a:off x="838200" y="1825625"/>
            <a:ext cx="10515600" cy="4351338"/>
          </a:xfrm>
        </p:spPr>
        <p:txBody>
          <a:bodyPr/>
          <a:lstStyle/>
          <a:p>
            <a:pPr marL="0" indent="0">
              <a:buNone/>
            </a:pPr>
            <a:r>
              <a:rPr lang="en-SG" dirty="0"/>
              <a:t>Add a new Post about your company’s efforts to Reduce, Reuse and Recycle and then add this Post in the “Blog” category. Screenshot and paste here the newly created Post. Note: You can decide on your contents and make it simple, clear and short. </a:t>
            </a:r>
            <a:endParaRPr lang="en-SG" i="1" dirty="0"/>
          </a:p>
        </p:txBody>
      </p:sp>
      <p:pic>
        <p:nvPicPr>
          <p:cNvPr id="3" name="Picture 2">
            <a:extLst>
              <a:ext uri="{FF2B5EF4-FFF2-40B4-BE49-F238E27FC236}">
                <a16:creationId xmlns:a16="http://schemas.microsoft.com/office/drawing/2014/main" id="{7EBAAF49-FDF5-74D5-40C9-26065A939F32}"/>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921276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A2F3F-D20B-A238-1EA6-5EC6702B7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A209F-D185-7C59-4018-3F1431040510}"/>
              </a:ext>
            </a:extLst>
          </p:cNvPr>
          <p:cNvSpPr>
            <a:spLocks noGrp="1"/>
          </p:cNvSpPr>
          <p:nvPr>
            <p:ph type="title"/>
          </p:nvPr>
        </p:nvSpPr>
        <p:spPr/>
        <p:txBody>
          <a:bodyPr/>
          <a:lstStyle/>
          <a:p>
            <a:r>
              <a:rPr lang="en-SG" b="1" dirty="0"/>
              <a:t>Question 23 </a:t>
            </a:r>
          </a:p>
        </p:txBody>
      </p:sp>
      <p:sp>
        <p:nvSpPr>
          <p:cNvPr id="4" name="Content Placeholder 2">
            <a:extLst>
              <a:ext uri="{FF2B5EF4-FFF2-40B4-BE49-F238E27FC236}">
                <a16:creationId xmlns:a16="http://schemas.microsoft.com/office/drawing/2014/main" id="{8B8C3E63-56F8-57E4-5EBF-990C6AF6675A}"/>
              </a:ext>
            </a:extLst>
          </p:cNvPr>
          <p:cNvSpPr>
            <a:spLocks noGrp="1"/>
          </p:cNvSpPr>
          <p:nvPr>
            <p:ph idx="1"/>
          </p:nvPr>
        </p:nvSpPr>
        <p:spPr>
          <a:xfrm>
            <a:off x="838200" y="1825625"/>
            <a:ext cx="10515600" cy="4351338"/>
          </a:xfrm>
        </p:spPr>
        <p:txBody>
          <a:bodyPr/>
          <a:lstStyle/>
          <a:p>
            <a:pPr marL="0" indent="0">
              <a:buNone/>
            </a:pPr>
            <a:r>
              <a:rPr lang="en-SG" dirty="0"/>
              <a:t>Select a new Color Palette for your WordPress website. Screenshot and paste here the newly selected color palette for your website.</a:t>
            </a:r>
          </a:p>
        </p:txBody>
      </p:sp>
      <p:pic>
        <p:nvPicPr>
          <p:cNvPr id="3" name="Picture 2">
            <a:extLst>
              <a:ext uri="{FF2B5EF4-FFF2-40B4-BE49-F238E27FC236}">
                <a16:creationId xmlns:a16="http://schemas.microsoft.com/office/drawing/2014/main" id="{06D8C707-944C-B8ED-D758-4A93E02FA35B}"/>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972635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235E1-810E-6757-5098-AB415148E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B07D1-D6F5-8220-15D1-F0F1B96D5B06}"/>
              </a:ext>
            </a:extLst>
          </p:cNvPr>
          <p:cNvSpPr>
            <a:spLocks noGrp="1"/>
          </p:cNvSpPr>
          <p:nvPr>
            <p:ph type="title"/>
          </p:nvPr>
        </p:nvSpPr>
        <p:spPr/>
        <p:txBody>
          <a:bodyPr/>
          <a:lstStyle/>
          <a:p>
            <a:r>
              <a:rPr lang="en-SG" b="1" dirty="0"/>
              <a:t>Question 24 </a:t>
            </a:r>
          </a:p>
        </p:txBody>
      </p:sp>
      <p:sp>
        <p:nvSpPr>
          <p:cNvPr id="4" name="Content Placeholder 2">
            <a:extLst>
              <a:ext uri="{FF2B5EF4-FFF2-40B4-BE49-F238E27FC236}">
                <a16:creationId xmlns:a16="http://schemas.microsoft.com/office/drawing/2014/main" id="{F1E07205-59BD-4930-B6F9-CD30B802395E}"/>
              </a:ext>
            </a:extLst>
          </p:cNvPr>
          <p:cNvSpPr>
            <a:spLocks noGrp="1"/>
          </p:cNvSpPr>
          <p:nvPr>
            <p:ph idx="1"/>
          </p:nvPr>
        </p:nvSpPr>
        <p:spPr>
          <a:xfrm>
            <a:off x="838200" y="1825625"/>
            <a:ext cx="10515600" cy="4351338"/>
          </a:xfrm>
        </p:spPr>
        <p:txBody>
          <a:bodyPr/>
          <a:lstStyle/>
          <a:p>
            <a:pPr marL="0" indent="0">
              <a:buNone/>
            </a:pPr>
            <a:r>
              <a:rPr lang="en-SG" dirty="0"/>
              <a:t>Add a new Testimonial and Rating Page in your WordPress Website. In your Testimonial Page, add a “Review 2” block and “Testimonial submission 1” block. Screenshot and paste here the newly created page with the two blocks contents.</a:t>
            </a:r>
          </a:p>
        </p:txBody>
      </p:sp>
      <p:pic>
        <p:nvPicPr>
          <p:cNvPr id="3" name="Picture 2">
            <a:extLst>
              <a:ext uri="{FF2B5EF4-FFF2-40B4-BE49-F238E27FC236}">
                <a16:creationId xmlns:a16="http://schemas.microsoft.com/office/drawing/2014/main" id="{313B61BA-558E-4C4C-6D1F-953FA3B20223}"/>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4884899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53C3E-35D1-EFB5-7E1B-E3EF8B9A7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2C168-E8E6-E4BA-92DD-819F069408DD}"/>
              </a:ext>
            </a:extLst>
          </p:cNvPr>
          <p:cNvSpPr>
            <a:spLocks noGrp="1"/>
          </p:cNvSpPr>
          <p:nvPr>
            <p:ph type="title"/>
          </p:nvPr>
        </p:nvSpPr>
        <p:spPr/>
        <p:txBody>
          <a:bodyPr/>
          <a:lstStyle/>
          <a:p>
            <a:r>
              <a:rPr lang="en-SG" b="1" dirty="0"/>
              <a:t>Question 25 </a:t>
            </a:r>
          </a:p>
        </p:txBody>
      </p:sp>
      <p:sp>
        <p:nvSpPr>
          <p:cNvPr id="4" name="Content Placeholder 2">
            <a:extLst>
              <a:ext uri="{FF2B5EF4-FFF2-40B4-BE49-F238E27FC236}">
                <a16:creationId xmlns:a16="http://schemas.microsoft.com/office/drawing/2014/main" id="{FCBC02A0-ABBB-CF2D-5EF0-6214222EF7EB}"/>
              </a:ext>
            </a:extLst>
          </p:cNvPr>
          <p:cNvSpPr>
            <a:spLocks noGrp="1"/>
          </p:cNvSpPr>
          <p:nvPr>
            <p:ph idx="1"/>
          </p:nvPr>
        </p:nvSpPr>
        <p:spPr>
          <a:xfrm>
            <a:off x="838200" y="1825625"/>
            <a:ext cx="10515600" cy="4351338"/>
          </a:xfrm>
        </p:spPr>
        <p:txBody>
          <a:bodyPr/>
          <a:lstStyle/>
          <a:p>
            <a:pPr marL="0" indent="0">
              <a:buNone/>
            </a:pPr>
            <a:r>
              <a:rPr lang="en-SG" dirty="0"/>
              <a:t>In your Media Library, import three(3) images using “Pexels Free Photo” related to your products and services. Screenshot and paste here your Media Library with the 3 imported images.</a:t>
            </a:r>
          </a:p>
        </p:txBody>
      </p:sp>
      <p:pic>
        <p:nvPicPr>
          <p:cNvPr id="3" name="Picture 2">
            <a:extLst>
              <a:ext uri="{FF2B5EF4-FFF2-40B4-BE49-F238E27FC236}">
                <a16:creationId xmlns:a16="http://schemas.microsoft.com/office/drawing/2014/main" id="{9957EAFF-B507-97A1-36AE-D6F3B089F73A}"/>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859679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29BD-6E97-48D4-357A-A8EB6C24E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F91AE-1BE9-27BF-4C1B-6154CA234BA2}"/>
              </a:ext>
            </a:extLst>
          </p:cNvPr>
          <p:cNvSpPr>
            <a:spLocks noGrp="1"/>
          </p:cNvSpPr>
          <p:nvPr>
            <p:ph type="title"/>
          </p:nvPr>
        </p:nvSpPr>
        <p:spPr/>
        <p:txBody>
          <a:bodyPr/>
          <a:lstStyle/>
          <a:p>
            <a:r>
              <a:rPr lang="en-SG" b="1" dirty="0"/>
              <a:t>Question 26 </a:t>
            </a:r>
          </a:p>
        </p:txBody>
      </p:sp>
      <p:sp>
        <p:nvSpPr>
          <p:cNvPr id="4" name="Content Placeholder 2">
            <a:extLst>
              <a:ext uri="{FF2B5EF4-FFF2-40B4-BE49-F238E27FC236}">
                <a16:creationId xmlns:a16="http://schemas.microsoft.com/office/drawing/2014/main" id="{2DBEE16E-D05D-7B56-4BC5-815A3F6E0BDD}"/>
              </a:ext>
            </a:extLst>
          </p:cNvPr>
          <p:cNvSpPr>
            <a:spLocks noGrp="1"/>
          </p:cNvSpPr>
          <p:nvPr>
            <p:ph idx="1"/>
          </p:nvPr>
        </p:nvSpPr>
        <p:spPr>
          <a:xfrm>
            <a:off x="838200" y="1825625"/>
            <a:ext cx="10515600" cy="4351338"/>
          </a:xfrm>
        </p:spPr>
        <p:txBody>
          <a:bodyPr/>
          <a:lstStyle/>
          <a:p>
            <a:pPr marL="0" indent="0">
              <a:buNone/>
            </a:pPr>
            <a:r>
              <a:rPr lang="en-SG" dirty="0"/>
              <a:t>Add a site icon. You can use any images and/or icon file. Screenshot and paste here the newly added icon in your WordPress website</a:t>
            </a:r>
          </a:p>
        </p:txBody>
      </p:sp>
      <p:pic>
        <p:nvPicPr>
          <p:cNvPr id="3" name="Picture 2">
            <a:extLst>
              <a:ext uri="{FF2B5EF4-FFF2-40B4-BE49-F238E27FC236}">
                <a16:creationId xmlns:a16="http://schemas.microsoft.com/office/drawing/2014/main" id="{8D3B724C-A9FC-A991-8AB6-6CC7AFD54F1F}"/>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673528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8947A-067A-3C38-B3B1-6D18B469C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5A4DC-D9BD-56D9-8836-36E9D587429E}"/>
              </a:ext>
            </a:extLst>
          </p:cNvPr>
          <p:cNvSpPr>
            <a:spLocks noGrp="1"/>
          </p:cNvSpPr>
          <p:nvPr>
            <p:ph type="title"/>
          </p:nvPr>
        </p:nvSpPr>
        <p:spPr/>
        <p:txBody>
          <a:bodyPr/>
          <a:lstStyle/>
          <a:p>
            <a:r>
              <a:rPr lang="en-SG" b="1" dirty="0"/>
              <a:t>Question 27 </a:t>
            </a:r>
          </a:p>
        </p:txBody>
      </p:sp>
      <p:sp>
        <p:nvSpPr>
          <p:cNvPr id="4" name="Content Placeholder 2">
            <a:extLst>
              <a:ext uri="{FF2B5EF4-FFF2-40B4-BE49-F238E27FC236}">
                <a16:creationId xmlns:a16="http://schemas.microsoft.com/office/drawing/2014/main" id="{BDBE9E77-8206-3A76-7BAC-494908835FE5}"/>
              </a:ext>
            </a:extLst>
          </p:cNvPr>
          <p:cNvSpPr>
            <a:spLocks noGrp="1"/>
          </p:cNvSpPr>
          <p:nvPr>
            <p:ph idx="1"/>
          </p:nvPr>
        </p:nvSpPr>
        <p:spPr>
          <a:xfrm>
            <a:off x="838200" y="1825625"/>
            <a:ext cx="10515600" cy="4351338"/>
          </a:xfrm>
        </p:spPr>
        <p:txBody>
          <a:bodyPr/>
          <a:lstStyle/>
          <a:p>
            <a:pPr marL="0" indent="0">
              <a:buNone/>
            </a:pPr>
            <a:r>
              <a:rPr lang="en-SG" dirty="0"/>
              <a:t>Search and select three (3) relevant or necessary plugins for any WordPress E-commerce websites. Screenshot and paste here the selected three (3) plugins.</a:t>
            </a:r>
          </a:p>
        </p:txBody>
      </p:sp>
      <p:pic>
        <p:nvPicPr>
          <p:cNvPr id="3" name="Picture 2">
            <a:extLst>
              <a:ext uri="{FF2B5EF4-FFF2-40B4-BE49-F238E27FC236}">
                <a16:creationId xmlns:a16="http://schemas.microsoft.com/office/drawing/2014/main" id="{F98C6FAD-BF3E-9497-CFA5-94E09D73E162}"/>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4165062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60E6E-62CD-B38D-3495-6690FECD8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9140-71B0-1A34-BC03-3009B27A4EE4}"/>
              </a:ext>
            </a:extLst>
          </p:cNvPr>
          <p:cNvSpPr>
            <a:spLocks noGrp="1"/>
          </p:cNvSpPr>
          <p:nvPr>
            <p:ph type="title"/>
          </p:nvPr>
        </p:nvSpPr>
        <p:spPr/>
        <p:txBody>
          <a:bodyPr/>
          <a:lstStyle/>
          <a:p>
            <a:r>
              <a:rPr lang="en-SG" b="1" dirty="0"/>
              <a:t>Question 28 </a:t>
            </a:r>
          </a:p>
        </p:txBody>
      </p:sp>
      <p:sp>
        <p:nvSpPr>
          <p:cNvPr id="4" name="Content Placeholder 2">
            <a:extLst>
              <a:ext uri="{FF2B5EF4-FFF2-40B4-BE49-F238E27FC236}">
                <a16:creationId xmlns:a16="http://schemas.microsoft.com/office/drawing/2014/main" id="{86894659-FF5C-74BB-9A47-CC3205D1EB54}"/>
              </a:ext>
            </a:extLst>
          </p:cNvPr>
          <p:cNvSpPr>
            <a:spLocks noGrp="1"/>
          </p:cNvSpPr>
          <p:nvPr>
            <p:ph idx="1"/>
          </p:nvPr>
        </p:nvSpPr>
        <p:spPr>
          <a:xfrm>
            <a:off x="838200" y="1825625"/>
            <a:ext cx="10515600" cy="4351338"/>
          </a:xfrm>
        </p:spPr>
        <p:txBody>
          <a:bodyPr/>
          <a:lstStyle/>
          <a:p>
            <a:pPr marL="0" indent="0">
              <a:buNone/>
            </a:pPr>
            <a:r>
              <a:rPr lang="en-SG" dirty="0"/>
              <a:t>Create your own Menu in your WordPress Website and name it as “Primary Menu-Ecommerce”. Screenshot and paste here the newly created menu. </a:t>
            </a:r>
          </a:p>
        </p:txBody>
      </p:sp>
      <p:pic>
        <p:nvPicPr>
          <p:cNvPr id="3" name="Picture 2">
            <a:extLst>
              <a:ext uri="{FF2B5EF4-FFF2-40B4-BE49-F238E27FC236}">
                <a16:creationId xmlns:a16="http://schemas.microsoft.com/office/drawing/2014/main" id="{EADC62A9-592D-97CD-5A69-304C9BA9E7BB}"/>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3549893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2E798-7398-804E-1ED0-E0DF8B19615A}"/>
              </a:ext>
            </a:extLst>
          </p:cNvPr>
          <p:cNvSpPr>
            <a:spLocks noGrp="1"/>
          </p:cNvSpPr>
          <p:nvPr>
            <p:ph type="title"/>
          </p:nvPr>
        </p:nvSpPr>
        <p:spPr>
          <a:xfrm>
            <a:off x="1011820" y="2766218"/>
            <a:ext cx="10515600" cy="1325563"/>
          </a:xfrm>
        </p:spPr>
        <p:txBody>
          <a:bodyPr/>
          <a:lstStyle/>
          <a:p>
            <a:pPr algn="ctr"/>
            <a:r>
              <a:rPr lang="en-SG" dirty="0"/>
              <a:t>End of Exam</a:t>
            </a:r>
          </a:p>
        </p:txBody>
      </p:sp>
    </p:spTree>
    <p:extLst>
      <p:ext uri="{BB962C8B-B14F-4D97-AF65-F5344CB8AC3E}">
        <p14:creationId xmlns:p14="http://schemas.microsoft.com/office/powerpoint/2010/main" val="2666375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 Template.potx" id="{EE2E57E3-6100-46CB-8CA4-89786D31FC37}" vid="{8440CCFB-D5BC-4FBA-BEDA-04DEB9D061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Genetic PowerPoint Template</Template>
  <TotalTime>3878</TotalTime>
  <Words>1546</Words>
  <Application>Microsoft Office PowerPoint</Application>
  <PresentationFormat>Widescreen</PresentationFormat>
  <Paragraphs>206</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Theme</vt:lpstr>
      <vt:lpstr>CS1004 – E-Commerce Platform</vt:lpstr>
      <vt:lpstr>Important : Read the Instructions Carefully </vt:lpstr>
      <vt:lpstr>E-commerce Platform  Fundamentals  (10 Marks) </vt:lpstr>
      <vt:lpstr>Question 1  - 1/2 </vt:lpstr>
      <vt:lpstr>Question 1  - 2/2 </vt:lpstr>
      <vt:lpstr>Shopify Questions (30 Marks) </vt:lpstr>
      <vt:lpstr>Question 2  </vt:lpstr>
      <vt:lpstr>Question 3  </vt:lpstr>
      <vt:lpstr>Question 4  </vt:lpstr>
      <vt:lpstr>Question 5  </vt:lpstr>
      <vt:lpstr>Question 6  </vt:lpstr>
      <vt:lpstr>Question 7  </vt:lpstr>
      <vt:lpstr>Question 8  </vt:lpstr>
      <vt:lpstr>Question 9  </vt:lpstr>
      <vt:lpstr>Question 10  </vt:lpstr>
      <vt:lpstr>Wix Questions (30 Marks) </vt:lpstr>
      <vt:lpstr>Question 11  </vt:lpstr>
      <vt:lpstr>Question 12  </vt:lpstr>
      <vt:lpstr>Question 13  </vt:lpstr>
      <vt:lpstr>Question 14  </vt:lpstr>
      <vt:lpstr>Question 15 </vt:lpstr>
      <vt:lpstr>Question 16 </vt:lpstr>
      <vt:lpstr>Question 17 </vt:lpstr>
      <vt:lpstr>Question 18 </vt:lpstr>
      <vt:lpstr>Question 19 </vt:lpstr>
      <vt:lpstr>WordPress Questions (30 Marks) </vt:lpstr>
      <vt:lpstr>Question 20 </vt:lpstr>
      <vt:lpstr>Question 21 </vt:lpstr>
      <vt:lpstr>Question 22 </vt:lpstr>
      <vt:lpstr>Question 23 </vt:lpstr>
      <vt:lpstr>Question 24 </vt:lpstr>
      <vt:lpstr>Question 25 </vt:lpstr>
      <vt:lpstr>Question 26 </vt:lpstr>
      <vt:lpstr>Question 27 </vt:lpstr>
      <vt:lpstr>Question 28 </vt:lpstr>
      <vt:lpstr>End of Exam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and Marketing</dc:title>
  <dc:creator>Mikey</dc:creator>
  <cp:lastModifiedBy>Marie Chris Soque</cp:lastModifiedBy>
  <cp:revision>446</cp:revision>
  <dcterms:created xsi:type="dcterms:W3CDTF">2020-05-13T02:52:06Z</dcterms:created>
  <dcterms:modified xsi:type="dcterms:W3CDTF">2026-03-26T01:18:49Z</dcterms:modified>
</cp:coreProperties>
</file>