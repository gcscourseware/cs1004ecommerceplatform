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9" r:id="rId2"/>
    <p:sldId id="282" r:id="rId3"/>
    <p:sldId id="299" r:id="rId4"/>
    <p:sldId id="305" r:id="rId5"/>
    <p:sldId id="302" r:id="rId6"/>
    <p:sldId id="306" r:id="rId7"/>
    <p:sldId id="308" r:id="rId8"/>
    <p:sldId id="307" r:id="rId9"/>
    <p:sldId id="309" r:id="rId10"/>
    <p:sldId id="310" r:id="rId11"/>
    <p:sldId id="326" r:id="rId12"/>
    <p:sldId id="327" r:id="rId13"/>
    <p:sldId id="325" r:id="rId14"/>
    <p:sldId id="312" r:id="rId15"/>
    <p:sldId id="328" r:id="rId16"/>
    <p:sldId id="329" r:id="rId17"/>
    <p:sldId id="330" r:id="rId18"/>
    <p:sldId id="331" r:id="rId19"/>
    <p:sldId id="33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55" d="100"/>
          <a:sy n="55" d="100"/>
        </p:scale>
        <p:origin x="9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9933D-76A3-4713-BA17-0ACC5F61C70A}" type="datetimeFigureOut">
              <a:rPr lang="en-SG" smtClean="0"/>
              <a:t>11/3/2026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B8D8D-F2A5-47A4-8DF0-653802A2F3D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82614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62348-03CD-4FDD-A3BE-ACA18EAF45B6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28190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4AA5A-6D99-7AE8-35C9-7BA45894C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618F66-379D-44EF-246C-5898B4977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B8FDB-1F67-376A-9280-A8D7B31FB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1D81B-4534-C291-1D98-DB86E87954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062348-03CD-4FDD-A3BE-ACA18EAF45B6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5298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61447-B444-43F2-8A34-98132DC1DF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4CD788-F5A3-4B0E-82BA-20FE133FD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F5B45-3AD3-44F8-9D20-193D0701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B1800-E834-4A71-8E48-403701734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7BA7-2F2E-4BAB-A9DF-8B72384E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5AC3CB-FC01-4B16-A955-28BD71ED9F43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820F14F-6BB9-40B6-AFA7-E962CFEDA40A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CS1004 – E-commerce Platform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06B02D-6E28-4CA2-A598-3992331417F2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2" name="Picture 11" descr="A picture containing clipart&#10;&#10;Description automatically generated">
            <a:extLst>
              <a:ext uri="{FF2B5EF4-FFF2-40B4-BE49-F238E27FC236}">
                <a16:creationId xmlns:a16="http://schemas.microsoft.com/office/drawing/2014/main" id="{D67A5063-F5F0-4E17-9B04-31DD5E5398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459" y="136525"/>
            <a:ext cx="1364857" cy="73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59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B487-4B8D-49A9-8575-6AC3A18C2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D7219-D296-48DE-B18E-BF594AFA1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40184-BACC-4792-A4D6-566AB6683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3E331-50B5-4DF3-8C16-6E997FD47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BA7F0-6146-412C-A9DA-8FDD776CC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73F560-53E8-44BC-9DA6-264598EBB9A2}"/>
              </a:ext>
            </a:extLst>
          </p:cNvPr>
          <p:cNvCxnSpPr/>
          <p:nvPr userDrawn="1"/>
        </p:nvCxnSpPr>
        <p:spPr>
          <a:xfrm>
            <a:off x="11968120" y="-1"/>
            <a:ext cx="0" cy="6858001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6F418F93-90E8-45FD-8BCB-10503F7AB85E}"/>
              </a:ext>
            </a:extLst>
          </p:cNvPr>
          <p:cNvSpPr/>
          <p:nvPr userDrawn="1"/>
        </p:nvSpPr>
        <p:spPr>
          <a:xfrm rot="16200000">
            <a:off x="8708043" y="3359882"/>
            <a:ext cx="6858000" cy="13823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2" name="Picture 11" descr="A picture containing clipart&#10;&#10;Description automatically generated">
            <a:extLst>
              <a:ext uri="{FF2B5EF4-FFF2-40B4-BE49-F238E27FC236}">
                <a16:creationId xmlns:a16="http://schemas.microsoft.com/office/drawing/2014/main" id="{E5E6404B-CF19-4AB8-9483-677E4EEE8D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3459" y="136525"/>
            <a:ext cx="1364857" cy="73789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696B559-D481-F72B-F0AE-E662796769D2}"/>
              </a:ext>
            </a:extLst>
          </p:cNvPr>
          <p:cNvSpPr/>
          <p:nvPr userDrawn="1"/>
        </p:nvSpPr>
        <p:spPr>
          <a:xfrm rot="16200000">
            <a:off x="-3149825" y="3149825"/>
            <a:ext cx="6858000" cy="5583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CS1004 – E-commerce Platform</a:t>
            </a:r>
          </a:p>
        </p:txBody>
      </p:sp>
    </p:spTree>
    <p:extLst>
      <p:ext uri="{BB962C8B-B14F-4D97-AF65-F5344CB8AC3E}">
        <p14:creationId xmlns:p14="http://schemas.microsoft.com/office/powerpoint/2010/main" val="25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485DE-BB38-4E44-888F-48814BF00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C9B50-38D2-454E-8097-D70E24E45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A6819-75AA-4A3F-948B-028820A9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C1A4A-AF03-450B-AD38-B477F1066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55ABD-AF51-4647-8FA3-E340481ED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8736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7A4A-957C-41A9-BE31-6D1B6FF1C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CE808-E60C-4E5A-873C-F9609D8BD7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0EE9D-59D5-480F-A286-46042DF58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8D38E-499E-4C14-9ED4-2E06586FC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72310-4C55-4AE1-9C76-BECAD983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075886-47C7-4251-9EEA-2123E113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5813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733F-638B-434C-BF67-6B16A4504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06F2B5-5B3D-4CE3-AC67-A3DD53931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68CA23-6F63-4D05-8887-9B9CBEE6F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8E8A94-387D-40D4-9E69-4219F3417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4DA84-F08A-4892-95CE-A0AC8D6BC9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77C99E-797D-4811-B63F-0429F70EE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750CEE-B2EF-4F99-B896-DB732E77B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FF745A-65EC-4BBE-AD47-73CAC7608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9006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1067-ADF9-4E36-B131-80F716AD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715DA-4EA0-4D0C-A7B1-75AFA4A38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228E58-6F09-4B44-B8C9-69E45557B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DA3E0-100C-4DB4-AD03-05F92985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45631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F7DA86-BA46-4A94-8030-50BDD53E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074C45-BB22-4C8F-A26F-C1EE854E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D6BE8-06C1-440A-B72F-6C629F6B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00212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CD596-A316-42CB-8EBA-E289BDC54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EB968-F3A1-42E8-A8E4-FB4C96C85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77055-738F-46AB-9126-EF45B09C12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447E6-8CA0-45CB-ABE3-54EA36544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3B57A-D30B-4DA3-B95B-DCC500654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9A50B-8E51-4645-BE3C-1DEFC177F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475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73606-95D2-461E-ADAD-836665DF2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EA5F61-B4E3-4F3B-902F-13D04B757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7F163-4B1B-4953-B1B7-C3E889662A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1455C-8DDC-4E8E-A83C-A72DB358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1FB97-AD0C-4A5B-9CAE-34C733B92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FBF65-B6AE-4D61-9FD4-3D0B919BC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3805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CBDE3-9398-4121-815A-62743BE6C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8A5190-EBC8-4DA8-9B67-B67D5E154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1FE5C-D662-422F-8382-2EE4E0464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DB556-D37D-434D-9628-C9BAE6DB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EF01-B45B-4E54-B05B-0C8CBB7C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8773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802E40-32E7-44A9-8BF4-32FAA9B0E5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28C05C-1D3E-4B3B-B223-73852A065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8AB1E-D84D-4F78-8205-57C5D2DD9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CEB45-63C5-425B-8D13-3F29452E1276}" type="datetimeFigureOut">
              <a:rPr lang="en-SG" smtClean="0"/>
              <a:t>11/3/2026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2A0C2-0682-47E6-8D2C-F7BE53C4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952B5-E37F-43A3-ABCA-B9AC2F22D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038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4A05A8-9416-4EBF-A6D3-BA5F7EB9B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107F0-23DF-474F-A9D0-3A4FBBE415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78A3E-85E8-40F5-8B21-FBF4E3855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CCEB45-63C5-425B-8D13-3F29452E1276}" type="datetimeFigureOut">
              <a:rPr lang="en-SG" smtClean="0"/>
              <a:t>11/3/2026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8D8C3-7CC6-4473-8575-91E3FF4FD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EEC86-BE78-4779-ABFD-99BC06C52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DB6AF-6051-4A0F-9624-8CD5960808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8218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CE3D-499A-49AB-ADD8-785D0A08B3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10588"/>
            <a:ext cx="9144000" cy="2387600"/>
          </a:xfrm>
        </p:spPr>
        <p:txBody>
          <a:bodyPr>
            <a:normAutofit/>
          </a:bodyPr>
          <a:lstStyle/>
          <a:p>
            <a:r>
              <a:rPr lang="en-US" b="1" dirty="0"/>
              <a:t>CS1004 – E-Commerce Platform</a:t>
            </a:r>
            <a:endParaRPr lang="en-SG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CE6FD10-A894-4A74-B2A3-FB6AAED31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0494817"/>
              </p:ext>
            </p:extLst>
          </p:nvPr>
        </p:nvGraphicFramePr>
        <p:xfrm>
          <a:off x="1313542" y="3263318"/>
          <a:ext cx="9929845" cy="105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9845">
                  <a:extLst>
                    <a:ext uri="{9D8B030D-6E8A-4147-A177-3AD203B41FA5}">
                      <a16:colId xmlns:a16="http://schemas.microsoft.com/office/drawing/2014/main" val="2563540020"/>
                    </a:ext>
                  </a:extLst>
                </a:gridCol>
              </a:tblGrid>
              <a:tr h="1057012">
                <a:tc>
                  <a:txBody>
                    <a:bodyPr/>
                    <a:lstStyle/>
                    <a:p>
                      <a:pPr algn="ctr"/>
                      <a:r>
                        <a:rPr lang="en-SG" sz="3600" b="0" dirty="0"/>
                        <a:t>Portfolio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3198376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C499F40-ED94-4A54-A6C0-2660AE997D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5370098"/>
              </p:ext>
            </p:extLst>
          </p:nvPr>
        </p:nvGraphicFramePr>
        <p:xfrm>
          <a:off x="1313541" y="4657740"/>
          <a:ext cx="992984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4883">
                  <a:extLst>
                    <a:ext uri="{9D8B030D-6E8A-4147-A177-3AD203B41FA5}">
                      <a16:colId xmlns:a16="http://schemas.microsoft.com/office/drawing/2014/main" val="776233894"/>
                    </a:ext>
                  </a:extLst>
                </a:gridCol>
                <a:gridCol w="3554963">
                  <a:extLst>
                    <a:ext uri="{9D8B030D-6E8A-4147-A177-3AD203B41FA5}">
                      <a16:colId xmlns:a16="http://schemas.microsoft.com/office/drawing/2014/main" val="342185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SG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Learner Name: </a:t>
                      </a:r>
                    </a:p>
                    <a:p>
                      <a:endParaRPr lang="en-SG" b="1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SG" b="1" dirty="0">
                          <a:solidFill>
                            <a:schemeClr val="tx1"/>
                          </a:solidFill>
                        </a:rPr>
                        <a:t>Learner NRIC / FIN No.: [last 3 digits and letter]</a:t>
                      </a:r>
                    </a:p>
                    <a:p>
                      <a:endParaRPr lang="en-SG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SG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SG" dirty="0">
                          <a:solidFill>
                            <a:schemeClr val="tx1"/>
                          </a:solidFill>
                        </a:rPr>
                        <a:t>Date: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0501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372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4F3D07E-838C-4889-9476-368D23072D0B}"/>
              </a:ext>
            </a:extLst>
          </p:cNvPr>
          <p:cNvSpPr txBox="1">
            <a:spLocks/>
          </p:cNvSpPr>
          <p:nvPr/>
        </p:nvSpPr>
        <p:spPr>
          <a:xfrm>
            <a:off x="1524000" y="129745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Website Design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&amp;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Content Management</a:t>
            </a:r>
            <a:endParaRPr lang="en-SG" b="1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AD604DB-E956-4384-A1A8-2459C86490C1}"/>
              </a:ext>
            </a:extLst>
          </p:cNvPr>
          <p:cNvSpPr txBox="1">
            <a:spLocks/>
          </p:cNvSpPr>
          <p:nvPr/>
        </p:nvSpPr>
        <p:spPr>
          <a:xfrm>
            <a:off x="1524000" y="368505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LU3: Setting Up an Online Store (Shopify)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478217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544A-968A-4A75-BB9D-CE1D7A4D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1.1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6043-3130-42A3-A78E-4001D742F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SG" dirty="0"/>
              <a:t>Research on top 3 E-commerce site in Singapore and list the URL below.</a:t>
            </a:r>
          </a:p>
          <a:p>
            <a:pPr marL="0" indent="0">
              <a:buNone/>
            </a:pP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79B16-065B-4A24-9281-BE30DB537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380" y="608250"/>
            <a:ext cx="653143" cy="653143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14C2E2C-0CBD-4858-8383-1C625AE5AD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342668"/>
              </p:ext>
            </p:extLst>
          </p:nvPr>
        </p:nvGraphicFramePr>
        <p:xfrm>
          <a:off x="974986" y="3116020"/>
          <a:ext cx="9813256" cy="2127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016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  <a:gridCol w="8272240">
                  <a:extLst>
                    <a:ext uri="{9D8B030D-6E8A-4147-A177-3AD203B41FA5}">
                      <a16:colId xmlns:a16="http://schemas.microsoft.com/office/drawing/2014/main" val="3733657391"/>
                    </a:ext>
                  </a:extLst>
                </a:gridCol>
              </a:tblGrid>
              <a:tr h="709033">
                <a:tc>
                  <a:txBody>
                    <a:bodyPr/>
                    <a:lstStyle/>
                    <a:p>
                      <a:r>
                        <a:rPr lang="en-SG" sz="2800" dirty="0"/>
                        <a:t>URL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709033">
                <a:tc>
                  <a:txBody>
                    <a:bodyPr/>
                    <a:lstStyle/>
                    <a:p>
                      <a:r>
                        <a:rPr lang="en-SG" sz="2800" dirty="0"/>
                        <a:t>URL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513686"/>
                  </a:ext>
                </a:extLst>
              </a:tr>
              <a:tr h="709033">
                <a:tc>
                  <a:txBody>
                    <a:bodyPr/>
                    <a:lstStyle/>
                    <a:p>
                      <a:r>
                        <a:rPr lang="en-SG" sz="2800" dirty="0"/>
                        <a:t>URL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05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3820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544A-968A-4A75-BB9D-CE1D7A4D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1.2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6043-3130-42A3-A78E-4001D742F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List at least three (3) tools that you can use to achieve the goal of </a:t>
            </a:r>
            <a:r>
              <a:rPr lang="en-US" b="1" u="sng" dirty="0"/>
              <a:t>increasing customer retention</a:t>
            </a:r>
            <a:r>
              <a:rPr lang="en-US" dirty="0"/>
              <a:t>.</a:t>
            </a:r>
            <a:endParaRPr lang="en-SG" dirty="0"/>
          </a:p>
          <a:p>
            <a:pPr marL="0" indent="0">
              <a:buNone/>
            </a:pP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79B16-065B-4A24-9281-BE30DB537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380" y="608250"/>
            <a:ext cx="653143" cy="653143"/>
          </a:xfrm>
          <a:prstGeom prst="rect">
            <a:avLst/>
          </a:prstGeom>
        </p:spPr>
      </p:pic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14C2E2C-0CBD-4858-8383-1C625AE5AD21}"/>
              </a:ext>
            </a:extLst>
          </p:cNvPr>
          <p:cNvGraphicFramePr>
            <a:graphicFrameLocks noGrp="1"/>
          </p:cNvGraphicFramePr>
          <p:nvPr/>
        </p:nvGraphicFramePr>
        <p:xfrm>
          <a:off x="974986" y="3116020"/>
          <a:ext cx="9813256" cy="2127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1016">
                  <a:extLst>
                    <a:ext uri="{9D8B030D-6E8A-4147-A177-3AD203B41FA5}">
                      <a16:colId xmlns:a16="http://schemas.microsoft.com/office/drawing/2014/main" val="1142797428"/>
                    </a:ext>
                  </a:extLst>
                </a:gridCol>
                <a:gridCol w="8272240">
                  <a:extLst>
                    <a:ext uri="{9D8B030D-6E8A-4147-A177-3AD203B41FA5}">
                      <a16:colId xmlns:a16="http://schemas.microsoft.com/office/drawing/2014/main" val="3733657391"/>
                    </a:ext>
                  </a:extLst>
                </a:gridCol>
              </a:tblGrid>
              <a:tr h="709033">
                <a:tc>
                  <a:txBody>
                    <a:bodyPr/>
                    <a:lstStyle/>
                    <a:p>
                      <a:r>
                        <a:rPr lang="en-SG" sz="2800" dirty="0"/>
                        <a:t>Tool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49498"/>
                  </a:ext>
                </a:extLst>
              </a:tr>
              <a:tr h="709033">
                <a:tc>
                  <a:txBody>
                    <a:bodyPr/>
                    <a:lstStyle/>
                    <a:p>
                      <a:r>
                        <a:rPr lang="en-SG" sz="2800" dirty="0"/>
                        <a:t>Tool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1513686"/>
                  </a:ext>
                </a:extLst>
              </a:tr>
              <a:tr h="709033">
                <a:tc>
                  <a:txBody>
                    <a:bodyPr/>
                    <a:lstStyle/>
                    <a:p>
                      <a:r>
                        <a:rPr lang="en-SG" sz="2800" dirty="0"/>
                        <a:t>Tool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05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55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544A-968A-4A75-BB9D-CE1D7A4D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1.3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6043-3130-42A3-A78E-4001D742F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772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You are working for a travel and tours company on an E-commerce project. The boss of the company said, “I want to increase bookings by our existing customers, so, you do a plan and present it to me.” </a:t>
            </a:r>
          </a:p>
          <a:p>
            <a:pPr marL="0" indent="0">
              <a:buNone/>
            </a:pPr>
            <a:endParaRPr lang="en-SG" sz="2400" dirty="0"/>
          </a:p>
          <a:p>
            <a:pPr marL="0" indent="0">
              <a:buNone/>
            </a:pPr>
            <a:r>
              <a:rPr lang="en-US" sz="2400" dirty="0"/>
              <a:t>With above scenario, list down your SMART objective, tactic(s), KPI(s) and target(s) for your plan. </a:t>
            </a:r>
          </a:p>
          <a:p>
            <a:pPr marL="0" indent="0">
              <a:buNone/>
            </a:pPr>
            <a:endParaRPr lang="en-SG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F8D7AB95-B615-4FA3-9744-E00147FDF7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528284"/>
              </p:ext>
            </p:extLst>
          </p:nvPr>
        </p:nvGraphicFramePr>
        <p:xfrm>
          <a:off x="939415" y="4460547"/>
          <a:ext cx="9740900" cy="2032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6084">
                  <a:extLst>
                    <a:ext uri="{9D8B030D-6E8A-4147-A177-3AD203B41FA5}">
                      <a16:colId xmlns:a16="http://schemas.microsoft.com/office/drawing/2014/main" val="4227921906"/>
                    </a:ext>
                  </a:extLst>
                </a:gridCol>
                <a:gridCol w="7754816">
                  <a:extLst>
                    <a:ext uri="{9D8B030D-6E8A-4147-A177-3AD203B41FA5}">
                      <a16:colId xmlns:a16="http://schemas.microsoft.com/office/drawing/2014/main" val="1869391006"/>
                    </a:ext>
                  </a:extLst>
                </a:gridCol>
              </a:tblGrid>
              <a:tr h="508082">
                <a:tc>
                  <a:txBody>
                    <a:bodyPr/>
                    <a:lstStyle/>
                    <a:p>
                      <a:r>
                        <a:rPr lang="en-SG" dirty="0"/>
                        <a:t>SMART Objectives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031517"/>
                  </a:ext>
                </a:extLst>
              </a:tr>
              <a:tr h="508082">
                <a:tc>
                  <a:txBody>
                    <a:bodyPr/>
                    <a:lstStyle/>
                    <a:p>
                      <a:r>
                        <a:rPr lang="en-SG" dirty="0"/>
                        <a:t>Tactic(s)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1345935"/>
                  </a:ext>
                </a:extLst>
              </a:tr>
              <a:tr h="508082">
                <a:tc>
                  <a:txBody>
                    <a:bodyPr/>
                    <a:lstStyle/>
                    <a:p>
                      <a:r>
                        <a:rPr lang="en-SG" dirty="0"/>
                        <a:t>KPI per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7425356"/>
                  </a:ext>
                </a:extLst>
              </a:tr>
              <a:tr h="508082">
                <a:tc>
                  <a:txBody>
                    <a:bodyPr/>
                    <a:lstStyle/>
                    <a:p>
                      <a:r>
                        <a:rPr lang="en-SG" dirty="0"/>
                        <a:t>Targets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98559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B7117CA-E911-4F2F-B851-3CF3360FB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380" y="608250"/>
            <a:ext cx="653143" cy="65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289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544A-968A-4A75-BB9D-CE1D7A4D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1.4 – 1/2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6043-3130-42A3-A78E-4001D742F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51" y="1611755"/>
            <a:ext cx="10515600" cy="587161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Think, prepare and collate the following information:</a:t>
            </a:r>
          </a:p>
          <a:p>
            <a:pPr marL="0" indent="0">
              <a:buNone/>
            </a:pP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79B16-065B-4A24-9281-BE30DB537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565" y="587295"/>
            <a:ext cx="653143" cy="653143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B91D785-D698-4D61-B9FD-16D7BC5BD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420240"/>
              </p:ext>
            </p:extLst>
          </p:nvPr>
        </p:nvGraphicFramePr>
        <p:xfrm>
          <a:off x="1042565" y="2198916"/>
          <a:ext cx="10106870" cy="4603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516">
                  <a:extLst>
                    <a:ext uri="{9D8B030D-6E8A-4147-A177-3AD203B41FA5}">
                      <a16:colId xmlns:a16="http://schemas.microsoft.com/office/drawing/2014/main" val="4281953461"/>
                    </a:ext>
                  </a:extLst>
                </a:gridCol>
                <a:gridCol w="6510354">
                  <a:extLst>
                    <a:ext uri="{9D8B030D-6E8A-4147-A177-3AD203B41FA5}">
                      <a16:colId xmlns:a16="http://schemas.microsoft.com/office/drawing/2014/main" val="1302614223"/>
                    </a:ext>
                  </a:extLst>
                </a:gridCol>
              </a:tblGrid>
              <a:tr h="336971">
                <a:tc>
                  <a:txBody>
                    <a:bodyPr/>
                    <a:lstStyle/>
                    <a:p>
                      <a:r>
                        <a:rPr lang="en-SG" dirty="0"/>
                        <a:t>E-mail Account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374819"/>
                  </a:ext>
                </a:extLst>
              </a:tr>
              <a:tr h="830886">
                <a:tc>
                  <a:txBody>
                    <a:bodyPr/>
                    <a:lstStyle/>
                    <a:p>
                      <a:r>
                        <a:rPr lang="en-SG" dirty="0"/>
                        <a:t>Product or services you want to offer for your E-commerce site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521647"/>
                  </a:ext>
                </a:extLst>
              </a:tr>
              <a:tr h="830886">
                <a:tc>
                  <a:txBody>
                    <a:bodyPr/>
                    <a:lstStyle/>
                    <a:p>
                      <a:r>
                        <a:rPr lang="en-SG" dirty="0"/>
                        <a:t>At least 2-3 categories of products to offer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462496"/>
                  </a:ext>
                </a:extLst>
              </a:tr>
              <a:tr h="830886">
                <a:tc>
                  <a:txBody>
                    <a:bodyPr/>
                    <a:lstStyle/>
                    <a:p>
                      <a:r>
                        <a:rPr lang="en-SG" dirty="0"/>
                        <a:t>What is your E-commerce Model and the Platform used?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050061"/>
                  </a:ext>
                </a:extLst>
              </a:tr>
              <a:tr h="830886">
                <a:tc>
                  <a:txBody>
                    <a:bodyPr/>
                    <a:lstStyle/>
                    <a:p>
                      <a:r>
                        <a:rPr lang="en-SG" dirty="0"/>
                        <a:t>What is the E-commerce Business Model used?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99363"/>
                  </a:ext>
                </a:extLst>
              </a:tr>
              <a:tr h="8308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SG" dirty="0"/>
                        <a:t>Name of the business or organization</a:t>
                      </a:r>
                    </a:p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33059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0619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544A-968A-4A75-BB9D-CE1D7A4D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1.4 – 2/2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6043-3130-42A3-A78E-4001D742F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51" y="1611755"/>
            <a:ext cx="10515600" cy="103916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SG" sz="3800" dirty="0"/>
              <a:t>Setup your own Shopify Account based on the information provided in 1.4 – 1/2 and also setup payment in your Shopify store. Paste the screenshot of the Shopify dashboard and payment setup</a:t>
            </a:r>
            <a:endParaRPr lang="en-SG" sz="2900" dirty="0"/>
          </a:p>
          <a:p>
            <a:pPr marL="0" indent="0">
              <a:buNone/>
            </a:pP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F142E2-7006-4ED1-9BD3-3F54AB29A5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7874466" y="576621"/>
            <a:ext cx="830102" cy="65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573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544A-968A-4A75-BB9D-CE1D7A4D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1.5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6043-3130-42A3-A78E-4001D742F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51" y="1611755"/>
            <a:ext cx="10515600" cy="587161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Product Information:</a:t>
            </a:r>
          </a:p>
          <a:p>
            <a:pPr marL="0" indent="0">
              <a:buNone/>
            </a:pP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779B16-065B-4A24-9281-BE30DB537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380" y="608250"/>
            <a:ext cx="653143" cy="653143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B91D785-D698-4D61-B9FD-16D7BC5BD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546058"/>
              </p:ext>
            </p:extLst>
          </p:nvPr>
        </p:nvGraphicFramePr>
        <p:xfrm>
          <a:off x="1042565" y="2398715"/>
          <a:ext cx="1010687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516">
                  <a:extLst>
                    <a:ext uri="{9D8B030D-6E8A-4147-A177-3AD203B41FA5}">
                      <a16:colId xmlns:a16="http://schemas.microsoft.com/office/drawing/2014/main" val="4281953461"/>
                    </a:ext>
                  </a:extLst>
                </a:gridCol>
                <a:gridCol w="6510354">
                  <a:extLst>
                    <a:ext uri="{9D8B030D-6E8A-4147-A177-3AD203B41FA5}">
                      <a16:colId xmlns:a16="http://schemas.microsoft.com/office/drawing/2014/main" val="1302614223"/>
                    </a:ext>
                  </a:extLst>
                </a:gridCol>
              </a:tblGrid>
              <a:tr h="336971">
                <a:tc>
                  <a:txBody>
                    <a:bodyPr/>
                    <a:lstStyle/>
                    <a:p>
                      <a:r>
                        <a:rPr lang="en-SG" sz="2400" dirty="0"/>
                        <a:t>Product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374819"/>
                  </a:ext>
                </a:extLst>
              </a:tr>
              <a:tr h="357480">
                <a:tc>
                  <a:txBody>
                    <a:bodyPr/>
                    <a:lstStyle/>
                    <a:p>
                      <a:r>
                        <a:rPr lang="en-SG" sz="2400" dirty="0"/>
                        <a:t>Product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521647"/>
                  </a:ext>
                </a:extLst>
              </a:tr>
              <a:tr h="344057">
                <a:tc>
                  <a:txBody>
                    <a:bodyPr/>
                    <a:lstStyle/>
                    <a:p>
                      <a:r>
                        <a:rPr lang="en-SG" sz="2400" dirty="0"/>
                        <a:t>Product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7462496"/>
                  </a:ext>
                </a:extLst>
              </a:tr>
              <a:tr h="347413">
                <a:tc>
                  <a:txBody>
                    <a:bodyPr/>
                    <a:lstStyle/>
                    <a:p>
                      <a:r>
                        <a:rPr lang="en-SG" sz="2400" dirty="0"/>
                        <a:t>Product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050061"/>
                  </a:ext>
                </a:extLst>
              </a:tr>
              <a:tr h="324351">
                <a:tc>
                  <a:txBody>
                    <a:bodyPr/>
                    <a:lstStyle/>
                    <a:p>
                      <a:r>
                        <a:rPr lang="en-SG" sz="2400" dirty="0"/>
                        <a:t>Product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99363"/>
                  </a:ext>
                </a:extLst>
              </a:tr>
              <a:tr h="324351">
                <a:tc>
                  <a:txBody>
                    <a:bodyPr/>
                    <a:lstStyle/>
                    <a:p>
                      <a:r>
                        <a:rPr lang="en-SG" sz="2400" dirty="0"/>
                        <a:t>Product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6191966"/>
                  </a:ext>
                </a:extLst>
              </a:tr>
              <a:tr h="324351">
                <a:tc>
                  <a:txBody>
                    <a:bodyPr/>
                    <a:lstStyle/>
                    <a:p>
                      <a:r>
                        <a:rPr lang="en-SG" sz="2400" dirty="0"/>
                        <a:t>Product 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954976"/>
                  </a:ext>
                </a:extLst>
              </a:tr>
              <a:tr h="324351">
                <a:tc>
                  <a:txBody>
                    <a:bodyPr/>
                    <a:lstStyle/>
                    <a:p>
                      <a:r>
                        <a:rPr lang="en-SG" sz="2400" dirty="0"/>
                        <a:t>Product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9626454"/>
                  </a:ext>
                </a:extLst>
              </a:tr>
              <a:tr h="324351">
                <a:tc>
                  <a:txBody>
                    <a:bodyPr/>
                    <a:lstStyle/>
                    <a:p>
                      <a:r>
                        <a:rPr lang="en-SG" sz="2400" dirty="0"/>
                        <a:t>Product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9867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40389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544A-968A-4A75-BB9D-CE1D7A4D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1.6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6043-3130-42A3-A78E-4001D742F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51" y="1611755"/>
            <a:ext cx="10515600" cy="1325562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0400" dirty="0"/>
              <a:t>Add and set-up product catalogue/collection in the Shopify store using the information and resources gathered in Portfolio Activity 1.5. Paste the screenshot of your Product Catalogue/Collection Page.</a:t>
            </a:r>
            <a:endParaRPr lang="en-SG" sz="10400" dirty="0"/>
          </a:p>
          <a:p>
            <a:pPr marL="0" indent="0">
              <a:buNone/>
            </a:pP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F142E2-7006-4ED1-9BD3-3F54AB29A5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5680949" y="553740"/>
            <a:ext cx="830102" cy="65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716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544A-968A-4A75-BB9D-CE1D7A4D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1.7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6043-3130-42A3-A78E-4001D742F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51" y="1611755"/>
            <a:ext cx="10515600" cy="1325562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SG" sz="3200" dirty="0"/>
              <a:t>Create a CTA/Button in your Shopify store home page and discuss briefly its goal. Paste the screenshot of the CTA/Button created in Shopify.</a:t>
            </a:r>
          </a:p>
          <a:p>
            <a:pPr marL="0" indent="0">
              <a:buNone/>
            </a:pP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F142E2-7006-4ED1-9BD3-3F54AB29A5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6561794" y="571621"/>
            <a:ext cx="830102" cy="653142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6C0FFEFB-C323-40B5-825C-40AAD58314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588941"/>
              </p:ext>
            </p:extLst>
          </p:nvPr>
        </p:nvGraphicFramePr>
        <p:xfrm>
          <a:off x="919151" y="3058160"/>
          <a:ext cx="1019626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271">
                  <a:extLst>
                    <a:ext uri="{9D8B030D-6E8A-4147-A177-3AD203B41FA5}">
                      <a16:colId xmlns:a16="http://schemas.microsoft.com/office/drawing/2014/main" val="1989324400"/>
                    </a:ext>
                  </a:extLst>
                </a:gridCol>
                <a:gridCol w="8388991">
                  <a:extLst>
                    <a:ext uri="{9D8B030D-6E8A-4147-A177-3AD203B41FA5}">
                      <a16:colId xmlns:a16="http://schemas.microsoft.com/office/drawing/2014/main" val="4052735450"/>
                    </a:ext>
                  </a:extLst>
                </a:gridCol>
              </a:tblGrid>
              <a:tr h="284030">
                <a:tc>
                  <a:txBody>
                    <a:bodyPr/>
                    <a:lstStyle/>
                    <a:p>
                      <a:r>
                        <a:rPr lang="en-SG" dirty="0"/>
                        <a:t>Goal of the CTA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38389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B543757-3699-4AF0-A535-D34078651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428" y="571621"/>
            <a:ext cx="653143" cy="65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709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DB2E1-17FE-F882-763C-2BAC1AF2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F308-3D04-A961-7DE1-1B82367C4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1.7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5043CD-066B-A279-69FD-3071F4A98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51" y="1611755"/>
            <a:ext cx="10515600" cy="132556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SG" sz="3200" dirty="0"/>
              <a:t>Write your Shopify Domain Name and take a screenshot of the custom domain name setting and paste it here</a:t>
            </a:r>
          </a:p>
          <a:p>
            <a:pPr marL="0" indent="0">
              <a:buNone/>
            </a:pP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60D049-E65C-C235-7D4B-CC7B1BB2F2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6561794" y="571621"/>
            <a:ext cx="830102" cy="653142"/>
          </a:xfrm>
          <a:prstGeom prst="rect">
            <a:avLst/>
          </a:prstGeom>
        </p:spPr>
      </p:pic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D35FD6A6-BA6E-0B1B-51AE-03E68427DB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265969"/>
              </p:ext>
            </p:extLst>
          </p:nvPr>
        </p:nvGraphicFramePr>
        <p:xfrm>
          <a:off x="919151" y="3058160"/>
          <a:ext cx="1019626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271">
                  <a:extLst>
                    <a:ext uri="{9D8B030D-6E8A-4147-A177-3AD203B41FA5}">
                      <a16:colId xmlns:a16="http://schemas.microsoft.com/office/drawing/2014/main" val="1989324400"/>
                    </a:ext>
                  </a:extLst>
                </a:gridCol>
                <a:gridCol w="8388991">
                  <a:extLst>
                    <a:ext uri="{9D8B030D-6E8A-4147-A177-3AD203B41FA5}">
                      <a16:colId xmlns:a16="http://schemas.microsoft.com/office/drawing/2014/main" val="4052735450"/>
                    </a:ext>
                  </a:extLst>
                </a:gridCol>
              </a:tblGrid>
              <a:tr h="284030">
                <a:tc>
                  <a:txBody>
                    <a:bodyPr/>
                    <a:lstStyle/>
                    <a:p>
                      <a:r>
                        <a:rPr lang="en-SG" dirty="0"/>
                        <a:t>Custom Domain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383896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90409103-38C6-E8B0-C424-42B0BC6CE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428" y="571621"/>
            <a:ext cx="653143" cy="65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8600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F4558-B871-AF3A-618D-AB8A039FB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5954-AF5A-4902-B6CA-89153625D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1.8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85C58-521E-0AA0-5D9F-013BCD529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51" y="1611755"/>
            <a:ext cx="10515600" cy="132556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SG" sz="3200" dirty="0"/>
              <a:t>Screenshot the connection/integration of Google Analytics of your Shopify store and paste it here.</a:t>
            </a:r>
          </a:p>
          <a:p>
            <a:pPr marL="0" indent="0">
              <a:buNone/>
            </a:pP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05138B-DC0C-FF6A-4014-C8903A6D88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6561794" y="571621"/>
            <a:ext cx="830102" cy="6531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B0E79E-C70B-6283-CB93-2CD9A4EB8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9428" y="571621"/>
            <a:ext cx="653143" cy="653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983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BA5FE-F9FF-2C23-7880-FF93D9410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348C054-C3F4-B388-C4D0-B6AD65A7DF17}"/>
              </a:ext>
            </a:extLst>
          </p:cNvPr>
          <p:cNvSpPr txBox="1">
            <a:spLocks/>
          </p:cNvSpPr>
          <p:nvPr/>
        </p:nvSpPr>
        <p:spPr>
          <a:xfrm>
            <a:off x="1524000" y="129745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chemeClr val="bg1"/>
                </a:solidFill>
              </a:rPr>
              <a:t>Website Design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&amp;</a:t>
            </a:r>
            <a:br>
              <a:rPr lang="en-US" b="1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Content Management</a:t>
            </a:r>
            <a:endParaRPr lang="en-SG" b="1" dirty="0">
              <a:solidFill>
                <a:schemeClr val="bg1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F5E0322-1324-7062-CF6B-EED23C152CDD}"/>
              </a:ext>
            </a:extLst>
          </p:cNvPr>
          <p:cNvSpPr txBox="1">
            <a:spLocks/>
          </p:cNvSpPr>
          <p:nvPr/>
        </p:nvSpPr>
        <p:spPr>
          <a:xfrm>
            <a:off x="1524000" y="3685054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LU3: Setting Up an Online Store (Wix)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3898264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2544A-968A-4A75-BB9D-CE1D7A4D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2.1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F6043-3130-42A3-A78E-4001D742F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Screenshot your Wix Dashboard and paste it here.</a:t>
            </a: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E82B52-E42E-04E4-E5FA-D746B579012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7186569" y="365126"/>
            <a:ext cx="830102" cy="65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52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B55D3-6CCB-EF17-FEB5-CDA1FDE2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E583-9529-AECA-C16B-606139776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2.2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96EA3-B727-DF4A-527C-219029AF3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Add your custom logo in Wix, screenshot and paste it here.</a:t>
            </a: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EA6FC5-19EA-D690-D190-3F06DE0065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7186569" y="365126"/>
            <a:ext cx="830102" cy="65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668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DF6F2-B1C4-2A98-A3C2-89BDA8C09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FFD2A-3586-149A-308F-265C6DDAC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2.3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28F5A-A49C-EA46-D017-C19E94555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a drop-down menu of your product catalogue/collection and paste it here</a:t>
            </a: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30B6D2-4D5F-F09C-795B-D02FD454F3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7186569" y="365126"/>
            <a:ext cx="830102" cy="65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215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A6218-495D-7776-9A5F-831D77AA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817B7-BAA9-1AFB-58D2-8054ED513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2.4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51FBD-7F8F-F587-C575-CB4241E189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Edit/Add 10 products in your Wix store, take a screenshot and paste it here.</a:t>
            </a: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CF467E-6EC7-DE9E-52E1-2EE2E11F87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7186569" y="365126"/>
            <a:ext cx="830102" cy="65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395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BBE08-4A24-B230-69B1-17D94E6C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0811-88DC-6774-046F-BFE6ACEEB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2.5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DB617-35A9-38C6-69E5-FAF268442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Add a manual payment method, screenshot the setup and paste it here </a:t>
            </a: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EB5EDA-30F1-4F57-181F-D4EDB5C84C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7186569" y="365126"/>
            <a:ext cx="830102" cy="65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4483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E4D33-411A-3CE3-A88A-F93CE347F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8C5BA-DF82-46A2-A51C-107E5CE2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Portfolio Activity 2.6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7BDD9-EA11-49DC-64EC-FAB8CB743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Add a testimonial section in your website, screenshot and paste it here</a:t>
            </a:r>
            <a:endParaRPr lang="en-SG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0BFAC6-D3B7-BF85-B979-FFF2CCADF0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41" t="21126" r="5209" b="8571"/>
          <a:stretch/>
        </p:blipFill>
        <p:spPr>
          <a:xfrm>
            <a:off x="7186569" y="365126"/>
            <a:ext cx="830102" cy="65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48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M Template.potx" id="{EE2E57E3-6100-46CB-8CA4-89786D31FC37}" vid="{8440CCFB-D5BC-4FBA-BEDA-04DEB9D061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Genetic PowerPoint Template</Template>
  <TotalTime>2654</TotalTime>
  <Words>532</Words>
  <Application>Microsoft Office PowerPoint</Application>
  <PresentationFormat>Widescreen</PresentationFormat>
  <Paragraphs>75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CS1004 – E-Commerce Platform</vt:lpstr>
      <vt:lpstr>PowerPoint Presentation</vt:lpstr>
      <vt:lpstr>Portfolio Activity 1.1</vt:lpstr>
      <vt:lpstr>Portfolio Activity 1.2</vt:lpstr>
      <vt:lpstr>Portfolio Activity 1.3</vt:lpstr>
      <vt:lpstr>Portfolio Activity 1.4 – 1/2</vt:lpstr>
      <vt:lpstr>Portfolio Activity 1.4 – 2/2</vt:lpstr>
      <vt:lpstr>Portfolio Activity 1.5</vt:lpstr>
      <vt:lpstr>Portfolio Activity 1.6</vt:lpstr>
      <vt:lpstr>Portfolio Activity 1.7</vt:lpstr>
      <vt:lpstr>Portfolio Activity 1.7</vt:lpstr>
      <vt:lpstr>Portfolio Activity 1.8</vt:lpstr>
      <vt:lpstr>PowerPoint Presentation</vt:lpstr>
      <vt:lpstr>Portfolio Activity 2.1</vt:lpstr>
      <vt:lpstr>Portfolio Activity 2.2</vt:lpstr>
      <vt:lpstr>Portfolio Activity 2.3</vt:lpstr>
      <vt:lpstr>Portfolio Activity 2.4</vt:lpstr>
      <vt:lpstr>Portfolio Activity 2.5</vt:lpstr>
      <vt:lpstr>Portfolio Activity 2.6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and Marketing</dc:title>
  <dc:creator>Mikey</dc:creator>
  <cp:lastModifiedBy>Marie Chris Soque</cp:lastModifiedBy>
  <cp:revision>209</cp:revision>
  <dcterms:created xsi:type="dcterms:W3CDTF">2020-05-13T02:52:06Z</dcterms:created>
  <dcterms:modified xsi:type="dcterms:W3CDTF">2026-03-11T03:41:22Z</dcterms:modified>
</cp:coreProperties>
</file>