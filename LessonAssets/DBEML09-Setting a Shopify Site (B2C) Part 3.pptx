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8" r:id="rId39"/>
    <p:sldId id="299" r:id="rId40"/>
    <p:sldId id="294" r:id="rId41"/>
    <p:sldId id="295" r:id="rId42"/>
    <p:sldId id="296" r:id="rId43"/>
    <p:sldId id="297" r:id="rId44"/>
    <p:sldId id="300" r:id="rId45"/>
    <p:sldId id="301" r:id="rId46"/>
    <p:sldId id="302" r:id="rId47"/>
    <p:sldId id="303" r:id="rId48"/>
    <p:sldId id="310" r:id="rId49"/>
    <p:sldId id="312" r:id="rId50"/>
    <p:sldId id="311" r:id="rId51"/>
    <p:sldId id="313" r:id="rId52"/>
    <p:sldId id="314" r:id="rId53"/>
    <p:sldId id="315" r:id="rId54"/>
    <p:sldId id="316" r:id="rId55"/>
    <p:sldId id="317" r:id="rId56"/>
    <p:sldId id="304" r:id="rId57"/>
    <p:sldId id="305" r:id="rId58"/>
    <p:sldId id="306" r:id="rId59"/>
    <p:sldId id="307" r:id="rId60"/>
    <p:sldId id="308" r:id="rId61"/>
    <p:sldId id="309" r:id="rId62"/>
    <p:sldId id="318" r:id="rId63"/>
    <p:sldId id="319" r:id="rId64"/>
    <p:sldId id="320" r:id="rId65"/>
    <p:sldId id="321" r:id="rId66"/>
    <p:sldId id="322" r:id="rId67"/>
    <p:sldId id="323" r:id="rId68"/>
    <p:sldId id="324" r:id="rId69"/>
    <p:sldId id="325" r:id="rId70"/>
    <p:sldId id="327" r:id="rId71"/>
    <p:sldId id="326" r:id="rId72"/>
    <p:sldId id="329" r:id="rId73"/>
    <p:sldId id="330" r:id="rId74"/>
    <p:sldId id="331" r:id="rId75"/>
    <p:sldId id="332" r:id="rId76"/>
    <p:sldId id="328" r:id="rId77"/>
    <p:sldId id="260"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442F02-3345-4BB8-8B0E-23C8E3F94CAE}" v="83" dt="2018-11-09T08:51:16.3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26" autoAdjust="0"/>
    <p:restoredTop sz="94660"/>
  </p:normalViewPr>
  <p:slideViewPr>
    <p:cSldViewPr snapToGrid="0">
      <p:cViewPr varScale="1">
        <p:scale>
          <a:sx n="67" d="100"/>
          <a:sy n="67" d="100"/>
        </p:scale>
        <p:origin x="616" y="44"/>
      </p:cViewPr>
      <p:guideLst/>
    </p:cSldViewPr>
  </p:slideViewPr>
  <p:notesTextViewPr>
    <p:cViewPr>
      <p:scale>
        <a:sx n="1" d="1"/>
        <a:sy n="1" d="1"/>
      </p:scale>
      <p:origin x="0" y="0"/>
    </p:cViewPr>
  </p:notesText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85"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ny Toe" userId="8901cf30983edc6b" providerId="LiveId" clId="{C1442F02-3345-4BB8-8B0E-23C8E3F94CAE}"/>
    <pc:docChg chg="undo custSel mod addSld modSld modMainMaster">
      <pc:chgData name="Tony Toe" userId="8901cf30983edc6b" providerId="LiveId" clId="{C1442F02-3345-4BB8-8B0E-23C8E3F94CAE}" dt="2018-11-09T08:53:22.890" v="1735" actId="20577"/>
      <pc:docMkLst>
        <pc:docMk/>
      </pc:docMkLst>
      <pc:sldChg chg="addSp delSp modSp add mod setBg">
        <pc:chgData name="Tony Toe" userId="8901cf30983edc6b" providerId="LiveId" clId="{C1442F02-3345-4BB8-8B0E-23C8E3F94CAE}" dt="2018-11-07T03:53:50.766" v="1417" actId="14100"/>
        <pc:sldMkLst>
          <pc:docMk/>
          <pc:sldMk cId="2878228141" sldId="259"/>
        </pc:sldMkLst>
        <pc:spChg chg="mod">
          <ac:chgData name="Tony Toe" userId="8901cf30983edc6b" providerId="LiveId" clId="{C1442F02-3345-4BB8-8B0E-23C8E3F94CAE}" dt="2018-11-07T02:39:52.629" v="8" actId="20577"/>
          <ac:spMkLst>
            <pc:docMk/>
            <pc:sldMk cId="2878228141" sldId="259"/>
            <ac:spMk id="2" creationId="{3695336E-06B7-426C-8AC1-BDC6371EE292}"/>
          </ac:spMkLst>
        </pc:spChg>
        <pc:spChg chg="mod">
          <ac:chgData name="Tony Toe" userId="8901cf30983edc6b" providerId="LiveId" clId="{C1442F02-3345-4BB8-8B0E-23C8E3F94CAE}" dt="2018-11-07T03:53:50.766" v="1417" actId="14100"/>
          <ac:spMkLst>
            <pc:docMk/>
            <pc:sldMk cId="2878228141" sldId="259"/>
            <ac:spMk id="3" creationId="{0493722E-AC09-4849-9057-7BBCE811B926}"/>
          </ac:spMkLst>
        </pc:spChg>
        <pc:spChg chg="add del">
          <ac:chgData name="Tony Toe" userId="8901cf30983edc6b" providerId="LiveId" clId="{C1442F02-3345-4BB8-8B0E-23C8E3F94CAE}" dt="2018-11-07T02:38:35.854" v="2" actId="478"/>
          <ac:spMkLst>
            <pc:docMk/>
            <pc:sldMk cId="2878228141" sldId="259"/>
            <ac:spMk id="4" creationId="{816C93EB-31D2-4026-9714-1D432D7FCA03}"/>
          </ac:spMkLst>
        </pc:spChg>
        <pc:picChg chg="add del mod">
          <ac:chgData name="Tony Toe" userId="8901cf30983edc6b" providerId="LiveId" clId="{C1442F02-3345-4BB8-8B0E-23C8E3F94CAE}" dt="2018-11-07T03:53:44.648" v="1415" actId="478"/>
          <ac:picMkLst>
            <pc:docMk/>
            <pc:sldMk cId="2878228141" sldId="259"/>
            <ac:picMk id="1028" creationId="{1CAD0328-5E1A-49B6-8DBA-C3EC54AFDBF5}"/>
          </ac:picMkLst>
        </pc:picChg>
      </pc:sldChg>
      <pc:sldChg chg="modSp add">
        <pc:chgData name="Tony Toe" userId="8901cf30983edc6b" providerId="LiveId" clId="{C1442F02-3345-4BB8-8B0E-23C8E3F94CAE}" dt="2018-11-07T02:47:13.229" v="65" actId="20577"/>
        <pc:sldMkLst>
          <pc:docMk/>
          <pc:sldMk cId="1900627532" sldId="260"/>
        </pc:sldMkLst>
        <pc:spChg chg="mod">
          <ac:chgData name="Tony Toe" userId="8901cf30983edc6b" providerId="LiveId" clId="{C1442F02-3345-4BB8-8B0E-23C8E3F94CAE}" dt="2018-11-07T02:40:56.142" v="33" actId="20577"/>
          <ac:spMkLst>
            <pc:docMk/>
            <pc:sldMk cId="1900627532" sldId="260"/>
            <ac:spMk id="2" creationId="{45F803A7-FACA-4F16-B76C-A9AB4CDF6334}"/>
          </ac:spMkLst>
        </pc:spChg>
        <pc:spChg chg="mod">
          <ac:chgData name="Tony Toe" userId="8901cf30983edc6b" providerId="LiveId" clId="{C1442F02-3345-4BB8-8B0E-23C8E3F94CAE}" dt="2018-11-07T02:47:13.229" v="65" actId="20577"/>
          <ac:spMkLst>
            <pc:docMk/>
            <pc:sldMk cId="1900627532" sldId="260"/>
            <ac:spMk id="3" creationId="{A3A52AE1-D289-4E7A-88F2-F05F7F4EDB0D}"/>
          </ac:spMkLst>
        </pc:spChg>
      </pc:sldChg>
      <pc:sldChg chg="addSp delSp modSp add mod setBg">
        <pc:chgData name="Tony Toe" userId="8901cf30983edc6b" providerId="LiveId" clId="{C1442F02-3345-4BB8-8B0E-23C8E3F94CAE}" dt="2018-11-07T02:48:15.523" v="134" actId="26606"/>
        <pc:sldMkLst>
          <pc:docMk/>
          <pc:sldMk cId="113529752" sldId="261"/>
        </pc:sldMkLst>
        <pc:spChg chg="mod">
          <ac:chgData name="Tony Toe" userId="8901cf30983edc6b" providerId="LiveId" clId="{C1442F02-3345-4BB8-8B0E-23C8E3F94CAE}" dt="2018-11-07T02:48:15.523" v="134" actId="26606"/>
          <ac:spMkLst>
            <pc:docMk/>
            <pc:sldMk cId="113529752" sldId="261"/>
            <ac:spMk id="2" creationId="{EEB12D6D-EBBC-42A7-A5F6-857F56F83A98}"/>
          </ac:spMkLst>
        </pc:spChg>
        <pc:spChg chg="del">
          <ac:chgData name="Tony Toe" userId="8901cf30983edc6b" providerId="LiveId" clId="{C1442F02-3345-4BB8-8B0E-23C8E3F94CAE}" dt="2018-11-07T02:47:48.649" v="131" actId="26606"/>
          <ac:spMkLst>
            <pc:docMk/>
            <pc:sldMk cId="113529752" sldId="261"/>
            <ac:spMk id="3" creationId="{509542F9-F69C-4EB1-8492-84FD69DF1DCA}"/>
          </ac:spMkLst>
        </pc:spChg>
        <pc:graphicFrameChg chg="add mod modGraphic">
          <ac:chgData name="Tony Toe" userId="8901cf30983edc6b" providerId="LiveId" clId="{C1442F02-3345-4BB8-8B0E-23C8E3F94CAE}" dt="2018-11-07T02:48:15.523" v="134" actId="26606"/>
          <ac:graphicFrameMkLst>
            <pc:docMk/>
            <pc:sldMk cId="113529752" sldId="261"/>
            <ac:graphicFrameMk id="4" creationId="{1C9A4696-1632-48E4-8722-567C739AB91B}"/>
          </ac:graphicFrameMkLst>
        </pc:graphicFrameChg>
      </pc:sldChg>
      <pc:sldChg chg="addSp modSp add">
        <pc:chgData name="Tony Toe" userId="8901cf30983edc6b" providerId="LiveId" clId="{C1442F02-3345-4BB8-8B0E-23C8E3F94CAE}" dt="2018-11-07T02:51:21.716" v="234" actId="20577"/>
        <pc:sldMkLst>
          <pc:docMk/>
          <pc:sldMk cId="3969558563" sldId="262"/>
        </pc:sldMkLst>
        <pc:spChg chg="mod">
          <ac:chgData name="Tony Toe" userId="8901cf30983edc6b" providerId="LiveId" clId="{C1442F02-3345-4BB8-8B0E-23C8E3F94CAE}" dt="2018-11-07T02:48:27.173" v="154" actId="20577"/>
          <ac:spMkLst>
            <pc:docMk/>
            <pc:sldMk cId="3969558563" sldId="262"/>
            <ac:spMk id="2" creationId="{5F131AFE-C8A2-4D1F-BD60-9842204D5183}"/>
          </ac:spMkLst>
        </pc:spChg>
        <pc:spChg chg="mod">
          <ac:chgData name="Tony Toe" userId="8901cf30983edc6b" providerId="LiveId" clId="{C1442F02-3345-4BB8-8B0E-23C8E3F94CAE}" dt="2018-11-07T02:49:18.077" v="205" actId="20577"/>
          <ac:spMkLst>
            <pc:docMk/>
            <pc:sldMk cId="3969558563" sldId="262"/>
            <ac:spMk id="3" creationId="{A7D5A1EC-D487-4379-B861-BFD03ABBEDF2}"/>
          </ac:spMkLst>
        </pc:spChg>
        <pc:spChg chg="add mod">
          <ac:chgData name="Tony Toe" userId="8901cf30983edc6b" providerId="LiveId" clId="{C1442F02-3345-4BB8-8B0E-23C8E3F94CAE}" dt="2018-11-07T02:49:43.518" v="213" actId="1076"/>
          <ac:spMkLst>
            <pc:docMk/>
            <pc:sldMk cId="3969558563" sldId="262"/>
            <ac:spMk id="4" creationId="{65F0777D-C1B3-4AC9-8236-74EAE95320B6}"/>
          </ac:spMkLst>
        </pc:spChg>
        <pc:spChg chg="add mod">
          <ac:chgData name="Tony Toe" userId="8901cf30983edc6b" providerId="LiveId" clId="{C1442F02-3345-4BB8-8B0E-23C8E3F94CAE}" dt="2018-11-07T02:50:50.878" v="219" actId="1076"/>
          <ac:spMkLst>
            <pc:docMk/>
            <pc:sldMk cId="3969558563" sldId="262"/>
            <ac:spMk id="5" creationId="{4D661E92-FEE9-4003-A583-1C73125C079E}"/>
          </ac:spMkLst>
        </pc:spChg>
        <pc:spChg chg="add mod">
          <ac:chgData name="Tony Toe" userId="8901cf30983edc6b" providerId="LiveId" clId="{C1442F02-3345-4BB8-8B0E-23C8E3F94CAE}" dt="2018-11-07T02:51:21.716" v="234" actId="20577"/>
          <ac:spMkLst>
            <pc:docMk/>
            <pc:sldMk cId="3969558563" sldId="262"/>
            <ac:spMk id="6" creationId="{935E57C7-408F-45E9-A6DD-6FD9D2A09C31}"/>
          </ac:spMkLst>
        </pc:spChg>
      </pc:sldChg>
      <pc:sldChg chg="modSp add">
        <pc:chgData name="Tony Toe" userId="8901cf30983edc6b" providerId="LiveId" clId="{C1442F02-3345-4BB8-8B0E-23C8E3F94CAE}" dt="2018-11-07T02:52:17.709" v="290" actId="20577"/>
        <pc:sldMkLst>
          <pc:docMk/>
          <pc:sldMk cId="559869889" sldId="263"/>
        </pc:sldMkLst>
        <pc:spChg chg="mod">
          <ac:chgData name="Tony Toe" userId="8901cf30983edc6b" providerId="LiveId" clId="{C1442F02-3345-4BB8-8B0E-23C8E3F94CAE}" dt="2018-11-07T02:52:03.525" v="247" actId="20577"/>
          <ac:spMkLst>
            <pc:docMk/>
            <pc:sldMk cId="559869889" sldId="263"/>
            <ac:spMk id="2" creationId="{381301AC-9853-4354-A499-D62DDE9405F5}"/>
          </ac:spMkLst>
        </pc:spChg>
        <pc:spChg chg="mod">
          <ac:chgData name="Tony Toe" userId="8901cf30983edc6b" providerId="LiveId" clId="{C1442F02-3345-4BB8-8B0E-23C8E3F94CAE}" dt="2018-11-07T02:52:17.709" v="290" actId="20577"/>
          <ac:spMkLst>
            <pc:docMk/>
            <pc:sldMk cId="559869889" sldId="263"/>
            <ac:spMk id="3" creationId="{A848DCD5-3BE6-4EC6-A161-81F30994B542}"/>
          </ac:spMkLst>
        </pc:spChg>
      </pc:sldChg>
      <pc:sldChg chg="modSp add">
        <pc:chgData name="Tony Toe" userId="8901cf30983edc6b" providerId="LiveId" clId="{C1442F02-3345-4BB8-8B0E-23C8E3F94CAE}" dt="2018-11-07T02:53:39.390" v="311" actId="20577"/>
        <pc:sldMkLst>
          <pc:docMk/>
          <pc:sldMk cId="2663059022" sldId="264"/>
        </pc:sldMkLst>
        <pc:spChg chg="mod">
          <ac:chgData name="Tony Toe" userId="8901cf30983edc6b" providerId="LiveId" clId="{C1442F02-3345-4BB8-8B0E-23C8E3F94CAE}" dt="2018-11-07T02:53:02.812" v="304" actId="20577"/>
          <ac:spMkLst>
            <pc:docMk/>
            <pc:sldMk cId="2663059022" sldId="264"/>
            <ac:spMk id="2" creationId="{56C38C1D-E5D3-491E-AB5C-FD264E405F84}"/>
          </ac:spMkLst>
        </pc:spChg>
        <pc:spChg chg="mod">
          <ac:chgData name="Tony Toe" userId="8901cf30983edc6b" providerId="LiveId" clId="{C1442F02-3345-4BB8-8B0E-23C8E3F94CAE}" dt="2018-11-07T02:53:39.390" v="311" actId="20577"/>
          <ac:spMkLst>
            <pc:docMk/>
            <pc:sldMk cId="2663059022" sldId="264"/>
            <ac:spMk id="3" creationId="{D170DBF4-03B0-46C7-8921-AC850D27F341}"/>
          </ac:spMkLst>
        </pc:spChg>
      </pc:sldChg>
      <pc:sldChg chg="modSp add">
        <pc:chgData name="Tony Toe" userId="8901cf30983edc6b" providerId="LiveId" clId="{C1442F02-3345-4BB8-8B0E-23C8E3F94CAE}" dt="2018-11-07T02:54:18.012" v="332" actId="20577"/>
        <pc:sldMkLst>
          <pc:docMk/>
          <pc:sldMk cId="767239538" sldId="265"/>
        </pc:sldMkLst>
        <pc:spChg chg="mod">
          <ac:chgData name="Tony Toe" userId="8901cf30983edc6b" providerId="LiveId" clId="{C1442F02-3345-4BB8-8B0E-23C8E3F94CAE}" dt="2018-11-07T02:54:02.781" v="326" actId="20577"/>
          <ac:spMkLst>
            <pc:docMk/>
            <pc:sldMk cId="767239538" sldId="265"/>
            <ac:spMk id="2" creationId="{D5DA16FE-8B01-4D89-9A03-706D9BB3FA13}"/>
          </ac:spMkLst>
        </pc:spChg>
        <pc:spChg chg="mod">
          <ac:chgData name="Tony Toe" userId="8901cf30983edc6b" providerId="LiveId" clId="{C1442F02-3345-4BB8-8B0E-23C8E3F94CAE}" dt="2018-11-07T02:54:18.012" v="332" actId="20577"/>
          <ac:spMkLst>
            <pc:docMk/>
            <pc:sldMk cId="767239538" sldId="265"/>
            <ac:spMk id="3" creationId="{AD2B53B1-8061-44BD-95CC-40420DB8CBE5}"/>
          </ac:spMkLst>
        </pc:spChg>
      </pc:sldChg>
      <pc:sldChg chg="addSp modSp add">
        <pc:chgData name="Tony Toe" userId="8901cf30983edc6b" providerId="LiveId" clId="{C1442F02-3345-4BB8-8B0E-23C8E3F94CAE}" dt="2018-11-07T02:56:07.607" v="468" actId="1076"/>
        <pc:sldMkLst>
          <pc:docMk/>
          <pc:sldMk cId="2036393543" sldId="266"/>
        </pc:sldMkLst>
        <pc:spChg chg="mod">
          <ac:chgData name="Tony Toe" userId="8901cf30983edc6b" providerId="LiveId" clId="{C1442F02-3345-4BB8-8B0E-23C8E3F94CAE}" dt="2018-11-07T02:55:19.723" v="413" actId="20577"/>
          <ac:spMkLst>
            <pc:docMk/>
            <pc:sldMk cId="2036393543" sldId="266"/>
            <ac:spMk id="2" creationId="{CAAE499C-48D2-4FF9-9C18-FE32A3DA42D3}"/>
          </ac:spMkLst>
        </pc:spChg>
        <pc:spChg chg="mod">
          <ac:chgData name="Tony Toe" userId="8901cf30983edc6b" providerId="LiveId" clId="{C1442F02-3345-4BB8-8B0E-23C8E3F94CAE}" dt="2018-11-07T02:55:43.388" v="460" actId="20577"/>
          <ac:spMkLst>
            <pc:docMk/>
            <pc:sldMk cId="2036393543" sldId="266"/>
            <ac:spMk id="3" creationId="{5A577533-217A-4D1C-8533-D565EC3A1507}"/>
          </ac:spMkLst>
        </pc:spChg>
        <pc:spChg chg="add mod">
          <ac:chgData name="Tony Toe" userId="8901cf30983edc6b" providerId="LiveId" clId="{C1442F02-3345-4BB8-8B0E-23C8E3F94CAE}" dt="2018-11-07T02:56:07.607" v="468" actId="1076"/>
          <ac:spMkLst>
            <pc:docMk/>
            <pc:sldMk cId="2036393543" sldId="266"/>
            <ac:spMk id="4" creationId="{3B37C893-FE76-45E0-9010-2C273797A4CD}"/>
          </ac:spMkLst>
        </pc:spChg>
      </pc:sldChg>
      <pc:sldChg chg="addSp modSp add">
        <pc:chgData name="Tony Toe" userId="8901cf30983edc6b" providerId="LiveId" clId="{C1442F02-3345-4BB8-8B0E-23C8E3F94CAE}" dt="2018-11-07T03:02:05.063" v="475" actId="1076"/>
        <pc:sldMkLst>
          <pc:docMk/>
          <pc:sldMk cId="2616453588" sldId="267"/>
        </pc:sldMkLst>
        <pc:spChg chg="add mod">
          <ac:chgData name="Tony Toe" userId="8901cf30983edc6b" providerId="LiveId" clId="{C1442F02-3345-4BB8-8B0E-23C8E3F94CAE}" dt="2018-11-07T03:02:05.063" v="475" actId="1076"/>
          <ac:spMkLst>
            <pc:docMk/>
            <pc:sldMk cId="2616453588" sldId="267"/>
            <ac:spMk id="4" creationId="{972503FA-87D8-4690-9B27-39B72E6FEEF2}"/>
          </ac:spMkLst>
        </pc:spChg>
      </pc:sldChg>
      <pc:sldChg chg="addSp modSp add">
        <pc:chgData name="Tony Toe" userId="8901cf30983edc6b" providerId="LiveId" clId="{C1442F02-3345-4BB8-8B0E-23C8E3F94CAE}" dt="2018-11-07T03:23:44.043" v="697" actId="13926"/>
        <pc:sldMkLst>
          <pc:docMk/>
          <pc:sldMk cId="1867288806" sldId="268"/>
        </pc:sldMkLst>
        <pc:spChg chg="mod">
          <ac:chgData name="Tony Toe" userId="8901cf30983edc6b" providerId="LiveId" clId="{C1442F02-3345-4BB8-8B0E-23C8E3F94CAE}" dt="2018-11-07T03:21:49.203" v="560" actId="20577"/>
          <ac:spMkLst>
            <pc:docMk/>
            <pc:sldMk cId="1867288806" sldId="268"/>
            <ac:spMk id="2" creationId="{FFB80AD2-0F53-4F63-9C39-445785BC8CC8}"/>
          </ac:spMkLst>
        </pc:spChg>
        <pc:spChg chg="mod">
          <ac:chgData name="Tony Toe" userId="8901cf30983edc6b" providerId="LiveId" clId="{C1442F02-3345-4BB8-8B0E-23C8E3F94CAE}" dt="2018-11-07T03:23:44.043" v="697" actId="13926"/>
          <ac:spMkLst>
            <pc:docMk/>
            <pc:sldMk cId="1867288806" sldId="268"/>
            <ac:spMk id="3" creationId="{EDAEE099-9176-44BC-908E-F9E0EB7AC08A}"/>
          </ac:spMkLst>
        </pc:spChg>
        <pc:spChg chg="add mod">
          <ac:chgData name="Tony Toe" userId="8901cf30983edc6b" providerId="LiveId" clId="{C1442F02-3345-4BB8-8B0E-23C8E3F94CAE}" dt="2018-11-07T03:13:17.815" v="485" actId="1076"/>
          <ac:spMkLst>
            <pc:docMk/>
            <pc:sldMk cId="1867288806" sldId="268"/>
            <ac:spMk id="4" creationId="{61BFF04E-3C15-46A9-BD09-A562632B2385}"/>
          </ac:spMkLst>
        </pc:spChg>
      </pc:sldChg>
      <pc:sldChg chg="modSp add">
        <pc:chgData name="Tony Toe" userId="8901cf30983edc6b" providerId="LiveId" clId="{C1442F02-3345-4BB8-8B0E-23C8E3F94CAE}" dt="2018-11-07T03:24:16.345" v="747" actId="20577"/>
        <pc:sldMkLst>
          <pc:docMk/>
          <pc:sldMk cId="1395854422" sldId="269"/>
        </pc:sldMkLst>
        <pc:spChg chg="mod">
          <ac:chgData name="Tony Toe" userId="8901cf30983edc6b" providerId="LiveId" clId="{C1442F02-3345-4BB8-8B0E-23C8E3F94CAE}" dt="2018-11-07T03:24:06.186" v="712" actId="20577"/>
          <ac:spMkLst>
            <pc:docMk/>
            <pc:sldMk cId="1395854422" sldId="269"/>
            <ac:spMk id="2" creationId="{307E50DE-A596-4547-AC5F-B36ADA737D9C}"/>
          </ac:spMkLst>
        </pc:spChg>
        <pc:spChg chg="mod">
          <ac:chgData name="Tony Toe" userId="8901cf30983edc6b" providerId="LiveId" clId="{C1442F02-3345-4BB8-8B0E-23C8E3F94CAE}" dt="2018-11-07T03:24:16.345" v="747" actId="20577"/>
          <ac:spMkLst>
            <pc:docMk/>
            <pc:sldMk cId="1395854422" sldId="269"/>
            <ac:spMk id="3" creationId="{4CCFF443-4F39-41CB-9279-D4203F0AA836}"/>
          </ac:spMkLst>
        </pc:spChg>
      </pc:sldChg>
      <pc:sldChg chg="addSp modSp add">
        <pc:chgData name="Tony Toe" userId="8901cf30983edc6b" providerId="LiveId" clId="{C1442F02-3345-4BB8-8B0E-23C8E3F94CAE}" dt="2018-11-07T03:25:47.010" v="804" actId="1076"/>
        <pc:sldMkLst>
          <pc:docMk/>
          <pc:sldMk cId="3231123048" sldId="270"/>
        </pc:sldMkLst>
        <pc:spChg chg="mod">
          <ac:chgData name="Tony Toe" userId="8901cf30983edc6b" providerId="LiveId" clId="{C1442F02-3345-4BB8-8B0E-23C8E3F94CAE}" dt="2018-11-07T03:25:10.275" v="782" actId="20577"/>
          <ac:spMkLst>
            <pc:docMk/>
            <pc:sldMk cId="3231123048" sldId="270"/>
            <ac:spMk id="2" creationId="{17D525A4-FA0D-4B6A-89EB-086373F965A4}"/>
          </ac:spMkLst>
        </pc:spChg>
        <pc:spChg chg="mod">
          <ac:chgData name="Tony Toe" userId="8901cf30983edc6b" providerId="LiveId" clId="{C1442F02-3345-4BB8-8B0E-23C8E3F94CAE}" dt="2018-11-07T03:25:17.129" v="802" actId="20577"/>
          <ac:spMkLst>
            <pc:docMk/>
            <pc:sldMk cId="3231123048" sldId="270"/>
            <ac:spMk id="3" creationId="{855CD4D5-F530-40B6-B0E4-2C0F3E49ADA0}"/>
          </ac:spMkLst>
        </pc:spChg>
        <pc:spChg chg="add mod">
          <ac:chgData name="Tony Toe" userId="8901cf30983edc6b" providerId="LiveId" clId="{C1442F02-3345-4BB8-8B0E-23C8E3F94CAE}" dt="2018-11-07T03:25:47.010" v="804" actId="1076"/>
          <ac:spMkLst>
            <pc:docMk/>
            <pc:sldMk cId="3231123048" sldId="270"/>
            <ac:spMk id="4" creationId="{B2929AF2-E606-4604-B7BE-09C0B9FC731D}"/>
          </ac:spMkLst>
        </pc:spChg>
      </pc:sldChg>
      <pc:sldChg chg="addSp modSp add">
        <pc:chgData name="Tony Toe" userId="8901cf30983edc6b" providerId="LiveId" clId="{C1442F02-3345-4BB8-8B0E-23C8E3F94CAE}" dt="2018-11-07T03:27:28.563" v="842" actId="313"/>
        <pc:sldMkLst>
          <pc:docMk/>
          <pc:sldMk cId="2226938883" sldId="271"/>
        </pc:sldMkLst>
        <pc:spChg chg="mod">
          <ac:chgData name="Tony Toe" userId="8901cf30983edc6b" providerId="LiveId" clId="{C1442F02-3345-4BB8-8B0E-23C8E3F94CAE}" dt="2018-11-07T03:27:28.563" v="842" actId="313"/>
          <ac:spMkLst>
            <pc:docMk/>
            <pc:sldMk cId="2226938883" sldId="271"/>
            <ac:spMk id="2" creationId="{A33D42EA-4F61-4A75-8A34-428F5477EE5B}"/>
          </ac:spMkLst>
        </pc:spChg>
        <pc:spChg chg="mod">
          <ac:chgData name="Tony Toe" userId="8901cf30983edc6b" providerId="LiveId" clId="{C1442F02-3345-4BB8-8B0E-23C8E3F94CAE}" dt="2018-11-07T03:26:56.939" v="833" actId="313"/>
          <ac:spMkLst>
            <pc:docMk/>
            <pc:sldMk cId="2226938883" sldId="271"/>
            <ac:spMk id="3" creationId="{D2898233-4A8B-4FC8-9357-7D461A4B2BA7}"/>
          </ac:spMkLst>
        </pc:spChg>
        <pc:spChg chg="add mod">
          <ac:chgData name="Tony Toe" userId="8901cf30983edc6b" providerId="LiveId" clId="{C1442F02-3345-4BB8-8B0E-23C8E3F94CAE}" dt="2018-11-07T03:27:26.223" v="841" actId="13926"/>
          <ac:spMkLst>
            <pc:docMk/>
            <pc:sldMk cId="2226938883" sldId="271"/>
            <ac:spMk id="4" creationId="{CB4F1EEB-0FB4-472A-9480-C01B4FDBD131}"/>
          </ac:spMkLst>
        </pc:spChg>
      </pc:sldChg>
      <pc:sldChg chg="modSp add">
        <pc:chgData name="Tony Toe" userId="8901cf30983edc6b" providerId="LiveId" clId="{C1442F02-3345-4BB8-8B0E-23C8E3F94CAE}" dt="2018-11-07T03:27:52.250" v="892" actId="20577"/>
        <pc:sldMkLst>
          <pc:docMk/>
          <pc:sldMk cId="1347873503" sldId="272"/>
        </pc:sldMkLst>
        <pc:spChg chg="mod">
          <ac:chgData name="Tony Toe" userId="8901cf30983edc6b" providerId="LiveId" clId="{C1442F02-3345-4BB8-8B0E-23C8E3F94CAE}" dt="2018-11-07T03:27:41.722" v="855" actId="20577"/>
          <ac:spMkLst>
            <pc:docMk/>
            <pc:sldMk cId="1347873503" sldId="272"/>
            <ac:spMk id="2" creationId="{BC1E6C45-5A91-4137-800A-D9BB4E569DD3}"/>
          </ac:spMkLst>
        </pc:spChg>
        <pc:spChg chg="mod">
          <ac:chgData name="Tony Toe" userId="8901cf30983edc6b" providerId="LiveId" clId="{C1442F02-3345-4BB8-8B0E-23C8E3F94CAE}" dt="2018-11-07T03:27:52.250" v="892" actId="20577"/>
          <ac:spMkLst>
            <pc:docMk/>
            <pc:sldMk cId="1347873503" sldId="272"/>
            <ac:spMk id="3" creationId="{63F16016-25AA-440C-9266-145D9817099E}"/>
          </ac:spMkLst>
        </pc:spChg>
      </pc:sldChg>
      <pc:sldChg chg="addSp modSp add">
        <pc:chgData name="Tony Toe" userId="8901cf30983edc6b" providerId="LiveId" clId="{C1442F02-3345-4BB8-8B0E-23C8E3F94CAE}" dt="2018-11-07T03:29:41.595" v="898" actId="1076"/>
        <pc:sldMkLst>
          <pc:docMk/>
          <pc:sldMk cId="3830724426" sldId="273"/>
        </pc:sldMkLst>
        <pc:spChg chg="mod">
          <ac:chgData name="Tony Toe" userId="8901cf30983edc6b" providerId="LiveId" clId="{C1442F02-3345-4BB8-8B0E-23C8E3F94CAE}" dt="2018-11-07T03:29:08.148" v="895" actId="20577"/>
          <ac:spMkLst>
            <pc:docMk/>
            <pc:sldMk cId="3830724426" sldId="273"/>
            <ac:spMk id="2" creationId="{0E765B06-95B3-4634-B01B-77D8EF067F87}"/>
          </ac:spMkLst>
        </pc:spChg>
        <pc:spChg chg="mod">
          <ac:chgData name="Tony Toe" userId="8901cf30983edc6b" providerId="LiveId" clId="{C1442F02-3345-4BB8-8B0E-23C8E3F94CAE}" dt="2018-11-07T03:29:25.043" v="896" actId="1076"/>
          <ac:spMkLst>
            <pc:docMk/>
            <pc:sldMk cId="3830724426" sldId="273"/>
            <ac:spMk id="3" creationId="{AD0BE510-A2FB-462A-A645-CD725DC831F5}"/>
          </ac:spMkLst>
        </pc:spChg>
        <pc:spChg chg="add mod">
          <ac:chgData name="Tony Toe" userId="8901cf30983edc6b" providerId="LiveId" clId="{C1442F02-3345-4BB8-8B0E-23C8E3F94CAE}" dt="2018-11-07T03:29:41.595" v="898" actId="1076"/>
          <ac:spMkLst>
            <pc:docMk/>
            <pc:sldMk cId="3830724426" sldId="273"/>
            <ac:spMk id="4" creationId="{ABF220DE-02F4-4CEE-BD55-E3AD5B70CBFA}"/>
          </ac:spMkLst>
        </pc:spChg>
      </pc:sldChg>
      <pc:sldChg chg="addSp delSp modSp add">
        <pc:chgData name="Tony Toe" userId="8901cf30983edc6b" providerId="LiveId" clId="{C1442F02-3345-4BB8-8B0E-23C8E3F94CAE}" dt="2018-11-07T03:30:14.895" v="926" actId="1076"/>
        <pc:sldMkLst>
          <pc:docMk/>
          <pc:sldMk cId="1251736921" sldId="274"/>
        </pc:sldMkLst>
        <pc:spChg chg="mod">
          <ac:chgData name="Tony Toe" userId="8901cf30983edc6b" providerId="LiveId" clId="{C1442F02-3345-4BB8-8B0E-23C8E3F94CAE}" dt="2018-11-07T03:29:59.266" v="922" actId="20577"/>
          <ac:spMkLst>
            <pc:docMk/>
            <pc:sldMk cId="1251736921" sldId="274"/>
            <ac:spMk id="2" creationId="{1C511B08-FC97-4809-BDBE-64B0651BFE8D}"/>
          </ac:spMkLst>
        </pc:spChg>
        <pc:spChg chg="del">
          <ac:chgData name="Tony Toe" userId="8901cf30983edc6b" providerId="LiveId" clId="{C1442F02-3345-4BB8-8B0E-23C8E3F94CAE}" dt="2018-11-07T03:30:11.345" v="925" actId="478"/>
          <ac:spMkLst>
            <pc:docMk/>
            <pc:sldMk cId="1251736921" sldId="274"/>
            <ac:spMk id="3" creationId="{5AB02C63-1A5A-4096-B978-1708337BA9AB}"/>
          </ac:spMkLst>
        </pc:spChg>
        <pc:spChg chg="add mod">
          <ac:chgData name="Tony Toe" userId="8901cf30983edc6b" providerId="LiveId" clId="{C1442F02-3345-4BB8-8B0E-23C8E3F94CAE}" dt="2018-11-07T03:30:14.895" v="926" actId="1076"/>
          <ac:spMkLst>
            <pc:docMk/>
            <pc:sldMk cId="1251736921" sldId="274"/>
            <ac:spMk id="4" creationId="{9D120C2A-7C72-47C6-85AD-36B172660C4A}"/>
          </ac:spMkLst>
        </pc:spChg>
      </pc:sldChg>
      <pc:sldChg chg="modSp add">
        <pc:chgData name="Tony Toe" userId="8901cf30983edc6b" providerId="LiveId" clId="{C1442F02-3345-4BB8-8B0E-23C8E3F94CAE}" dt="2018-11-07T03:30:50.653" v="954" actId="20577"/>
        <pc:sldMkLst>
          <pc:docMk/>
          <pc:sldMk cId="3084603823" sldId="275"/>
        </pc:sldMkLst>
        <pc:spChg chg="mod">
          <ac:chgData name="Tony Toe" userId="8901cf30983edc6b" providerId="LiveId" clId="{C1442F02-3345-4BB8-8B0E-23C8E3F94CAE}" dt="2018-11-07T03:30:35.721" v="951" actId="20577"/>
          <ac:spMkLst>
            <pc:docMk/>
            <pc:sldMk cId="3084603823" sldId="275"/>
            <ac:spMk id="2" creationId="{831DEFDB-D9B9-44D9-B481-729A02A77A05}"/>
          </ac:spMkLst>
        </pc:spChg>
        <pc:spChg chg="mod">
          <ac:chgData name="Tony Toe" userId="8901cf30983edc6b" providerId="LiveId" clId="{C1442F02-3345-4BB8-8B0E-23C8E3F94CAE}" dt="2018-11-07T03:30:50.653" v="954" actId="20577"/>
          <ac:spMkLst>
            <pc:docMk/>
            <pc:sldMk cId="3084603823" sldId="275"/>
            <ac:spMk id="3" creationId="{38805D42-842E-480E-BAB0-725A05CFE8E1}"/>
          </ac:spMkLst>
        </pc:spChg>
      </pc:sldChg>
      <pc:sldChg chg="addSp modSp add">
        <pc:chgData name="Tony Toe" userId="8901cf30983edc6b" providerId="LiveId" clId="{C1442F02-3345-4BB8-8B0E-23C8E3F94CAE}" dt="2018-11-07T03:31:40.113" v="978" actId="13926"/>
        <pc:sldMkLst>
          <pc:docMk/>
          <pc:sldMk cId="1438324259" sldId="276"/>
        </pc:sldMkLst>
        <pc:spChg chg="mod">
          <ac:chgData name="Tony Toe" userId="8901cf30983edc6b" providerId="LiveId" clId="{C1442F02-3345-4BB8-8B0E-23C8E3F94CAE}" dt="2018-11-07T03:31:12.585" v="971" actId="20577"/>
          <ac:spMkLst>
            <pc:docMk/>
            <pc:sldMk cId="1438324259" sldId="276"/>
            <ac:spMk id="2" creationId="{01A772CF-92EF-464C-85AE-5D6816092E33}"/>
          </ac:spMkLst>
        </pc:spChg>
        <pc:spChg chg="mod">
          <ac:chgData name="Tony Toe" userId="8901cf30983edc6b" providerId="LiveId" clId="{C1442F02-3345-4BB8-8B0E-23C8E3F94CAE}" dt="2018-11-07T03:31:21.164" v="972" actId="13926"/>
          <ac:spMkLst>
            <pc:docMk/>
            <pc:sldMk cId="1438324259" sldId="276"/>
            <ac:spMk id="3" creationId="{1080FF5B-12C0-4E71-A4AB-44C2777599A9}"/>
          </ac:spMkLst>
        </pc:spChg>
        <pc:spChg chg="add mod">
          <ac:chgData name="Tony Toe" userId="8901cf30983edc6b" providerId="LiveId" clId="{C1442F02-3345-4BB8-8B0E-23C8E3F94CAE}" dt="2018-11-07T03:31:40.113" v="978" actId="13926"/>
          <ac:spMkLst>
            <pc:docMk/>
            <pc:sldMk cId="1438324259" sldId="276"/>
            <ac:spMk id="4" creationId="{F65E28A2-8C94-4B19-B7B1-E84A7FA22D03}"/>
          </ac:spMkLst>
        </pc:spChg>
      </pc:sldChg>
      <pc:sldChg chg="addSp modSp add">
        <pc:chgData name="Tony Toe" userId="8901cf30983edc6b" providerId="LiveId" clId="{C1442F02-3345-4BB8-8B0E-23C8E3F94CAE}" dt="2018-11-07T03:39:27.803" v="1124" actId="1076"/>
        <pc:sldMkLst>
          <pc:docMk/>
          <pc:sldMk cId="3797467521" sldId="277"/>
        </pc:sldMkLst>
        <pc:spChg chg="mod">
          <ac:chgData name="Tony Toe" userId="8901cf30983edc6b" providerId="LiveId" clId="{C1442F02-3345-4BB8-8B0E-23C8E3F94CAE}" dt="2018-11-07T03:33:36.785" v="1035" actId="20577"/>
          <ac:spMkLst>
            <pc:docMk/>
            <pc:sldMk cId="3797467521" sldId="277"/>
            <ac:spMk id="2" creationId="{43D3CC60-1B8D-4160-B2C4-16837B745B18}"/>
          </ac:spMkLst>
        </pc:spChg>
        <pc:spChg chg="mod">
          <ac:chgData name="Tony Toe" userId="8901cf30983edc6b" providerId="LiveId" clId="{C1442F02-3345-4BB8-8B0E-23C8E3F94CAE}" dt="2018-11-07T03:39:13.191" v="1122" actId="20577"/>
          <ac:spMkLst>
            <pc:docMk/>
            <pc:sldMk cId="3797467521" sldId="277"/>
            <ac:spMk id="3" creationId="{D4BA7592-B468-4766-8160-AD8DF5A25C0D}"/>
          </ac:spMkLst>
        </pc:spChg>
        <pc:spChg chg="add mod">
          <ac:chgData name="Tony Toe" userId="8901cf30983edc6b" providerId="LiveId" clId="{C1442F02-3345-4BB8-8B0E-23C8E3F94CAE}" dt="2018-11-07T03:39:27.803" v="1124" actId="1076"/>
          <ac:spMkLst>
            <pc:docMk/>
            <pc:sldMk cId="3797467521" sldId="277"/>
            <ac:spMk id="4" creationId="{98AEF56F-4B54-491B-A4B7-14DCE9048D7B}"/>
          </ac:spMkLst>
        </pc:spChg>
      </pc:sldChg>
      <pc:sldChg chg="modSp add">
        <pc:chgData name="Tony Toe" userId="8901cf30983edc6b" providerId="LiveId" clId="{C1442F02-3345-4BB8-8B0E-23C8E3F94CAE}" dt="2018-11-07T03:39:58.521" v="1197" actId="20577"/>
        <pc:sldMkLst>
          <pc:docMk/>
          <pc:sldMk cId="870818330" sldId="278"/>
        </pc:sldMkLst>
        <pc:spChg chg="mod">
          <ac:chgData name="Tony Toe" userId="8901cf30983edc6b" providerId="LiveId" clId="{C1442F02-3345-4BB8-8B0E-23C8E3F94CAE}" dt="2018-11-07T03:39:41.025" v="1139" actId="20577"/>
          <ac:spMkLst>
            <pc:docMk/>
            <pc:sldMk cId="870818330" sldId="278"/>
            <ac:spMk id="2" creationId="{788B429D-28D7-429B-A1BA-00B451086C32}"/>
          </ac:spMkLst>
        </pc:spChg>
        <pc:spChg chg="mod">
          <ac:chgData name="Tony Toe" userId="8901cf30983edc6b" providerId="LiveId" clId="{C1442F02-3345-4BB8-8B0E-23C8E3F94CAE}" dt="2018-11-07T03:39:58.521" v="1197" actId="20577"/>
          <ac:spMkLst>
            <pc:docMk/>
            <pc:sldMk cId="870818330" sldId="278"/>
            <ac:spMk id="3" creationId="{1F301E4E-04E6-41DB-98AB-ABE1BD812B06}"/>
          </ac:spMkLst>
        </pc:spChg>
      </pc:sldChg>
      <pc:sldChg chg="addSp delSp modSp add">
        <pc:chgData name="Tony Toe" userId="8901cf30983edc6b" providerId="LiveId" clId="{C1442F02-3345-4BB8-8B0E-23C8E3F94CAE}" dt="2018-11-07T03:40:39.511" v="1216" actId="1076"/>
        <pc:sldMkLst>
          <pc:docMk/>
          <pc:sldMk cId="1756175335" sldId="279"/>
        </pc:sldMkLst>
        <pc:spChg chg="mod">
          <ac:chgData name="Tony Toe" userId="8901cf30983edc6b" providerId="LiveId" clId="{C1442F02-3345-4BB8-8B0E-23C8E3F94CAE}" dt="2018-11-07T03:40:30.265" v="1213" actId="20577"/>
          <ac:spMkLst>
            <pc:docMk/>
            <pc:sldMk cId="1756175335" sldId="279"/>
            <ac:spMk id="2" creationId="{F4726761-D2AC-4EE2-B8F8-CDA23138D106}"/>
          </ac:spMkLst>
        </pc:spChg>
        <pc:spChg chg="del">
          <ac:chgData name="Tony Toe" userId="8901cf30983edc6b" providerId="LiveId" clId="{C1442F02-3345-4BB8-8B0E-23C8E3F94CAE}" dt="2018-11-07T03:40:33.521" v="1214" actId="478"/>
          <ac:spMkLst>
            <pc:docMk/>
            <pc:sldMk cId="1756175335" sldId="279"/>
            <ac:spMk id="3" creationId="{3D4A8FE1-6858-4AF5-A3DC-EEDEA06D87B3}"/>
          </ac:spMkLst>
        </pc:spChg>
        <pc:spChg chg="add mod">
          <ac:chgData name="Tony Toe" userId="8901cf30983edc6b" providerId="LiveId" clId="{C1442F02-3345-4BB8-8B0E-23C8E3F94CAE}" dt="2018-11-07T03:40:39.511" v="1216" actId="1076"/>
          <ac:spMkLst>
            <pc:docMk/>
            <pc:sldMk cId="1756175335" sldId="279"/>
            <ac:spMk id="4" creationId="{0EA7A70B-D9C3-4E32-B520-4DF8FE4015B5}"/>
          </ac:spMkLst>
        </pc:spChg>
      </pc:sldChg>
      <pc:sldChg chg="addSp delSp modSp add">
        <pc:chgData name="Tony Toe" userId="8901cf30983edc6b" providerId="LiveId" clId="{C1442F02-3345-4BB8-8B0E-23C8E3F94CAE}" dt="2018-11-07T03:40:57.817" v="1238" actId="1076"/>
        <pc:sldMkLst>
          <pc:docMk/>
          <pc:sldMk cId="1845229966" sldId="280"/>
        </pc:sldMkLst>
        <pc:spChg chg="mod">
          <ac:chgData name="Tony Toe" userId="8901cf30983edc6b" providerId="LiveId" clId="{C1442F02-3345-4BB8-8B0E-23C8E3F94CAE}" dt="2018-11-07T03:40:46.561" v="1235" actId="20577"/>
          <ac:spMkLst>
            <pc:docMk/>
            <pc:sldMk cId="1845229966" sldId="280"/>
            <ac:spMk id="2" creationId="{57480F1F-F645-4AFD-98AD-1F1D58C1E7BD}"/>
          </ac:spMkLst>
        </pc:spChg>
        <pc:spChg chg="del">
          <ac:chgData name="Tony Toe" userId="8901cf30983edc6b" providerId="LiveId" clId="{C1442F02-3345-4BB8-8B0E-23C8E3F94CAE}" dt="2018-11-07T03:40:54.393" v="1237" actId="478"/>
          <ac:spMkLst>
            <pc:docMk/>
            <pc:sldMk cId="1845229966" sldId="280"/>
            <ac:spMk id="3" creationId="{3FE6BD24-8395-4D1B-9FBC-16B3640B1948}"/>
          </ac:spMkLst>
        </pc:spChg>
        <pc:spChg chg="add mod">
          <ac:chgData name="Tony Toe" userId="8901cf30983edc6b" providerId="LiveId" clId="{C1442F02-3345-4BB8-8B0E-23C8E3F94CAE}" dt="2018-11-07T03:40:57.817" v="1238" actId="1076"/>
          <ac:spMkLst>
            <pc:docMk/>
            <pc:sldMk cId="1845229966" sldId="280"/>
            <ac:spMk id="4" creationId="{C2884227-5DE1-4705-9E64-143E38DFD107}"/>
          </ac:spMkLst>
        </pc:spChg>
      </pc:sldChg>
      <pc:sldChg chg="addSp delSp modSp add mod setBg">
        <pc:chgData name="Tony Toe" userId="8901cf30983edc6b" providerId="LiveId" clId="{C1442F02-3345-4BB8-8B0E-23C8E3F94CAE}" dt="2018-11-07T03:43:49.182" v="1292" actId="13926"/>
        <pc:sldMkLst>
          <pc:docMk/>
          <pc:sldMk cId="2012060342" sldId="281"/>
        </pc:sldMkLst>
        <pc:spChg chg="mod">
          <ac:chgData name="Tony Toe" userId="8901cf30983edc6b" providerId="LiveId" clId="{C1442F02-3345-4BB8-8B0E-23C8E3F94CAE}" dt="2018-11-07T03:41:37.430" v="1281" actId="26606"/>
          <ac:spMkLst>
            <pc:docMk/>
            <pc:sldMk cId="2012060342" sldId="281"/>
            <ac:spMk id="2" creationId="{66A0CB76-ACF6-417C-8714-F84BE47CAF67}"/>
          </ac:spMkLst>
        </pc:spChg>
        <pc:spChg chg="add del">
          <ac:chgData name="Tony Toe" userId="8901cf30983edc6b" providerId="LiveId" clId="{C1442F02-3345-4BB8-8B0E-23C8E3F94CAE}" dt="2018-11-07T03:41:32.103" v="1279" actId="13926"/>
          <ac:spMkLst>
            <pc:docMk/>
            <pc:sldMk cId="2012060342" sldId="281"/>
            <ac:spMk id="3" creationId="{CA104CC2-8AD4-40BB-AD29-A01981FF1F31}"/>
          </ac:spMkLst>
        </pc:spChg>
        <pc:spChg chg="add del">
          <ac:chgData name="Tony Toe" userId="8901cf30983edc6b" providerId="LiveId" clId="{C1442F02-3345-4BB8-8B0E-23C8E3F94CAE}" dt="2018-11-07T03:41:14.793" v="1241" actId="13926"/>
          <ac:spMkLst>
            <pc:docMk/>
            <pc:sldMk cId="2012060342" sldId="281"/>
            <ac:spMk id="5" creationId="{5F1C5B7B-EE78-423E-8F19-7E8A66F339C1}"/>
          </ac:spMkLst>
        </pc:spChg>
        <pc:spChg chg="add mod">
          <ac:chgData name="Tony Toe" userId="8901cf30983edc6b" providerId="LiveId" clId="{C1442F02-3345-4BB8-8B0E-23C8E3F94CAE}" dt="2018-11-07T03:43:49.182" v="1292" actId="13926"/>
          <ac:spMkLst>
            <pc:docMk/>
            <pc:sldMk cId="2012060342" sldId="281"/>
            <ac:spMk id="7" creationId="{5500E125-A739-445A-A976-BF0C3E1B2C8A}"/>
          </ac:spMkLst>
        </pc:spChg>
        <pc:spChg chg="add mod">
          <ac:chgData name="Tony Toe" userId="8901cf30983edc6b" providerId="LiveId" clId="{C1442F02-3345-4BB8-8B0E-23C8E3F94CAE}" dt="2018-11-07T03:42:42.598" v="1290" actId="11529"/>
          <ac:spMkLst>
            <pc:docMk/>
            <pc:sldMk cId="2012060342" sldId="281"/>
            <ac:spMk id="8" creationId="{1C434B31-0DF0-450D-BB3D-A815E87F3BE5}"/>
          </ac:spMkLst>
        </pc:spChg>
        <pc:graphicFrameChg chg="add del mod">
          <ac:chgData name="Tony Toe" userId="8901cf30983edc6b" providerId="LiveId" clId="{C1442F02-3345-4BB8-8B0E-23C8E3F94CAE}" dt="2018-11-07T03:41:14.793" v="1241" actId="13926"/>
          <ac:graphicFrameMkLst>
            <pc:docMk/>
            <pc:sldMk cId="2012060342" sldId="281"/>
            <ac:graphicFrameMk id="4" creationId="{80857680-7C3B-42E6-ABAC-C090F0FA6C72}"/>
          </ac:graphicFrameMkLst>
        </pc:graphicFrameChg>
        <pc:graphicFrameChg chg="add mod modGraphic">
          <ac:chgData name="Tony Toe" userId="8901cf30983edc6b" providerId="LiveId" clId="{C1442F02-3345-4BB8-8B0E-23C8E3F94CAE}" dt="2018-11-07T03:43:43.368" v="1291" actId="13926"/>
          <ac:graphicFrameMkLst>
            <pc:docMk/>
            <pc:sldMk cId="2012060342" sldId="281"/>
            <ac:graphicFrameMk id="6" creationId="{EA7F043D-9C5E-4AB9-990E-B6787FFAB1F6}"/>
          </ac:graphicFrameMkLst>
        </pc:graphicFrameChg>
      </pc:sldChg>
      <pc:sldChg chg="addSp delSp modSp add">
        <pc:chgData name="Tony Toe" userId="8901cf30983edc6b" providerId="LiveId" clId="{C1442F02-3345-4BB8-8B0E-23C8E3F94CAE}" dt="2018-11-07T03:46:21.533" v="1312" actId="1076"/>
        <pc:sldMkLst>
          <pc:docMk/>
          <pc:sldMk cId="2731599334" sldId="282"/>
        </pc:sldMkLst>
        <pc:spChg chg="mod">
          <ac:chgData name="Tony Toe" userId="8901cf30983edc6b" providerId="LiveId" clId="{C1442F02-3345-4BB8-8B0E-23C8E3F94CAE}" dt="2018-11-07T03:44:01.900" v="1294" actId="1076"/>
          <ac:spMkLst>
            <pc:docMk/>
            <pc:sldMk cId="2731599334" sldId="282"/>
            <ac:spMk id="2" creationId="{82E46549-2BF2-49DC-94E1-AB1C80B67F5B}"/>
          </ac:spMkLst>
        </pc:spChg>
        <pc:spChg chg="del">
          <ac:chgData name="Tony Toe" userId="8901cf30983edc6b" providerId="LiveId" clId="{C1442F02-3345-4BB8-8B0E-23C8E3F94CAE}" dt="2018-11-07T03:44:10.784" v="1295" actId="478"/>
          <ac:spMkLst>
            <pc:docMk/>
            <pc:sldMk cId="2731599334" sldId="282"/>
            <ac:spMk id="3" creationId="{E80BD6E0-4760-46E4-A115-836CD89F0C03}"/>
          </ac:spMkLst>
        </pc:spChg>
        <pc:spChg chg="add mod">
          <ac:chgData name="Tony Toe" userId="8901cf30983edc6b" providerId="LiveId" clId="{C1442F02-3345-4BB8-8B0E-23C8E3F94CAE}" dt="2018-11-07T03:45:39.098" v="1308" actId="13926"/>
          <ac:spMkLst>
            <pc:docMk/>
            <pc:sldMk cId="2731599334" sldId="282"/>
            <ac:spMk id="5" creationId="{C7A88ABA-E7FF-48FA-90FA-236DFE77513F}"/>
          </ac:spMkLst>
        </pc:spChg>
        <pc:spChg chg="add mod">
          <ac:chgData name="Tony Toe" userId="8901cf30983edc6b" providerId="LiveId" clId="{C1442F02-3345-4BB8-8B0E-23C8E3F94CAE}" dt="2018-11-07T03:45:18.955" v="1306" actId="11529"/>
          <ac:spMkLst>
            <pc:docMk/>
            <pc:sldMk cId="2731599334" sldId="282"/>
            <ac:spMk id="6" creationId="{80CC9286-5D88-4997-B5DE-EC62946F42BA}"/>
          </ac:spMkLst>
        </pc:spChg>
        <pc:spChg chg="add mod">
          <ac:chgData name="Tony Toe" userId="8901cf30983edc6b" providerId="LiveId" clId="{C1442F02-3345-4BB8-8B0E-23C8E3F94CAE}" dt="2018-11-07T03:46:21.533" v="1312" actId="1076"/>
          <ac:spMkLst>
            <pc:docMk/>
            <pc:sldMk cId="2731599334" sldId="282"/>
            <ac:spMk id="7" creationId="{48C477FB-E3CD-484A-A319-69D7A1BCC76C}"/>
          </ac:spMkLst>
        </pc:spChg>
        <pc:graphicFrameChg chg="add mod modGraphic">
          <ac:chgData name="Tony Toe" userId="8901cf30983edc6b" providerId="LiveId" clId="{C1442F02-3345-4BB8-8B0E-23C8E3F94CAE}" dt="2018-11-07T03:44:42.164" v="1300" actId="13926"/>
          <ac:graphicFrameMkLst>
            <pc:docMk/>
            <pc:sldMk cId="2731599334" sldId="282"/>
            <ac:graphicFrameMk id="4" creationId="{C8705313-9BAF-46D7-BDD3-BF42C029BF80}"/>
          </ac:graphicFrameMkLst>
        </pc:graphicFrameChg>
      </pc:sldChg>
      <pc:sldChg chg="addSp delSp modSp add">
        <pc:chgData name="Tony Toe" userId="8901cf30983edc6b" providerId="LiveId" clId="{C1442F02-3345-4BB8-8B0E-23C8E3F94CAE}" dt="2018-11-07T03:47:43.289" v="1336" actId="11529"/>
        <pc:sldMkLst>
          <pc:docMk/>
          <pc:sldMk cId="224454288" sldId="283"/>
        </pc:sldMkLst>
        <pc:spChg chg="mod">
          <ac:chgData name="Tony Toe" userId="8901cf30983edc6b" providerId="LiveId" clId="{C1442F02-3345-4BB8-8B0E-23C8E3F94CAE}" dt="2018-11-07T03:46:36.728" v="1328" actId="20577"/>
          <ac:spMkLst>
            <pc:docMk/>
            <pc:sldMk cId="224454288" sldId="283"/>
            <ac:spMk id="2" creationId="{8C6843A6-A07F-4D10-A33D-9F9125BB865E}"/>
          </ac:spMkLst>
        </pc:spChg>
        <pc:spChg chg="del">
          <ac:chgData name="Tony Toe" userId="8901cf30983edc6b" providerId="LiveId" clId="{C1442F02-3345-4BB8-8B0E-23C8E3F94CAE}" dt="2018-11-07T03:46:43.888" v="1329" actId="478"/>
          <ac:spMkLst>
            <pc:docMk/>
            <pc:sldMk cId="224454288" sldId="283"/>
            <ac:spMk id="3" creationId="{38B80C75-8FB6-45DE-A341-B20E0A3EE076}"/>
          </ac:spMkLst>
        </pc:spChg>
        <pc:graphicFrameChg chg="add mod modGraphic">
          <ac:chgData name="Tony Toe" userId="8901cf30983edc6b" providerId="LiveId" clId="{C1442F02-3345-4BB8-8B0E-23C8E3F94CAE}" dt="2018-11-07T03:47:31.465" v="1335" actId="1076"/>
          <ac:graphicFrameMkLst>
            <pc:docMk/>
            <pc:sldMk cId="224454288" sldId="283"/>
            <ac:graphicFrameMk id="4" creationId="{195B6503-894C-4CD4-A82B-AC29E1B75DD7}"/>
          </ac:graphicFrameMkLst>
        </pc:graphicFrameChg>
        <pc:cxnChg chg="add mod">
          <ac:chgData name="Tony Toe" userId="8901cf30983edc6b" providerId="LiveId" clId="{C1442F02-3345-4BB8-8B0E-23C8E3F94CAE}" dt="2018-11-07T03:47:43.289" v="1336" actId="11529"/>
          <ac:cxnSpMkLst>
            <pc:docMk/>
            <pc:sldMk cId="224454288" sldId="283"/>
            <ac:cxnSpMk id="6" creationId="{C8ABCF21-64EE-448A-B4E5-CB7B047819F1}"/>
          </ac:cxnSpMkLst>
        </pc:cxnChg>
      </pc:sldChg>
      <pc:sldChg chg="addSp delSp modSp add">
        <pc:chgData name="Tony Toe" userId="8901cf30983edc6b" providerId="LiveId" clId="{C1442F02-3345-4BB8-8B0E-23C8E3F94CAE}" dt="2018-11-07T03:48:44.486" v="1366" actId="11529"/>
        <pc:sldMkLst>
          <pc:docMk/>
          <pc:sldMk cId="1353420490" sldId="284"/>
        </pc:sldMkLst>
        <pc:spChg chg="mod">
          <ac:chgData name="Tony Toe" userId="8901cf30983edc6b" providerId="LiveId" clId="{C1442F02-3345-4BB8-8B0E-23C8E3F94CAE}" dt="2018-11-07T03:48:07.102" v="1359" actId="313"/>
          <ac:spMkLst>
            <pc:docMk/>
            <pc:sldMk cId="1353420490" sldId="284"/>
            <ac:spMk id="2" creationId="{59CC1552-B16F-43C9-96C2-1F34D60FB217}"/>
          </ac:spMkLst>
        </pc:spChg>
        <pc:spChg chg="del">
          <ac:chgData name="Tony Toe" userId="8901cf30983edc6b" providerId="LiveId" clId="{C1442F02-3345-4BB8-8B0E-23C8E3F94CAE}" dt="2018-11-07T03:47:58.512" v="1357" actId="478"/>
          <ac:spMkLst>
            <pc:docMk/>
            <pc:sldMk cId="1353420490" sldId="284"/>
            <ac:spMk id="3" creationId="{FEBD7888-0B1E-4F9A-8969-CCA2CD033303}"/>
          </ac:spMkLst>
        </pc:spChg>
        <pc:graphicFrameChg chg="add mod modGraphic">
          <ac:chgData name="Tony Toe" userId="8901cf30983edc6b" providerId="LiveId" clId="{C1442F02-3345-4BB8-8B0E-23C8E3F94CAE}" dt="2018-11-07T03:48:36.819" v="1365" actId="1076"/>
          <ac:graphicFrameMkLst>
            <pc:docMk/>
            <pc:sldMk cId="1353420490" sldId="284"/>
            <ac:graphicFrameMk id="4" creationId="{2AACF460-ECA9-4BC9-881A-AA8A6D676B32}"/>
          </ac:graphicFrameMkLst>
        </pc:graphicFrameChg>
        <pc:cxnChg chg="add mod">
          <ac:chgData name="Tony Toe" userId="8901cf30983edc6b" providerId="LiveId" clId="{C1442F02-3345-4BB8-8B0E-23C8E3F94CAE}" dt="2018-11-07T03:48:44.486" v="1366" actId="11529"/>
          <ac:cxnSpMkLst>
            <pc:docMk/>
            <pc:sldMk cId="1353420490" sldId="284"/>
            <ac:cxnSpMk id="6" creationId="{5D2B5455-F3D5-4063-8979-A2D587E37E58}"/>
          </ac:cxnSpMkLst>
        </pc:cxnChg>
      </pc:sldChg>
      <pc:sldChg chg="modSp add">
        <pc:chgData name="Tony Toe" userId="8901cf30983edc6b" providerId="LiveId" clId="{C1442F02-3345-4BB8-8B0E-23C8E3F94CAE}" dt="2018-11-07T03:49:15.072" v="1414" actId="20577"/>
        <pc:sldMkLst>
          <pc:docMk/>
          <pc:sldMk cId="842387938" sldId="285"/>
        </pc:sldMkLst>
        <pc:spChg chg="mod">
          <ac:chgData name="Tony Toe" userId="8901cf30983edc6b" providerId="LiveId" clId="{C1442F02-3345-4BB8-8B0E-23C8E3F94CAE}" dt="2018-11-07T03:49:05.617" v="1379" actId="20577"/>
          <ac:spMkLst>
            <pc:docMk/>
            <pc:sldMk cId="842387938" sldId="285"/>
            <ac:spMk id="2" creationId="{87CC4303-961B-4F9E-8A46-0F809C33ED94}"/>
          </ac:spMkLst>
        </pc:spChg>
        <pc:spChg chg="mod">
          <ac:chgData name="Tony Toe" userId="8901cf30983edc6b" providerId="LiveId" clId="{C1442F02-3345-4BB8-8B0E-23C8E3F94CAE}" dt="2018-11-07T03:49:15.072" v="1414" actId="20577"/>
          <ac:spMkLst>
            <pc:docMk/>
            <pc:sldMk cId="842387938" sldId="285"/>
            <ac:spMk id="3" creationId="{D3635190-C5CA-45F1-B3DE-3ED97404023E}"/>
          </ac:spMkLst>
        </pc:spChg>
      </pc:sldChg>
      <pc:sldChg chg="modSp add">
        <pc:chgData name="Tony Toe" userId="8901cf30983edc6b" providerId="LiveId" clId="{C1442F02-3345-4BB8-8B0E-23C8E3F94CAE}" dt="2018-11-09T08:53:22.890" v="1735" actId="20577"/>
        <pc:sldMkLst>
          <pc:docMk/>
          <pc:sldMk cId="1800740791" sldId="286"/>
        </pc:sldMkLst>
        <pc:spChg chg="mod">
          <ac:chgData name="Tony Toe" userId="8901cf30983edc6b" providerId="LiveId" clId="{C1442F02-3345-4BB8-8B0E-23C8E3F94CAE}" dt="2018-11-09T08:51:20.450" v="1552" actId="20577"/>
          <ac:spMkLst>
            <pc:docMk/>
            <pc:sldMk cId="1800740791" sldId="286"/>
            <ac:spMk id="2" creationId="{B5015436-C8EC-4095-8DF1-C55DFC3843E5}"/>
          </ac:spMkLst>
        </pc:spChg>
        <pc:spChg chg="mod">
          <ac:chgData name="Tony Toe" userId="8901cf30983edc6b" providerId="LiveId" clId="{C1442F02-3345-4BB8-8B0E-23C8E3F94CAE}" dt="2018-11-09T08:53:22.890" v="1735" actId="20577"/>
          <ac:spMkLst>
            <pc:docMk/>
            <pc:sldMk cId="1800740791" sldId="286"/>
            <ac:spMk id="3" creationId="{63C27EF6-3248-4E49-A5C5-7826FDFEAB5D}"/>
          </ac:spMkLst>
        </pc:spChg>
      </pc:sldChg>
      <pc:sldMasterChg chg="modSldLayout">
        <pc:chgData name="Tony Toe" userId="8901cf30983edc6b" providerId="LiveId" clId="{C1442F02-3345-4BB8-8B0E-23C8E3F94CAE}" dt="2018-11-07T03:59:46.980" v="1540" actId="20577"/>
        <pc:sldMasterMkLst>
          <pc:docMk/>
          <pc:sldMasterMk cId="236828940" sldId="2147483648"/>
        </pc:sldMasterMkLst>
        <pc:sldLayoutChg chg="addSp">
          <pc:chgData name="Tony Toe" userId="8901cf30983edc6b" providerId="LiveId" clId="{C1442F02-3345-4BB8-8B0E-23C8E3F94CAE}" dt="2018-11-07T03:59:46.980" v="1540" actId="20577"/>
          <pc:sldLayoutMkLst>
            <pc:docMk/>
            <pc:sldMasterMk cId="236828940" sldId="2147483648"/>
            <pc:sldLayoutMk cId="4054162043" sldId="2147483649"/>
          </pc:sldLayoutMkLst>
          <pc:spChg chg="add">
            <ac:chgData name="Tony Toe" userId="8901cf30983edc6b" providerId="LiveId" clId="{C1442F02-3345-4BB8-8B0E-23C8E3F94CAE}" dt="2018-11-07T03:59:46.980" v="1540" actId="20577"/>
            <ac:spMkLst>
              <pc:docMk/>
              <pc:sldMasterMk cId="236828940" sldId="2147483648"/>
              <pc:sldLayoutMk cId="4054162043" sldId="2147483649"/>
              <ac:spMk id="8" creationId="{B9059644-BD68-48DA-B90B-E97D932F04F4}"/>
            </ac:spMkLst>
          </pc:spChg>
          <pc:spChg chg="add">
            <ac:chgData name="Tony Toe" userId="8901cf30983edc6b" providerId="LiveId" clId="{C1442F02-3345-4BB8-8B0E-23C8E3F94CAE}" dt="2018-11-07T03:59:46.980" v="1540" actId="20577"/>
            <ac:spMkLst>
              <pc:docMk/>
              <pc:sldMasterMk cId="236828940" sldId="2147483648"/>
              <pc:sldLayoutMk cId="4054162043" sldId="2147483649"/>
              <ac:spMk id="9" creationId="{3AEF5720-1197-40C8-BFBA-5BF0AC560111}"/>
            </ac:spMkLst>
          </pc:spChg>
          <pc:picChg chg="add">
            <ac:chgData name="Tony Toe" userId="8901cf30983edc6b" providerId="LiveId" clId="{C1442F02-3345-4BB8-8B0E-23C8E3F94CAE}" dt="2018-11-07T03:59:46.980" v="1540" actId="20577"/>
            <ac:picMkLst>
              <pc:docMk/>
              <pc:sldMasterMk cId="236828940" sldId="2147483648"/>
              <pc:sldLayoutMk cId="4054162043" sldId="2147483649"/>
              <ac:picMk id="10" creationId="{81CE94B4-04F5-4161-95DF-2EB53BA97E45}"/>
            </ac:picMkLst>
          </pc:picChg>
          <pc:cxnChg chg="add">
            <ac:chgData name="Tony Toe" userId="8901cf30983edc6b" providerId="LiveId" clId="{C1442F02-3345-4BB8-8B0E-23C8E3F94CAE}" dt="2018-11-07T03:59:46.980" v="1540" actId="20577"/>
            <ac:cxnSpMkLst>
              <pc:docMk/>
              <pc:sldMasterMk cId="236828940" sldId="2147483648"/>
              <pc:sldLayoutMk cId="4054162043" sldId="2147483649"/>
              <ac:cxnSpMk id="7" creationId="{35D354F6-1E43-4FE2-9416-04E184CE86D7}"/>
            </ac:cxnSpMkLst>
          </pc:cxnChg>
        </pc:sldLayoutChg>
        <pc:sldLayoutChg chg="addSp delSp modSp">
          <pc:chgData name="Tony Toe" userId="8901cf30983edc6b" providerId="LiveId" clId="{C1442F02-3345-4BB8-8B0E-23C8E3F94CAE}" dt="2018-11-07T03:59:12.708" v="1539" actId="167"/>
          <pc:sldLayoutMkLst>
            <pc:docMk/>
            <pc:sldMasterMk cId="236828940" sldId="2147483648"/>
            <pc:sldLayoutMk cId="1864361372" sldId="2147483650"/>
          </pc:sldLayoutMkLst>
          <pc:spChg chg="add mod">
            <ac:chgData name="Tony Toe" userId="8901cf30983edc6b" providerId="LiveId" clId="{C1442F02-3345-4BB8-8B0E-23C8E3F94CAE}" dt="2018-11-07T03:56:20.415" v="1462" actId="14100"/>
            <ac:spMkLst>
              <pc:docMk/>
              <pc:sldMasterMk cId="236828940" sldId="2147483648"/>
              <pc:sldLayoutMk cId="1864361372" sldId="2147483650"/>
              <ac:spMk id="9" creationId="{7F2E3DB5-B764-4A40-95A7-3FCFC0735F10}"/>
            </ac:spMkLst>
          </pc:spChg>
          <pc:spChg chg="add mod">
            <ac:chgData name="Tony Toe" userId="8901cf30983edc6b" providerId="LiveId" clId="{C1442F02-3345-4BB8-8B0E-23C8E3F94CAE}" dt="2018-11-07T03:57:48.350" v="1474" actId="14100"/>
            <ac:spMkLst>
              <pc:docMk/>
              <pc:sldMasterMk cId="236828940" sldId="2147483648"/>
              <pc:sldLayoutMk cId="1864361372" sldId="2147483650"/>
              <ac:spMk id="12" creationId="{8DDA959D-3244-40DF-8C39-48899F94628E}"/>
            </ac:spMkLst>
          </pc:spChg>
          <pc:picChg chg="add mod ord">
            <ac:chgData name="Tony Toe" userId="8901cf30983edc6b" providerId="LiveId" clId="{C1442F02-3345-4BB8-8B0E-23C8E3F94CAE}" dt="2018-11-07T03:57:53.712" v="1479" actId="1038"/>
            <ac:picMkLst>
              <pc:docMk/>
              <pc:sldMasterMk cId="236828940" sldId="2147483648"/>
              <pc:sldLayoutMk cId="1864361372" sldId="2147483650"/>
              <ac:picMk id="11" creationId="{0E49D956-4E7D-4FF0-9764-CA5EA52DF041}"/>
            </ac:picMkLst>
          </pc:picChg>
          <pc:cxnChg chg="add del mod">
            <ac:chgData name="Tony Toe" userId="8901cf30983edc6b" providerId="LiveId" clId="{C1442F02-3345-4BB8-8B0E-23C8E3F94CAE}" dt="2018-11-07T03:58:16.759" v="1526" actId="478"/>
            <ac:cxnSpMkLst>
              <pc:docMk/>
              <pc:sldMasterMk cId="236828940" sldId="2147483648"/>
              <pc:sldLayoutMk cId="1864361372" sldId="2147483650"/>
              <ac:cxnSpMk id="14" creationId="{5E4C11DD-567C-46CF-8316-3D294DCDDC45}"/>
            </ac:cxnSpMkLst>
          </pc:cxnChg>
          <pc:cxnChg chg="add mod ord">
            <ac:chgData name="Tony Toe" userId="8901cf30983edc6b" providerId="LiveId" clId="{C1442F02-3345-4BB8-8B0E-23C8E3F94CAE}" dt="2018-11-07T03:59:12.708" v="1539" actId="167"/>
            <ac:cxnSpMkLst>
              <pc:docMk/>
              <pc:sldMasterMk cId="236828940" sldId="2147483648"/>
              <pc:sldLayoutMk cId="1864361372" sldId="2147483650"/>
              <ac:cxnSpMk id="16" creationId="{3572CAD7-C006-4353-A7EB-D4461834FFBC}"/>
            </ac:cxnSpMkLst>
          </pc:cxn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17000B-7DC9-49F9-AC88-2169B6A36257}" type="datetimeFigureOut">
              <a:rPr lang="en-SG" smtClean="0"/>
              <a:t>16/4/2020</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081601-C851-40DE-95AD-C36D47D7E00B}" type="slidenum">
              <a:rPr lang="en-SG" smtClean="0"/>
              <a:t>‹#›</a:t>
            </a:fld>
            <a:endParaRPr lang="en-SG"/>
          </a:p>
        </p:txBody>
      </p:sp>
    </p:spTree>
    <p:extLst>
      <p:ext uri="{BB962C8B-B14F-4D97-AF65-F5344CB8AC3E}">
        <p14:creationId xmlns:p14="http://schemas.microsoft.com/office/powerpoint/2010/main" val="3364688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72B97-BF01-4A6E-A887-3F68610F45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8A017F3B-3C8D-44EC-B168-4DF402D980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cxnSp>
        <p:nvCxnSpPr>
          <p:cNvPr id="7" name="Straight Connector 6">
            <a:extLst>
              <a:ext uri="{FF2B5EF4-FFF2-40B4-BE49-F238E27FC236}">
                <a16:creationId xmlns:a16="http://schemas.microsoft.com/office/drawing/2014/main" id="{35D354F6-1E43-4FE2-9416-04E184CE86D7}"/>
              </a:ext>
            </a:extLst>
          </p:cNvPr>
          <p:cNvCxnSpPr/>
          <p:nvPr userDrawn="1"/>
        </p:nvCxnSpPr>
        <p:spPr>
          <a:xfrm>
            <a:off x="11968120" y="-1"/>
            <a:ext cx="0" cy="6858001"/>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8" name="Rectangle 7">
            <a:extLst>
              <a:ext uri="{FF2B5EF4-FFF2-40B4-BE49-F238E27FC236}">
                <a16:creationId xmlns:a16="http://schemas.microsoft.com/office/drawing/2014/main" id="{B9059644-BD68-48DA-B90B-E97D932F04F4}"/>
              </a:ext>
            </a:extLst>
          </p:cNvPr>
          <p:cNvSpPr/>
          <p:nvPr userDrawn="1"/>
        </p:nvSpPr>
        <p:spPr>
          <a:xfrm rot="16200000">
            <a:off x="-3149825" y="3149825"/>
            <a:ext cx="6858000" cy="55835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L09-Setting a Shopify Site (B2C) Part 3</a:t>
            </a:r>
          </a:p>
        </p:txBody>
      </p:sp>
      <p:sp>
        <p:nvSpPr>
          <p:cNvPr id="9" name="Rectangle 8">
            <a:extLst>
              <a:ext uri="{FF2B5EF4-FFF2-40B4-BE49-F238E27FC236}">
                <a16:creationId xmlns:a16="http://schemas.microsoft.com/office/drawing/2014/main" id="{3AEF5720-1197-40C8-BFBA-5BF0AC560111}"/>
              </a:ext>
            </a:extLst>
          </p:cNvPr>
          <p:cNvSpPr/>
          <p:nvPr userDrawn="1"/>
        </p:nvSpPr>
        <p:spPr>
          <a:xfrm rot="16200000">
            <a:off x="8708043" y="3359882"/>
            <a:ext cx="6858000" cy="138235"/>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10" name="Picture 9" descr="A picture containing clipart&#10;&#10;Description automatically generated">
            <a:extLst>
              <a:ext uri="{FF2B5EF4-FFF2-40B4-BE49-F238E27FC236}">
                <a16:creationId xmlns:a16="http://schemas.microsoft.com/office/drawing/2014/main" id="{81CE94B4-04F5-4161-95DF-2EB53BA97E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3459" y="292397"/>
            <a:ext cx="1364857" cy="737891"/>
          </a:xfrm>
          <a:prstGeom prst="rect">
            <a:avLst/>
          </a:prstGeom>
        </p:spPr>
      </p:pic>
    </p:spTree>
    <p:extLst>
      <p:ext uri="{BB962C8B-B14F-4D97-AF65-F5344CB8AC3E}">
        <p14:creationId xmlns:p14="http://schemas.microsoft.com/office/powerpoint/2010/main" val="4054162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3572CAD7-C006-4353-A7EB-D4461834FFBC}"/>
              </a:ext>
            </a:extLst>
          </p:cNvPr>
          <p:cNvCxnSpPr/>
          <p:nvPr userDrawn="1"/>
        </p:nvCxnSpPr>
        <p:spPr>
          <a:xfrm>
            <a:off x="11968120" y="-1"/>
            <a:ext cx="0" cy="6858001"/>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 name="Title 1">
            <a:extLst>
              <a:ext uri="{FF2B5EF4-FFF2-40B4-BE49-F238E27FC236}">
                <a16:creationId xmlns:a16="http://schemas.microsoft.com/office/drawing/2014/main" id="{47B28D83-E4C8-4915-BA61-71ABB0F33829}"/>
              </a:ext>
            </a:extLst>
          </p:cNvPr>
          <p:cNvSpPr>
            <a:spLocks noGrp="1"/>
          </p:cNvSpPr>
          <p:nvPr>
            <p:ph type="title"/>
          </p:nvPr>
        </p:nvSpPr>
        <p:spPr/>
        <p:txBody>
          <a:bodyPr/>
          <a:lstStyle/>
          <a:p>
            <a:r>
              <a:rPr lang="en-US" dirty="0"/>
              <a:t>Click to edit Master title style</a:t>
            </a:r>
            <a:endParaRPr lang="en-SG" dirty="0"/>
          </a:p>
        </p:txBody>
      </p:sp>
      <p:sp>
        <p:nvSpPr>
          <p:cNvPr id="3" name="Content Placeholder 2">
            <a:extLst>
              <a:ext uri="{FF2B5EF4-FFF2-40B4-BE49-F238E27FC236}">
                <a16:creationId xmlns:a16="http://schemas.microsoft.com/office/drawing/2014/main" id="{A14FA9BB-BB69-451E-A09E-59180997522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Footer Placeholder 4">
            <a:extLst>
              <a:ext uri="{FF2B5EF4-FFF2-40B4-BE49-F238E27FC236}">
                <a16:creationId xmlns:a16="http://schemas.microsoft.com/office/drawing/2014/main" id="{A481BA36-121F-4271-BF92-82AF8DFB304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6B2813FB-3A55-4A8D-AEBA-1AF76B7ADB7A}"/>
              </a:ext>
            </a:extLst>
          </p:cNvPr>
          <p:cNvSpPr>
            <a:spLocks noGrp="1"/>
          </p:cNvSpPr>
          <p:nvPr>
            <p:ph type="sldNum" sz="quarter" idx="12"/>
          </p:nvPr>
        </p:nvSpPr>
        <p:spPr/>
        <p:txBody>
          <a:bodyPr/>
          <a:lstStyle/>
          <a:p>
            <a:fld id="{C3874EC8-7A34-473C-985C-63460AF7DDB5}" type="slidenum">
              <a:rPr lang="en-SG" smtClean="0"/>
              <a:t>‹#›</a:t>
            </a:fld>
            <a:endParaRPr lang="en-SG"/>
          </a:p>
        </p:txBody>
      </p:sp>
      <p:sp>
        <p:nvSpPr>
          <p:cNvPr id="12" name="Rectangle 11">
            <a:extLst>
              <a:ext uri="{FF2B5EF4-FFF2-40B4-BE49-F238E27FC236}">
                <a16:creationId xmlns:a16="http://schemas.microsoft.com/office/drawing/2014/main" id="{8DDA959D-3244-40DF-8C39-48899F94628E}"/>
              </a:ext>
            </a:extLst>
          </p:cNvPr>
          <p:cNvSpPr/>
          <p:nvPr userDrawn="1"/>
        </p:nvSpPr>
        <p:spPr>
          <a:xfrm rot="16200000">
            <a:off x="8708043" y="3359882"/>
            <a:ext cx="6858000" cy="138235"/>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11" name="Picture 10" descr="A picture containing clipart&#10;&#10;Description automatically generated">
            <a:extLst>
              <a:ext uri="{FF2B5EF4-FFF2-40B4-BE49-F238E27FC236}">
                <a16:creationId xmlns:a16="http://schemas.microsoft.com/office/drawing/2014/main" id="{0E49D956-4E7D-4FF0-9764-CA5EA52DF0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3459" y="185738"/>
            <a:ext cx="1364857" cy="737891"/>
          </a:xfrm>
          <a:prstGeom prst="rect">
            <a:avLst/>
          </a:prstGeom>
        </p:spPr>
      </p:pic>
      <p:sp>
        <p:nvSpPr>
          <p:cNvPr id="13" name="Rectangle 12">
            <a:extLst>
              <a:ext uri="{FF2B5EF4-FFF2-40B4-BE49-F238E27FC236}">
                <a16:creationId xmlns:a16="http://schemas.microsoft.com/office/drawing/2014/main" id="{63F60AA0-60D3-44E7-AA58-512F3EC9AC93}"/>
              </a:ext>
            </a:extLst>
          </p:cNvPr>
          <p:cNvSpPr/>
          <p:nvPr userDrawn="1"/>
        </p:nvSpPr>
        <p:spPr>
          <a:xfrm rot="16200000">
            <a:off x="-3149825" y="3149825"/>
            <a:ext cx="6858000" cy="55835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L09-Setting a Shopify Site (B2C) Part 3</a:t>
            </a:r>
          </a:p>
        </p:txBody>
      </p:sp>
    </p:spTree>
    <p:extLst>
      <p:ext uri="{BB962C8B-B14F-4D97-AF65-F5344CB8AC3E}">
        <p14:creationId xmlns:p14="http://schemas.microsoft.com/office/powerpoint/2010/main" val="1864361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ACBC9-E257-4172-AC12-4AC9239B49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76C25E9-6D4F-4823-AE7C-483A3110D3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C4586F1-3FAF-4510-86BF-33A8937095D9}"/>
              </a:ext>
            </a:extLst>
          </p:cNvPr>
          <p:cNvSpPr>
            <a:spLocks noGrp="1"/>
          </p:cNvSpPr>
          <p:nvPr>
            <p:ph type="dt" sz="half" idx="10"/>
          </p:nvPr>
        </p:nvSpPr>
        <p:spPr/>
        <p:txBody>
          <a:bodyPr/>
          <a:lstStyle/>
          <a:p>
            <a:fld id="{4D0E5ED6-F25D-41F1-AAC9-E78DC995B25D}" type="datetimeFigureOut">
              <a:rPr lang="en-SG" smtClean="0"/>
              <a:t>16/4/2020</a:t>
            </a:fld>
            <a:endParaRPr lang="en-SG"/>
          </a:p>
        </p:txBody>
      </p:sp>
      <p:sp>
        <p:nvSpPr>
          <p:cNvPr id="5" name="Footer Placeholder 4">
            <a:extLst>
              <a:ext uri="{FF2B5EF4-FFF2-40B4-BE49-F238E27FC236}">
                <a16:creationId xmlns:a16="http://schemas.microsoft.com/office/drawing/2014/main" id="{BF0F3B4C-BEC0-49A2-A45C-7D334E88683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A640D68-B742-47B0-9398-98B0F76BD945}"/>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914705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82605-5E95-4ACC-B9CD-4903C97CA65B}"/>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5DDD9895-7D0C-431B-9D5A-C31AC039C4C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32A779E9-397B-4F66-B41D-BB342E6724D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BDC374F6-3A40-4E65-ABFB-7A2C68D89CC3}"/>
              </a:ext>
            </a:extLst>
          </p:cNvPr>
          <p:cNvSpPr>
            <a:spLocks noGrp="1"/>
          </p:cNvSpPr>
          <p:nvPr>
            <p:ph type="dt" sz="half" idx="10"/>
          </p:nvPr>
        </p:nvSpPr>
        <p:spPr/>
        <p:txBody>
          <a:bodyPr/>
          <a:lstStyle/>
          <a:p>
            <a:fld id="{4D0E5ED6-F25D-41F1-AAC9-E78DC995B25D}" type="datetimeFigureOut">
              <a:rPr lang="en-SG" smtClean="0"/>
              <a:t>16/4/2020</a:t>
            </a:fld>
            <a:endParaRPr lang="en-SG"/>
          </a:p>
        </p:txBody>
      </p:sp>
      <p:sp>
        <p:nvSpPr>
          <p:cNvPr id="6" name="Footer Placeholder 5">
            <a:extLst>
              <a:ext uri="{FF2B5EF4-FFF2-40B4-BE49-F238E27FC236}">
                <a16:creationId xmlns:a16="http://schemas.microsoft.com/office/drawing/2014/main" id="{569C9A97-5042-465C-BBED-81AF8C2A0730}"/>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C7A5479-C27D-45D9-AE08-EE452A49D1D6}"/>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938026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A4891-15D3-4754-84C2-E5543F06473E}"/>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1F4E125-0BF0-46DA-AE52-B6C10FC94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7377E3B-ACAA-4F9F-8D86-14B8758E62F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749E3A2A-3233-44D6-AF71-16EEA602A2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513C41A-D68A-46DA-855E-E1D8D4885EB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2ACD9258-6F83-419D-9540-19D71D803B18}"/>
              </a:ext>
            </a:extLst>
          </p:cNvPr>
          <p:cNvSpPr>
            <a:spLocks noGrp="1"/>
          </p:cNvSpPr>
          <p:nvPr>
            <p:ph type="dt" sz="half" idx="10"/>
          </p:nvPr>
        </p:nvSpPr>
        <p:spPr/>
        <p:txBody>
          <a:bodyPr/>
          <a:lstStyle/>
          <a:p>
            <a:fld id="{4D0E5ED6-F25D-41F1-AAC9-E78DC995B25D}" type="datetimeFigureOut">
              <a:rPr lang="en-SG" smtClean="0"/>
              <a:t>16/4/2020</a:t>
            </a:fld>
            <a:endParaRPr lang="en-SG"/>
          </a:p>
        </p:txBody>
      </p:sp>
      <p:sp>
        <p:nvSpPr>
          <p:cNvPr id="8" name="Footer Placeholder 7">
            <a:extLst>
              <a:ext uri="{FF2B5EF4-FFF2-40B4-BE49-F238E27FC236}">
                <a16:creationId xmlns:a16="http://schemas.microsoft.com/office/drawing/2014/main" id="{E7564971-15B4-4DC3-B2CB-00DCE6E60C9F}"/>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DABA4FE-DF9D-40D9-82D2-6D0F00B268DF}"/>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120263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1FC2B-977A-40CD-9CC9-22479607B315}"/>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A6BA7718-914F-4E13-AC0C-C7C5BE9FCD1A}"/>
              </a:ext>
            </a:extLst>
          </p:cNvPr>
          <p:cNvSpPr>
            <a:spLocks noGrp="1"/>
          </p:cNvSpPr>
          <p:nvPr>
            <p:ph type="dt" sz="half" idx="10"/>
          </p:nvPr>
        </p:nvSpPr>
        <p:spPr/>
        <p:txBody>
          <a:bodyPr/>
          <a:lstStyle/>
          <a:p>
            <a:fld id="{4D0E5ED6-F25D-41F1-AAC9-E78DC995B25D}" type="datetimeFigureOut">
              <a:rPr lang="en-SG" smtClean="0"/>
              <a:t>16/4/2020</a:t>
            </a:fld>
            <a:endParaRPr lang="en-SG"/>
          </a:p>
        </p:txBody>
      </p:sp>
      <p:sp>
        <p:nvSpPr>
          <p:cNvPr id="4" name="Footer Placeholder 3">
            <a:extLst>
              <a:ext uri="{FF2B5EF4-FFF2-40B4-BE49-F238E27FC236}">
                <a16:creationId xmlns:a16="http://schemas.microsoft.com/office/drawing/2014/main" id="{A970CF05-D59E-4AF3-842B-7C757C16A0B8}"/>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96A77DE9-3557-46EE-B523-7207E0EA6073}"/>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413154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549786-F49C-4973-8751-25E29B2A0071}"/>
              </a:ext>
            </a:extLst>
          </p:cNvPr>
          <p:cNvSpPr>
            <a:spLocks noGrp="1"/>
          </p:cNvSpPr>
          <p:nvPr>
            <p:ph type="dt" sz="half" idx="10"/>
          </p:nvPr>
        </p:nvSpPr>
        <p:spPr/>
        <p:txBody>
          <a:bodyPr/>
          <a:lstStyle/>
          <a:p>
            <a:fld id="{4D0E5ED6-F25D-41F1-AAC9-E78DC995B25D}" type="datetimeFigureOut">
              <a:rPr lang="en-SG" smtClean="0"/>
              <a:t>16/4/2020</a:t>
            </a:fld>
            <a:endParaRPr lang="en-SG"/>
          </a:p>
        </p:txBody>
      </p:sp>
      <p:sp>
        <p:nvSpPr>
          <p:cNvPr id="3" name="Footer Placeholder 2">
            <a:extLst>
              <a:ext uri="{FF2B5EF4-FFF2-40B4-BE49-F238E27FC236}">
                <a16:creationId xmlns:a16="http://schemas.microsoft.com/office/drawing/2014/main" id="{6271183E-762E-4B73-9B17-A3DA24F18521}"/>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D4FB1A84-DF94-4F99-A49C-B03B19E00320}"/>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1206635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4D841-3D44-423C-91C3-F7A515D00F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ED5C97E8-4AF6-4659-BEA1-898853C4E1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6494655B-56F3-4B61-A474-67D86A379F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B0E7BC3-2791-4AB5-ADAE-0C7F4E707D9A}"/>
              </a:ext>
            </a:extLst>
          </p:cNvPr>
          <p:cNvSpPr>
            <a:spLocks noGrp="1"/>
          </p:cNvSpPr>
          <p:nvPr>
            <p:ph type="dt" sz="half" idx="10"/>
          </p:nvPr>
        </p:nvSpPr>
        <p:spPr/>
        <p:txBody>
          <a:bodyPr/>
          <a:lstStyle/>
          <a:p>
            <a:fld id="{4D0E5ED6-F25D-41F1-AAC9-E78DC995B25D}" type="datetimeFigureOut">
              <a:rPr lang="en-SG" smtClean="0"/>
              <a:t>16/4/2020</a:t>
            </a:fld>
            <a:endParaRPr lang="en-SG"/>
          </a:p>
        </p:txBody>
      </p:sp>
      <p:sp>
        <p:nvSpPr>
          <p:cNvPr id="6" name="Footer Placeholder 5">
            <a:extLst>
              <a:ext uri="{FF2B5EF4-FFF2-40B4-BE49-F238E27FC236}">
                <a16:creationId xmlns:a16="http://schemas.microsoft.com/office/drawing/2014/main" id="{68C31823-8CDE-4274-A19F-1E39E5E07967}"/>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A5FF46A9-8465-4B40-86FD-D275335D3C4C}"/>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2882940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54D9A-D792-4F7E-AA19-63A97B96C2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517937E6-2053-48FC-B428-429E20BDE7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B91DE880-7950-4911-AC27-4B0D372E7A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92A2BD9-F85B-45B4-91FB-9240F62DDC59}"/>
              </a:ext>
            </a:extLst>
          </p:cNvPr>
          <p:cNvSpPr>
            <a:spLocks noGrp="1"/>
          </p:cNvSpPr>
          <p:nvPr>
            <p:ph type="dt" sz="half" idx="10"/>
          </p:nvPr>
        </p:nvSpPr>
        <p:spPr/>
        <p:txBody>
          <a:bodyPr/>
          <a:lstStyle/>
          <a:p>
            <a:fld id="{4D0E5ED6-F25D-41F1-AAC9-E78DC995B25D}" type="datetimeFigureOut">
              <a:rPr lang="en-SG" smtClean="0"/>
              <a:t>16/4/2020</a:t>
            </a:fld>
            <a:endParaRPr lang="en-SG"/>
          </a:p>
        </p:txBody>
      </p:sp>
      <p:sp>
        <p:nvSpPr>
          <p:cNvPr id="6" name="Footer Placeholder 5">
            <a:extLst>
              <a:ext uri="{FF2B5EF4-FFF2-40B4-BE49-F238E27FC236}">
                <a16:creationId xmlns:a16="http://schemas.microsoft.com/office/drawing/2014/main" id="{6FA3668D-7030-4594-8DC9-C9B44E451DD8}"/>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7FE3C865-F7B5-4870-8694-ED39F9CA476A}"/>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546016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9EC3D-9000-436C-BBFF-06FD2E29A6F5}"/>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4E3804C-57F6-4D6F-88D1-0FD3BE6F1F0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A74962E-FC03-49B4-8F16-72F0A6D13434}"/>
              </a:ext>
            </a:extLst>
          </p:cNvPr>
          <p:cNvSpPr>
            <a:spLocks noGrp="1"/>
          </p:cNvSpPr>
          <p:nvPr>
            <p:ph type="dt" sz="half" idx="10"/>
          </p:nvPr>
        </p:nvSpPr>
        <p:spPr/>
        <p:txBody>
          <a:bodyPr/>
          <a:lstStyle/>
          <a:p>
            <a:fld id="{4D0E5ED6-F25D-41F1-AAC9-E78DC995B25D}" type="datetimeFigureOut">
              <a:rPr lang="en-SG" smtClean="0"/>
              <a:t>16/4/2020</a:t>
            </a:fld>
            <a:endParaRPr lang="en-SG"/>
          </a:p>
        </p:txBody>
      </p:sp>
      <p:sp>
        <p:nvSpPr>
          <p:cNvPr id="5" name="Footer Placeholder 4">
            <a:extLst>
              <a:ext uri="{FF2B5EF4-FFF2-40B4-BE49-F238E27FC236}">
                <a16:creationId xmlns:a16="http://schemas.microsoft.com/office/drawing/2014/main" id="{5E696B7B-C59A-47E6-A797-2064020725B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A727256-871B-433F-8D7F-15EAF8E9354F}"/>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494091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6E79DC-D4AB-4EF5-AD3D-FEF8208239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2D9851C7-3427-41D1-A1F2-6C3D09DD51B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C5323B8-0D9A-406A-9FB6-2441F678D650}"/>
              </a:ext>
            </a:extLst>
          </p:cNvPr>
          <p:cNvSpPr>
            <a:spLocks noGrp="1"/>
          </p:cNvSpPr>
          <p:nvPr>
            <p:ph type="dt" sz="half" idx="10"/>
          </p:nvPr>
        </p:nvSpPr>
        <p:spPr/>
        <p:txBody>
          <a:bodyPr/>
          <a:lstStyle/>
          <a:p>
            <a:fld id="{4D0E5ED6-F25D-41F1-AAC9-E78DC995B25D}" type="datetimeFigureOut">
              <a:rPr lang="en-SG" smtClean="0"/>
              <a:t>16/4/2020</a:t>
            </a:fld>
            <a:endParaRPr lang="en-SG"/>
          </a:p>
        </p:txBody>
      </p:sp>
      <p:sp>
        <p:nvSpPr>
          <p:cNvPr id="5" name="Footer Placeholder 4">
            <a:extLst>
              <a:ext uri="{FF2B5EF4-FFF2-40B4-BE49-F238E27FC236}">
                <a16:creationId xmlns:a16="http://schemas.microsoft.com/office/drawing/2014/main" id="{8F1172E5-006A-4155-9842-087F938A78D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73F49D6-B941-48B9-94A0-5AC0211F88D0}"/>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987212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25C447-9B03-43B9-828E-4720858298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869C0CED-A812-4110-9DA5-48D7C03E67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3C160008-9FE4-4F40-8C1A-C5DDCF6A2E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0E5ED6-F25D-41F1-AAC9-E78DC995B25D}" type="datetimeFigureOut">
              <a:rPr lang="en-SG" smtClean="0"/>
              <a:t>16/4/2020</a:t>
            </a:fld>
            <a:endParaRPr lang="en-SG"/>
          </a:p>
        </p:txBody>
      </p:sp>
      <p:sp>
        <p:nvSpPr>
          <p:cNvPr id="5" name="Footer Placeholder 4">
            <a:extLst>
              <a:ext uri="{FF2B5EF4-FFF2-40B4-BE49-F238E27FC236}">
                <a16:creationId xmlns:a16="http://schemas.microsoft.com/office/drawing/2014/main" id="{8D7D3F37-DD31-4315-B770-3F9CFD21FD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83BE67E0-94D2-47F8-BE7F-19DE87874C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874EC8-7A34-473C-985C-63460AF7DDB5}" type="slidenum">
              <a:rPr lang="en-SG" smtClean="0"/>
              <a:t>‹#›</a:t>
            </a:fld>
            <a:endParaRPr lang="en-SG"/>
          </a:p>
        </p:txBody>
      </p:sp>
    </p:spTree>
    <p:extLst>
      <p:ext uri="{BB962C8B-B14F-4D97-AF65-F5344CB8AC3E}">
        <p14:creationId xmlns:p14="http://schemas.microsoft.com/office/powerpoint/2010/main" val="236828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youtu.be/yOg0lpBt6d0" TargetMode="External"/><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utm.io/ub28W"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shopify.com/admin/orders" TargetMode="External"/><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6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s://www.shopify.com/admin/marketing" TargetMode="External"/><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2AD23-F2F8-4063-BECD-46D330AE9465}"/>
              </a:ext>
            </a:extLst>
          </p:cNvPr>
          <p:cNvSpPr>
            <a:spLocks noGrp="1"/>
          </p:cNvSpPr>
          <p:nvPr>
            <p:ph type="ctrTitle"/>
          </p:nvPr>
        </p:nvSpPr>
        <p:spPr/>
        <p:txBody>
          <a:bodyPr/>
          <a:lstStyle/>
          <a:p>
            <a:r>
              <a:rPr lang="en-SG" dirty="0"/>
              <a:t>Digital Business and               E-Commerce Management</a:t>
            </a:r>
          </a:p>
        </p:txBody>
      </p:sp>
      <p:sp>
        <p:nvSpPr>
          <p:cNvPr id="3" name="TextBox 2">
            <a:extLst>
              <a:ext uri="{FF2B5EF4-FFF2-40B4-BE49-F238E27FC236}">
                <a16:creationId xmlns:a16="http://schemas.microsoft.com/office/drawing/2014/main" id="{F41BFC50-F776-4C51-876C-0FBE15360ED2}"/>
              </a:ext>
            </a:extLst>
          </p:cNvPr>
          <p:cNvSpPr txBox="1"/>
          <p:nvPr/>
        </p:nvSpPr>
        <p:spPr>
          <a:xfrm>
            <a:off x="895350" y="4457700"/>
            <a:ext cx="10848975" cy="1384995"/>
          </a:xfrm>
          <a:prstGeom prst="rect">
            <a:avLst/>
          </a:prstGeom>
          <a:noFill/>
        </p:spPr>
        <p:txBody>
          <a:bodyPr wrap="square" rtlCol="0">
            <a:spAutoFit/>
          </a:bodyPr>
          <a:lstStyle/>
          <a:p>
            <a:pPr algn="ctr"/>
            <a:r>
              <a:rPr lang="en-SG" sz="4800" dirty="0">
                <a:latin typeface="Abadi" panose="020B0604020202020204" pitchFamily="34" charset="0"/>
              </a:rPr>
              <a:t>Lesson 9</a:t>
            </a:r>
          </a:p>
          <a:p>
            <a:pPr algn="ctr"/>
            <a:r>
              <a:rPr lang="en-SG" sz="3600" dirty="0">
                <a:latin typeface="Abadi" panose="020B0604020202020204" pitchFamily="34" charset="0"/>
              </a:rPr>
              <a:t>Setting a Shopify Site (B2C) Part 3</a:t>
            </a:r>
          </a:p>
        </p:txBody>
      </p:sp>
    </p:spTree>
    <p:extLst>
      <p:ext uri="{BB962C8B-B14F-4D97-AF65-F5344CB8AC3E}">
        <p14:creationId xmlns:p14="http://schemas.microsoft.com/office/powerpoint/2010/main" val="2856143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2F88A-68F7-4655-8A42-CD311E858579}"/>
              </a:ext>
            </a:extLst>
          </p:cNvPr>
          <p:cNvSpPr>
            <a:spLocks noGrp="1"/>
          </p:cNvSpPr>
          <p:nvPr>
            <p:ph type="title"/>
          </p:nvPr>
        </p:nvSpPr>
        <p:spPr/>
        <p:txBody>
          <a:bodyPr/>
          <a:lstStyle/>
          <a:p>
            <a:r>
              <a:rPr lang="en-SG" dirty="0"/>
              <a:t>Setting a Shopify Site (B2C) Part 3</a:t>
            </a:r>
          </a:p>
        </p:txBody>
      </p:sp>
      <p:sp>
        <p:nvSpPr>
          <p:cNvPr id="3" name="Content Placeholder 2">
            <a:extLst>
              <a:ext uri="{FF2B5EF4-FFF2-40B4-BE49-F238E27FC236}">
                <a16:creationId xmlns:a16="http://schemas.microsoft.com/office/drawing/2014/main" id="{E06C8290-7477-4920-92F8-89337E771A02}"/>
              </a:ext>
            </a:extLst>
          </p:cNvPr>
          <p:cNvSpPr>
            <a:spLocks noGrp="1"/>
          </p:cNvSpPr>
          <p:nvPr>
            <p:ph idx="1"/>
          </p:nvPr>
        </p:nvSpPr>
        <p:spPr/>
        <p:txBody>
          <a:bodyPr/>
          <a:lstStyle/>
          <a:p>
            <a:pPr marL="0" indent="0">
              <a:buNone/>
            </a:pPr>
            <a:r>
              <a:rPr lang="en-SG" dirty="0"/>
              <a:t>At the end of this lesson, you will be able to </a:t>
            </a:r>
          </a:p>
          <a:p>
            <a:pPr marL="0" indent="0">
              <a:buNone/>
            </a:pPr>
            <a:endParaRPr lang="en-SG" dirty="0"/>
          </a:p>
          <a:p>
            <a:r>
              <a:rPr lang="en-SG" dirty="0"/>
              <a:t>Manage Product Collections, Transfers, Inventories and Gift Cards </a:t>
            </a:r>
          </a:p>
          <a:p>
            <a:r>
              <a:rPr lang="en-SG" dirty="0"/>
              <a:t>Manage blog posts </a:t>
            </a:r>
          </a:p>
          <a:p>
            <a:r>
              <a:rPr lang="en-SG" dirty="0"/>
              <a:t>Customize and configure other Shopify Settings</a:t>
            </a:r>
          </a:p>
          <a:p>
            <a:r>
              <a:rPr lang="en-SG" dirty="0"/>
              <a:t>Manage orders and customers</a:t>
            </a:r>
          </a:p>
          <a:p>
            <a:r>
              <a:rPr lang="en-SG" dirty="0"/>
              <a:t>Familiar on how to buy a custom domain</a:t>
            </a:r>
          </a:p>
          <a:p>
            <a:r>
              <a:rPr lang="en-SG" dirty="0"/>
              <a:t>Understand Analytics, Marketing, Discounts and Adding App</a:t>
            </a:r>
          </a:p>
          <a:p>
            <a:endParaRPr lang="en-SG" dirty="0"/>
          </a:p>
          <a:p>
            <a:endParaRPr lang="en-SG" dirty="0"/>
          </a:p>
          <a:p>
            <a:endParaRPr lang="en-SG" dirty="0"/>
          </a:p>
          <a:p>
            <a:pPr lvl="0"/>
            <a:endParaRPr lang="en-SG" dirty="0"/>
          </a:p>
        </p:txBody>
      </p:sp>
    </p:spTree>
    <p:extLst>
      <p:ext uri="{BB962C8B-B14F-4D97-AF65-F5344CB8AC3E}">
        <p14:creationId xmlns:p14="http://schemas.microsoft.com/office/powerpoint/2010/main" val="3774295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9.1</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9.1</a:t>
            </a:r>
          </a:p>
        </p:txBody>
      </p:sp>
    </p:spTree>
    <p:extLst>
      <p:ext uri="{BB962C8B-B14F-4D97-AF65-F5344CB8AC3E}">
        <p14:creationId xmlns:p14="http://schemas.microsoft.com/office/powerpoint/2010/main" val="3099011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735458" y="61213"/>
            <a:ext cx="10515600" cy="1325563"/>
          </a:xfrm>
        </p:spPr>
        <p:txBody>
          <a:bodyPr/>
          <a:lstStyle/>
          <a:p>
            <a:r>
              <a:rPr lang="en-SG" dirty="0"/>
              <a:t>Manage Products</a:t>
            </a:r>
            <a:br>
              <a:rPr lang="en-SG" dirty="0"/>
            </a:br>
            <a:r>
              <a:rPr lang="en-SG" sz="3200" dirty="0">
                <a:solidFill>
                  <a:schemeClr val="accent5">
                    <a:lumMod val="75000"/>
                  </a:schemeClr>
                </a:solidFill>
              </a:rPr>
              <a:t>1 – Collections</a:t>
            </a:r>
            <a:endParaRPr lang="en-SG" dirty="0">
              <a:solidFill>
                <a:schemeClr val="accent5">
                  <a:lumMod val="75000"/>
                </a:schemeClr>
              </a:solidFill>
            </a:endParaRPr>
          </a:p>
        </p:txBody>
      </p:sp>
      <p:pic>
        <p:nvPicPr>
          <p:cNvPr id="4" name="Picture 3">
            <a:extLst>
              <a:ext uri="{FF2B5EF4-FFF2-40B4-BE49-F238E27FC236}">
                <a16:creationId xmlns:a16="http://schemas.microsoft.com/office/drawing/2014/main" id="{93B0E710-886B-4FE3-AD68-D6B644E934E5}"/>
              </a:ext>
            </a:extLst>
          </p:cNvPr>
          <p:cNvPicPr>
            <a:picLocks noChangeAspect="1"/>
          </p:cNvPicPr>
          <p:nvPr/>
        </p:nvPicPr>
        <p:blipFill rotWithShape="1">
          <a:blip r:embed="rId2"/>
          <a:srcRect t="10370" r="2000" b="19408"/>
          <a:stretch/>
        </p:blipFill>
        <p:spPr>
          <a:xfrm>
            <a:off x="121920" y="1677034"/>
            <a:ext cx="11948160" cy="5180965"/>
          </a:xfrm>
          <a:prstGeom prst="rect">
            <a:avLst/>
          </a:prstGeom>
        </p:spPr>
      </p:pic>
      <p:sp>
        <p:nvSpPr>
          <p:cNvPr id="5" name="Rectangle 4">
            <a:extLst>
              <a:ext uri="{FF2B5EF4-FFF2-40B4-BE49-F238E27FC236}">
                <a16:creationId xmlns:a16="http://schemas.microsoft.com/office/drawing/2014/main" id="{16771BE4-00F8-4FB6-9A09-7DD045541520}"/>
              </a:ext>
            </a:extLst>
          </p:cNvPr>
          <p:cNvSpPr/>
          <p:nvPr/>
        </p:nvSpPr>
        <p:spPr>
          <a:xfrm>
            <a:off x="50002" y="3647325"/>
            <a:ext cx="1733550" cy="316787"/>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 name="Rectangle 5">
            <a:extLst>
              <a:ext uri="{FF2B5EF4-FFF2-40B4-BE49-F238E27FC236}">
                <a16:creationId xmlns:a16="http://schemas.microsoft.com/office/drawing/2014/main" id="{269A653B-7236-43BC-BEE2-37719C280BA9}"/>
              </a:ext>
            </a:extLst>
          </p:cNvPr>
          <p:cNvSpPr/>
          <p:nvPr/>
        </p:nvSpPr>
        <p:spPr>
          <a:xfrm>
            <a:off x="10541284" y="2506894"/>
            <a:ext cx="1600713" cy="462337"/>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 name="Straight Arrow Connector 7">
            <a:extLst>
              <a:ext uri="{FF2B5EF4-FFF2-40B4-BE49-F238E27FC236}">
                <a16:creationId xmlns:a16="http://schemas.microsoft.com/office/drawing/2014/main" id="{809CB0C3-0457-494E-A454-437CA942D63B}"/>
              </a:ext>
            </a:extLst>
          </p:cNvPr>
          <p:cNvCxnSpPr/>
          <p:nvPr/>
        </p:nvCxnSpPr>
        <p:spPr>
          <a:xfrm flipV="1">
            <a:off x="1783552" y="2732926"/>
            <a:ext cx="8696088" cy="110960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64A21E8-107D-41AF-83FE-DDC49EEA0F28}"/>
              </a:ext>
            </a:extLst>
          </p:cNvPr>
          <p:cNvSpPr txBox="1"/>
          <p:nvPr/>
        </p:nvSpPr>
        <p:spPr>
          <a:xfrm>
            <a:off x="7304927" y="3267417"/>
            <a:ext cx="3706916" cy="1569660"/>
          </a:xfrm>
          <a:prstGeom prst="rect">
            <a:avLst/>
          </a:prstGeom>
          <a:solidFill>
            <a:schemeClr val="accent4">
              <a:lumMod val="60000"/>
              <a:lumOff val="40000"/>
            </a:schemeClr>
          </a:solidFill>
        </p:spPr>
        <p:txBody>
          <a:bodyPr wrap="square" rtlCol="0">
            <a:spAutoFit/>
          </a:bodyPr>
          <a:lstStyle/>
          <a:p>
            <a:r>
              <a:rPr lang="en-SG" sz="2400" dirty="0"/>
              <a:t>A collection is used to categorize the products or services provided by your Shopify site</a:t>
            </a:r>
          </a:p>
        </p:txBody>
      </p:sp>
    </p:spTree>
    <p:extLst>
      <p:ext uri="{BB962C8B-B14F-4D97-AF65-F5344CB8AC3E}">
        <p14:creationId xmlns:p14="http://schemas.microsoft.com/office/powerpoint/2010/main" val="2702632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735458" y="61213"/>
            <a:ext cx="10515600" cy="1325563"/>
          </a:xfrm>
        </p:spPr>
        <p:txBody>
          <a:bodyPr/>
          <a:lstStyle/>
          <a:p>
            <a:r>
              <a:rPr lang="en-SG" dirty="0"/>
              <a:t>Manage Products</a:t>
            </a:r>
            <a:br>
              <a:rPr lang="en-SG" dirty="0"/>
            </a:br>
            <a:r>
              <a:rPr lang="en-SG" sz="3200" dirty="0">
                <a:solidFill>
                  <a:schemeClr val="accent5">
                    <a:lumMod val="75000"/>
                  </a:schemeClr>
                </a:solidFill>
              </a:rPr>
              <a:t>1 – Collections</a:t>
            </a:r>
            <a:endParaRPr lang="en-SG" dirty="0">
              <a:solidFill>
                <a:schemeClr val="accent5">
                  <a:lumMod val="75000"/>
                </a:schemeClr>
              </a:solidFill>
            </a:endParaRPr>
          </a:p>
        </p:txBody>
      </p:sp>
      <p:pic>
        <p:nvPicPr>
          <p:cNvPr id="3" name="Picture 2">
            <a:extLst>
              <a:ext uri="{FF2B5EF4-FFF2-40B4-BE49-F238E27FC236}">
                <a16:creationId xmlns:a16="http://schemas.microsoft.com/office/drawing/2014/main" id="{A6A7B130-0CCF-4F93-A6EF-90CDF1AB8BB1}"/>
              </a:ext>
            </a:extLst>
          </p:cNvPr>
          <p:cNvPicPr>
            <a:picLocks noChangeAspect="1"/>
          </p:cNvPicPr>
          <p:nvPr/>
        </p:nvPicPr>
        <p:blipFill rotWithShape="1">
          <a:blip r:embed="rId2"/>
          <a:srcRect l="28167" t="17629" r="13666" b="12639"/>
          <a:stretch/>
        </p:blipFill>
        <p:spPr>
          <a:xfrm>
            <a:off x="662514" y="1316862"/>
            <a:ext cx="7553286" cy="5093464"/>
          </a:xfrm>
          <a:prstGeom prst="rect">
            <a:avLst/>
          </a:prstGeom>
        </p:spPr>
      </p:pic>
      <p:grpSp>
        <p:nvGrpSpPr>
          <p:cNvPr id="17" name="Group 16">
            <a:extLst>
              <a:ext uri="{FF2B5EF4-FFF2-40B4-BE49-F238E27FC236}">
                <a16:creationId xmlns:a16="http://schemas.microsoft.com/office/drawing/2014/main" id="{A9665C55-CEC1-46C5-81A1-259DD057D0C4}"/>
              </a:ext>
            </a:extLst>
          </p:cNvPr>
          <p:cNvGrpSpPr/>
          <p:nvPr/>
        </p:nvGrpSpPr>
        <p:grpSpPr>
          <a:xfrm>
            <a:off x="812001" y="1386776"/>
            <a:ext cx="7074698" cy="5410011"/>
            <a:chOff x="812001" y="1386776"/>
            <a:chExt cx="7074698" cy="5410011"/>
          </a:xfrm>
        </p:grpSpPr>
        <p:sp>
          <p:nvSpPr>
            <p:cNvPr id="10" name="Rectangle 9">
              <a:extLst>
                <a:ext uri="{FF2B5EF4-FFF2-40B4-BE49-F238E27FC236}">
                  <a16:creationId xmlns:a16="http://schemas.microsoft.com/office/drawing/2014/main" id="{36C7E581-EA06-4638-9C7A-A0EE863415DE}"/>
                </a:ext>
              </a:extLst>
            </p:cNvPr>
            <p:cNvSpPr/>
            <p:nvPr/>
          </p:nvSpPr>
          <p:spPr>
            <a:xfrm>
              <a:off x="812001" y="2075700"/>
              <a:ext cx="4626773" cy="2715375"/>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Rectangle 10">
              <a:extLst>
                <a:ext uri="{FF2B5EF4-FFF2-40B4-BE49-F238E27FC236}">
                  <a16:creationId xmlns:a16="http://schemas.microsoft.com/office/drawing/2014/main" id="{7DF01B52-E4D8-4A71-99B5-ED4B484888D7}"/>
                </a:ext>
              </a:extLst>
            </p:cNvPr>
            <p:cNvSpPr/>
            <p:nvPr/>
          </p:nvSpPr>
          <p:spPr>
            <a:xfrm>
              <a:off x="5588260" y="3270606"/>
              <a:ext cx="2298439" cy="1882419"/>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Rectangle 11">
              <a:extLst>
                <a:ext uri="{FF2B5EF4-FFF2-40B4-BE49-F238E27FC236}">
                  <a16:creationId xmlns:a16="http://schemas.microsoft.com/office/drawing/2014/main" id="{916709CD-5B6F-4ED7-A70F-60A33912F9FA}"/>
                </a:ext>
              </a:extLst>
            </p:cNvPr>
            <p:cNvSpPr/>
            <p:nvPr/>
          </p:nvSpPr>
          <p:spPr>
            <a:xfrm>
              <a:off x="815812" y="5031071"/>
              <a:ext cx="4622961" cy="1765716"/>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TextBox 12">
              <a:extLst>
                <a:ext uri="{FF2B5EF4-FFF2-40B4-BE49-F238E27FC236}">
                  <a16:creationId xmlns:a16="http://schemas.microsoft.com/office/drawing/2014/main" id="{FD8BAE7B-CB95-45CF-B38A-83EA23F60014}"/>
                </a:ext>
              </a:extLst>
            </p:cNvPr>
            <p:cNvSpPr txBox="1"/>
            <p:nvPr/>
          </p:nvSpPr>
          <p:spPr>
            <a:xfrm>
              <a:off x="3356760" y="1386776"/>
              <a:ext cx="523875" cy="707886"/>
            </a:xfrm>
            <a:prstGeom prst="rect">
              <a:avLst/>
            </a:prstGeom>
            <a:noFill/>
          </p:spPr>
          <p:txBody>
            <a:bodyPr wrap="square" rtlCol="0">
              <a:spAutoFit/>
            </a:bodyPr>
            <a:lstStyle/>
            <a:p>
              <a:pPr algn="ctr"/>
              <a:r>
                <a:rPr lang="en-SG" sz="4000" dirty="0">
                  <a:solidFill>
                    <a:srgbClr val="FF0000"/>
                  </a:solidFill>
                </a:rPr>
                <a:t>1</a:t>
              </a:r>
            </a:p>
          </p:txBody>
        </p:sp>
        <p:sp>
          <p:nvSpPr>
            <p:cNvPr id="14" name="TextBox 13">
              <a:extLst>
                <a:ext uri="{FF2B5EF4-FFF2-40B4-BE49-F238E27FC236}">
                  <a16:creationId xmlns:a16="http://schemas.microsoft.com/office/drawing/2014/main" id="{18CE03C7-E029-485A-A6BB-81048FA220EF}"/>
                </a:ext>
              </a:extLst>
            </p:cNvPr>
            <p:cNvSpPr txBox="1"/>
            <p:nvPr/>
          </p:nvSpPr>
          <p:spPr>
            <a:xfrm>
              <a:off x="3356759" y="5031071"/>
              <a:ext cx="523875" cy="707886"/>
            </a:xfrm>
            <a:prstGeom prst="rect">
              <a:avLst/>
            </a:prstGeom>
            <a:noFill/>
          </p:spPr>
          <p:txBody>
            <a:bodyPr wrap="square" rtlCol="0">
              <a:spAutoFit/>
            </a:bodyPr>
            <a:lstStyle/>
            <a:p>
              <a:pPr algn="ctr"/>
              <a:r>
                <a:rPr lang="en-SG" sz="4000" dirty="0">
                  <a:solidFill>
                    <a:srgbClr val="FF0000"/>
                  </a:solidFill>
                </a:rPr>
                <a:t>2</a:t>
              </a:r>
            </a:p>
          </p:txBody>
        </p:sp>
        <p:sp>
          <p:nvSpPr>
            <p:cNvPr id="15" name="TextBox 14">
              <a:extLst>
                <a:ext uri="{FF2B5EF4-FFF2-40B4-BE49-F238E27FC236}">
                  <a16:creationId xmlns:a16="http://schemas.microsoft.com/office/drawing/2014/main" id="{76D87281-C9BB-481D-AAEE-5DF6BD58D058}"/>
                </a:ext>
              </a:extLst>
            </p:cNvPr>
            <p:cNvSpPr txBox="1"/>
            <p:nvPr/>
          </p:nvSpPr>
          <p:spPr>
            <a:xfrm>
              <a:off x="6976930" y="3190665"/>
              <a:ext cx="523875" cy="707886"/>
            </a:xfrm>
            <a:prstGeom prst="rect">
              <a:avLst/>
            </a:prstGeom>
            <a:noFill/>
          </p:spPr>
          <p:txBody>
            <a:bodyPr wrap="square" rtlCol="0">
              <a:spAutoFit/>
            </a:bodyPr>
            <a:lstStyle/>
            <a:p>
              <a:pPr algn="ctr"/>
              <a:r>
                <a:rPr lang="en-SG" sz="4000" dirty="0">
                  <a:solidFill>
                    <a:srgbClr val="FF0000"/>
                  </a:solidFill>
                </a:rPr>
                <a:t>3</a:t>
              </a:r>
            </a:p>
          </p:txBody>
        </p:sp>
      </p:grpSp>
      <p:sp>
        <p:nvSpPr>
          <p:cNvPr id="16" name="TextBox 15">
            <a:extLst>
              <a:ext uri="{FF2B5EF4-FFF2-40B4-BE49-F238E27FC236}">
                <a16:creationId xmlns:a16="http://schemas.microsoft.com/office/drawing/2014/main" id="{D4C5C2D5-99F7-4A45-A74A-78E47217A4D2}"/>
              </a:ext>
            </a:extLst>
          </p:cNvPr>
          <p:cNvSpPr txBox="1"/>
          <p:nvPr/>
        </p:nvSpPr>
        <p:spPr>
          <a:xfrm>
            <a:off x="8187262" y="1087883"/>
            <a:ext cx="3607472" cy="6247864"/>
          </a:xfrm>
          <a:prstGeom prst="rect">
            <a:avLst/>
          </a:prstGeom>
          <a:noFill/>
        </p:spPr>
        <p:txBody>
          <a:bodyPr wrap="square" rtlCol="0">
            <a:spAutoFit/>
          </a:bodyPr>
          <a:lstStyle/>
          <a:p>
            <a:pPr marL="514350" indent="-514350">
              <a:buAutoNum type="arabicPeriod"/>
            </a:pPr>
            <a:r>
              <a:rPr lang="en-SG" sz="2000" dirty="0"/>
              <a:t>Allows you to provide the details of the Collection </a:t>
            </a:r>
          </a:p>
          <a:p>
            <a:pPr marL="514350" indent="-514350">
              <a:buAutoNum type="arabicPeriod"/>
            </a:pPr>
            <a:endParaRPr lang="en-SG" sz="2000" dirty="0"/>
          </a:p>
          <a:p>
            <a:pPr marL="514350" indent="-514350">
              <a:buFontTx/>
              <a:buAutoNum type="arabicPeriod"/>
            </a:pPr>
            <a:r>
              <a:rPr lang="en-SG" sz="2000" u="sng" dirty="0"/>
              <a:t>Manual </a:t>
            </a:r>
            <a:r>
              <a:rPr lang="en-SG" sz="2000" dirty="0"/>
              <a:t>– when the product is added, you need to select manually the collection. </a:t>
            </a:r>
            <a:r>
              <a:rPr lang="en-SG" sz="2000" u="sng" dirty="0"/>
              <a:t>Automatic</a:t>
            </a:r>
            <a:r>
              <a:rPr lang="en-SG" sz="2000" dirty="0"/>
              <a:t> – the product is categorize automatically based on the given condition (E.g. tags or other conditions)</a:t>
            </a:r>
          </a:p>
          <a:p>
            <a:pPr marL="514350" indent="-514350">
              <a:buAutoNum type="arabicPeriod"/>
            </a:pPr>
            <a:endParaRPr lang="en-SG" sz="2000" dirty="0"/>
          </a:p>
          <a:p>
            <a:pPr marL="514350" indent="-514350">
              <a:buAutoNum type="arabicPeriod"/>
            </a:pPr>
            <a:r>
              <a:rPr lang="en-SG" sz="2000" dirty="0"/>
              <a:t>It is useful to upload an image for the created collection because this will be used to display in the homepage under “Feature Collections”</a:t>
            </a:r>
          </a:p>
          <a:p>
            <a:endParaRPr lang="en-SG" sz="2000" dirty="0"/>
          </a:p>
          <a:p>
            <a:endParaRPr lang="en-SG" sz="2000" dirty="0"/>
          </a:p>
        </p:txBody>
      </p:sp>
    </p:spTree>
    <p:extLst>
      <p:ext uri="{BB962C8B-B14F-4D97-AF65-F5344CB8AC3E}">
        <p14:creationId xmlns:p14="http://schemas.microsoft.com/office/powerpoint/2010/main" val="2148191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735458" y="61213"/>
            <a:ext cx="10515600" cy="1325563"/>
          </a:xfrm>
        </p:spPr>
        <p:txBody>
          <a:bodyPr/>
          <a:lstStyle/>
          <a:p>
            <a:r>
              <a:rPr lang="en-SG"/>
              <a:t>Manage Products</a:t>
            </a:r>
            <a:br>
              <a:rPr lang="en-SG"/>
            </a:br>
            <a:r>
              <a:rPr lang="en-SG" sz="3200">
                <a:solidFill>
                  <a:schemeClr val="accent5">
                    <a:lumMod val="75000"/>
                  </a:schemeClr>
                </a:solidFill>
              </a:rPr>
              <a:t>2 – Transfers </a:t>
            </a:r>
            <a:endParaRPr lang="en-SG" dirty="0">
              <a:solidFill>
                <a:schemeClr val="accent5">
                  <a:lumMod val="75000"/>
                </a:schemeClr>
              </a:solidFill>
            </a:endParaRPr>
          </a:p>
        </p:txBody>
      </p:sp>
      <p:pic>
        <p:nvPicPr>
          <p:cNvPr id="4" name="Picture 3">
            <a:extLst>
              <a:ext uri="{FF2B5EF4-FFF2-40B4-BE49-F238E27FC236}">
                <a16:creationId xmlns:a16="http://schemas.microsoft.com/office/drawing/2014/main" id="{BEFE81FD-2957-47F1-AA80-1B24F42160C0}"/>
              </a:ext>
            </a:extLst>
          </p:cNvPr>
          <p:cNvPicPr>
            <a:picLocks noChangeAspect="1"/>
          </p:cNvPicPr>
          <p:nvPr/>
        </p:nvPicPr>
        <p:blipFill rotWithShape="1">
          <a:blip r:embed="rId2"/>
          <a:srcRect l="25238" t="18624" r="16309" b="22328"/>
          <a:stretch/>
        </p:blipFill>
        <p:spPr>
          <a:xfrm>
            <a:off x="735458" y="1851931"/>
            <a:ext cx="7126515" cy="4049487"/>
          </a:xfrm>
          <a:prstGeom prst="rect">
            <a:avLst/>
          </a:prstGeom>
        </p:spPr>
      </p:pic>
      <p:sp>
        <p:nvSpPr>
          <p:cNvPr id="5" name="TextBox 4">
            <a:extLst>
              <a:ext uri="{FF2B5EF4-FFF2-40B4-BE49-F238E27FC236}">
                <a16:creationId xmlns:a16="http://schemas.microsoft.com/office/drawing/2014/main" id="{DFC2B874-5276-4518-A740-E7014AF8F8E9}"/>
              </a:ext>
            </a:extLst>
          </p:cNvPr>
          <p:cNvSpPr txBox="1"/>
          <p:nvPr/>
        </p:nvSpPr>
        <p:spPr>
          <a:xfrm>
            <a:off x="8124062" y="1676071"/>
            <a:ext cx="3529458" cy="4401205"/>
          </a:xfrm>
          <a:prstGeom prst="rect">
            <a:avLst/>
          </a:prstGeom>
          <a:noFill/>
        </p:spPr>
        <p:txBody>
          <a:bodyPr wrap="square" rtlCol="0">
            <a:spAutoFit/>
          </a:bodyPr>
          <a:lstStyle/>
          <a:p>
            <a:r>
              <a:rPr lang="en-SG" sz="2800" dirty="0"/>
              <a:t>Managing the transfers allows you to track and receive your physical products from supplier in your locations. </a:t>
            </a:r>
          </a:p>
          <a:p>
            <a:endParaRPr lang="en-SG" sz="2800" dirty="0"/>
          </a:p>
          <a:p>
            <a:r>
              <a:rPr lang="en-SG" sz="2800" dirty="0"/>
              <a:t>So it is important to properly fill your location in future Shopify site.</a:t>
            </a:r>
          </a:p>
        </p:txBody>
      </p:sp>
    </p:spTree>
    <p:extLst>
      <p:ext uri="{BB962C8B-B14F-4D97-AF65-F5344CB8AC3E}">
        <p14:creationId xmlns:p14="http://schemas.microsoft.com/office/powerpoint/2010/main" val="356060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735458" y="61213"/>
            <a:ext cx="10515600" cy="1325563"/>
          </a:xfrm>
        </p:spPr>
        <p:txBody>
          <a:bodyPr/>
          <a:lstStyle/>
          <a:p>
            <a:r>
              <a:rPr lang="en-SG" dirty="0"/>
              <a:t>Manage Products</a:t>
            </a:r>
            <a:br>
              <a:rPr lang="en-SG" dirty="0"/>
            </a:br>
            <a:r>
              <a:rPr lang="en-SG" sz="3200" dirty="0">
                <a:solidFill>
                  <a:schemeClr val="accent5">
                    <a:lumMod val="75000"/>
                  </a:schemeClr>
                </a:solidFill>
              </a:rPr>
              <a:t>3 – Inventory </a:t>
            </a:r>
            <a:endParaRPr lang="en-SG" dirty="0">
              <a:solidFill>
                <a:schemeClr val="accent5">
                  <a:lumMod val="75000"/>
                </a:schemeClr>
              </a:solidFill>
            </a:endParaRPr>
          </a:p>
        </p:txBody>
      </p:sp>
      <p:pic>
        <p:nvPicPr>
          <p:cNvPr id="3" name="Picture 2">
            <a:extLst>
              <a:ext uri="{FF2B5EF4-FFF2-40B4-BE49-F238E27FC236}">
                <a16:creationId xmlns:a16="http://schemas.microsoft.com/office/drawing/2014/main" id="{BCAD96BF-3506-4BFD-9942-1CADC57FD674}"/>
              </a:ext>
            </a:extLst>
          </p:cNvPr>
          <p:cNvPicPr>
            <a:picLocks noChangeAspect="1"/>
          </p:cNvPicPr>
          <p:nvPr/>
        </p:nvPicPr>
        <p:blipFill rotWithShape="1">
          <a:blip r:embed="rId2"/>
          <a:srcRect t="30555" b="17362"/>
          <a:stretch/>
        </p:blipFill>
        <p:spPr>
          <a:xfrm>
            <a:off x="0" y="1503013"/>
            <a:ext cx="12192000" cy="3851974"/>
          </a:xfrm>
          <a:prstGeom prst="rect">
            <a:avLst/>
          </a:prstGeom>
        </p:spPr>
      </p:pic>
      <p:sp>
        <p:nvSpPr>
          <p:cNvPr id="8" name="Rectangle 7">
            <a:extLst>
              <a:ext uri="{FF2B5EF4-FFF2-40B4-BE49-F238E27FC236}">
                <a16:creationId xmlns:a16="http://schemas.microsoft.com/office/drawing/2014/main" id="{5672E4F5-7338-4DB0-9A50-C647D3A4AD96}"/>
              </a:ext>
            </a:extLst>
          </p:cNvPr>
          <p:cNvSpPr/>
          <p:nvPr/>
        </p:nvSpPr>
        <p:spPr>
          <a:xfrm>
            <a:off x="7573617" y="2546141"/>
            <a:ext cx="1099892" cy="2808845"/>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8">
            <a:extLst>
              <a:ext uri="{FF2B5EF4-FFF2-40B4-BE49-F238E27FC236}">
                <a16:creationId xmlns:a16="http://schemas.microsoft.com/office/drawing/2014/main" id="{32758F3E-CE60-4D07-A484-2B37FA6706E2}"/>
              </a:ext>
            </a:extLst>
          </p:cNvPr>
          <p:cNvSpPr/>
          <p:nvPr/>
        </p:nvSpPr>
        <p:spPr>
          <a:xfrm>
            <a:off x="9424855" y="2546141"/>
            <a:ext cx="2298439" cy="2808845"/>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TextBox 9">
            <a:extLst>
              <a:ext uri="{FF2B5EF4-FFF2-40B4-BE49-F238E27FC236}">
                <a16:creationId xmlns:a16="http://schemas.microsoft.com/office/drawing/2014/main" id="{7C564391-75CF-49DC-A1B5-A4BEA8286408}"/>
              </a:ext>
            </a:extLst>
          </p:cNvPr>
          <p:cNvSpPr txBox="1"/>
          <p:nvPr/>
        </p:nvSpPr>
        <p:spPr>
          <a:xfrm>
            <a:off x="7861625" y="1890154"/>
            <a:ext cx="523875" cy="707886"/>
          </a:xfrm>
          <a:prstGeom prst="rect">
            <a:avLst/>
          </a:prstGeom>
          <a:noFill/>
        </p:spPr>
        <p:txBody>
          <a:bodyPr wrap="square" rtlCol="0">
            <a:spAutoFit/>
          </a:bodyPr>
          <a:lstStyle/>
          <a:p>
            <a:pPr algn="ctr"/>
            <a:r>
              <a:rPr lang="en-SG" sz="4000" dirty="0">
                <a:solidFill>
                  <a:srgbClr val="FF0000"/>
                </a:solidFill>
              </a:rPr>
              <a:t>1</a:t>
            </a:r>
          </a:p>
        </p:txBody>
      </p:sp>
      <p:sp>
        <p:nvSpPr>
          <p:cNvPr id="11" name="TextBox 10">
            <a:extLst>
              <a:ext uri="{FF2B5EF4-FFF2-40B4-BE49-F238E27FC236}">
                <a16:creationId xmlns:a16="http://schemas.microsoft.com/office/drawing/2014/main" id="{0924209A-D39B-42E1-A3DA-EF473CC6947E}"/>
              </a:ext>
            </a:extLst>
          </p:cNvPr>
          <p:cNvSpPr txBox="1"/>
          <p:nvPr/>
        </p:nvSpPr>
        <p:spPr>
          <a:xfrm>
            <a:off x="9936464" y="1920123"/>
            <a:ext cx="523875" cy="707886"/>
          </a:xfrm>
          <a:prstGeom prst="rect">
            <a:avLst/>
          </a:prstGeom>
          <a:noFill/>
        </p:spPr>
        <p:txBody>
          <a:bodyPr wrap="square" rtlCol="0">
            <a:spAutoFit/>
          </a:bodyPr>
          <a:lstStyle/>
          <a:p>
            <a:pPr algn="ctr"/>
            <a:r>
              <a:rPr lang="en-SG" sz="4000" dirty="0">
                <a:solidFill>
                  <a:srgbClr val="FF0000"/>
                </a:solidFill>
              </a:rPr>
              <a:t>2</a:t>
            </a:r>
          </a:p>
        </p:txBody>
      </p:sp>
      <p:sp>
        <p:nvSpPr>
          <p:cNvPr id="13" name="TextBox 12">
            <a:extLst>
              <a:ext uri="{FF2B5EF4-FFF2-40B4-BE49-F238E27FC236}">
                <a16:creationId xmlns:a16="http://schemas.microsoft.com/office/drawing/2014/main" id="{F01108E9-F20C-48C0-8DBD-E2801BE74549}"/>
              </a:ext>
            </a:extLst>
          </p:cNvPr>
          <p:cNvSpPr txBox="1"/>
          <p:nvPr/>
        </p:nvSpPr>
        <p:spPr>
          <a:xfrm>
            <a:off x="735458" y="5605670"/>
            <a:ext cx="10918062" cy="1015663"/>
          </a:xfrm>
          <a:prstGeom prst="rect">
            <a:avLst/>
          </a:prstGeom>
          <a:noFill/>
        </p:spPr>
        <p:txBody>
          <a:bodyPr wrap="square" rtlCol="0">
            <a:spAutoFit/>
          </a:bodyPr>
          <a:lstStyle/>
          <a:p>
            <a:pPr marL="457200" indent="-457200">
              <a:buAutoNum type="arabicPeriod"/>
            </a:pPr>
            <a:r>
              <a:rPr lang="en-SG" sz="2000" dirty="0"/>
              <a:t>The value of the incoming will automatically change if the Product “Transfer” is configured</a:t>
            </a:r>
          </a:p>
          <a:p>
            <a:pPr marL="457200" indent="-457200">
              <a:buAutoNum type="arabicPeriod"/>
            </a:pPr>
            <a:r>
              <a:rPr lang="en-SG" sz="2000" dirty="0"/>
              <a:t>Can manually change the quantity of available products online. The values filled in the section will add into the available products.</a:t>
            </a:r>
          </a:p>
        </p:txBody>
      </p:sp>
    </p:spTree>
    <p:extLst>
      <p:ext uri="{BB962C8B-B14F-4D97-AF65-F5344CB8AC3E}">
        <p14:creationId xmlns:p14="http://schemas.microsoft.com/office/powerpoint/2010/main" val="1612826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735458" y="61213"/>
            <a:ext cx="10515600" cy="1325563"/>
          </a:xfrm>
        </p:spPr>
        <p:txBody>
          <a:bodyPr/>
          <a:lstStyle/>
          <a:p>
            <a:r>
              <a:rPr lang="en-SG" dirty="0"/>
              <a:t>Manage Products</a:t>
            </a:r>
            <a:br>
              <a:rPr lang="en-SG" dirty="0"/>
            </a:br>
            <a:r>
              <a:rPr lang="en-SG" sz="3200" dirty="0">
                <a:solidFill>
                  <a:schemeClr val="accent5">
                    <a:lumMod val="75000"/>
                  </a:schemeClr>
                </a:solidFill>
              </a:rPr>
              <a:t>4 – Gift Cards</a:t>
            </a:r>
            <a:endParaRPr lang="en-SG" dirty="0">
              <a:solidFill>
                <a:schemeClr val="accent5">
                  <a:lumMod val="75000"/>
                </a:schemeClr>
              </a:solidFill>
            </a:endParaRPr>
          </a:p>
        </p:txBody>
      </p:sp>
      <p:pic>
        <p:nvPicPr>
          <p:cNvPr id="4" name="Picture 3">
            <a:extLst>
              <a:ext uri="{FF2B5EF4-FFF2-40B4-BE49-F238E27FC236}">
                <a16:creationId xmlns:a16="http://schemas.microsoft.com/office/drawing/2014/main" id="{FCBEC7D9-60E3-466D-9643-17EB6CD93D54}"/>
              </a:ext>
            </a:extLst>
          </p:cNvPr>
          <p:cNvPicPr>
            <a:picLocks noChangeAspect="1"/>
          </p:cNvPicPr>
          <p:nvPr/>
        </p:nvPicPr>
        <p:blipFill rotWithShape="1">
          <a:blip r:embed="rId2"/>
          <a:srcRect l="15313" t="18195" r="1250" b="26389"/>
          <a:stretch/>
        </p:blipFill>
        <p:spPr>
          <a:xfrm>
            <a:off x="940942" y="1386776"/>
            <a:ext cx="10172700" cy="3800476"/>
          </a:xfrm>
          <a:prstGeom prst="rect">
            <a:avLst/>
          </a:prstGeom>
        </p:spPr>
      </p:pic>
      <p:pic>
        <p:nvPicPr>
          <p:cNvPr id="5" name="Picture 4">
            <a:extLst>
              <a:ext uri="{FF2B5EF4-FFF2-40B4-BE49-F238E27FC236}">
                <a16:creationId xmlns:a16="http://schemas.microsoft.com/office/drawing/2014/main" id="{43BD7FA4-BC6A-49D3-8E12-39F4F2869FFA}"/>
              </a:ext>
            </a:extLst>
          </p:cNvPr>
          <p:cNvPicPr>
            <a:picLocks noChangeAspect="1"/>
          </p:cNvPicPr>
          <p:nvPr/>
        </p:nvPicPr>
        <p:blipFill rotWithShape="1">
          <a:blip r:embed="rId3"/>
          <a:srcRect l="35167" t="15704" r="37000" b="12427"/>
          <a:stretch/>
        </p:blipFill>
        <p:spPr>
          <a:xfrm>
            <a:off x="8658225" y="2190547"/>
            <a:ext cx="3171348" cy="4606240"/>
          </a:xfrm>
          <a:prstGeom prst="rect">
            <a:avLst/>
          </a:prstGeom>
        </p:spPr>
      </p:pic>
      <p:sp>
        <p:nvSpPr>
          <p:cNvPr id="12" name="Rectangle 11">
            <a:extLst>
              <a:ext uri="{FF2B5EF4-FFF2-40B4-BE49-F238E27FC236}">
                <a16:creationId xmlns:a16="http://schemas.microsoft.com/office/drawing/2014/main" id="{DD6E4592-779E-41B9-8F79-C4F69B113C3F}"/>
              </a:ext>
            </a:extLst>
          </p:cNvPr>
          <p:cNvSpPr/>
          <p:nvPr/>
        </p:nvSpPr>
        <p:spPr>
          <a:xfrm>
            <a:off x="4524375" y="3086100"/>
            <a:ext cx="2905125" cy="1829896"/>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TextBox 13">
            <a:extLst>
              <a:ext uri="{FF2B5EF4-FFF2-40B4-BE49-F238E27FC236}">
                <a16:creationId xmlns:a16="http://schemas.microsoft.com/office/drawing/2014/main" id="{B5D09C87-6B1B-40DD-93B7-C422C7A04709}"/>
              </a:ext>
            </a:extLst>
          </p:cNvPr>
          <p:cNvSpPr txBox="1"/>
          <p:nvPr/>
        </p:nvSpPr>
        <p:spPr>
          <a:xfrm>
            <a:off x="919874" y="3504162"/>
            <a:ext cx="3467085" cy="3170099"/>
          </a:xfrm>
          <a:prstGeom prst="rect">
            <a:avLst/>
          </a:prstGeom>
          <a:solidFill>
            <a:schemeClr val="accent4">
              <a:lumMod val="60000"/>
              <a:lumOff val="40000"/>
            </a:schemeClr>
          </a:solidFill>
        </p:spPr>
        <p:txBody>
          <a:bodyPr wrap="square" rtlCol="0">
            <a:spAutoFit/>
          </a:bodyPr>
          <a:lstStyle/>
          <a:p>
            <a:r>
              <a:rPr lang="en-SG" sz="2000" dirty="0"/>
              <a:t>You can customize the added gift card and generate different denominations. The gift card can also be issued to a specific customer. </a:t>
            </a:r>
          </a:p>
          <a:p>
            <a:endParaRPr lang="en-SG" sz="2000" dirty="0"/>
          </a:p>
          <a:p>
            <a:r>
              <a:rPr lang="en-SG" sz="2000" dirty="0"/>
              <a:t>Gift cards is considered another product which you can sell. Your customer can use it to purchase the products.</a:t>
            </a:r>
          </a:p>
        </p:txBody>
      </p:sp>
      <p:cxnSp>
        <p:nvCxnSpPr>
          <p:cNvPr id="7" name="Straight Arrow Connector 6">
            <a:extLst>
              <a:ext uri="{FF2B5EF4-FFF2-40B4-BE49-F238E27FC236}">
                <a16:creationId xmlns:a16="http://schemas.microsoft.com/office/drawing/2014/main" id="{3BB63FFB-1F93-4DAE-8887-A9F98D5C9704}"/>
              </a:ext>
            </a:extLst>
          </p:cNvPr>
          <p:cNvCxnSpPr>
            <a:stCxn id="12" idx="3"/>
          </p:cNvCxnSpPr>
          <p:nvPr/>
        </p:nvCxnSpPr>
        <p:spPr>
          <a:xfrm>
            <a:off x="7429500" y="4001048"/>
            <a:ext cx="1228725" cy="609052"/>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8F0F822-227C-4666-8DEF-96384075348B}"/>
              </a:ext>
            </a:extLst>
          </p:cNvPr>
          <p:cNvSpPr txBox="1"/>
          <p:nvPr/>
        </p:nvSpPr>
        <p:spPr>
          <a:xfrm>
            <a:off x="7066851" y="3189631"/>
            <a:ext cx="1807082" cy="707886"/>
          </a:xfrm>
          <a:prstGeom prst="rect">
            <a:avLst/>
          </a:prstGeom>
          <a:solidFill>
            <a:schemeClr val="accent4">
              <a:lumMod val="60000"/>
              <a:lumOff val="40000"/>
            </a:schemeClr>
          </a:solidFill>
        </p:spPr>
        <p:txBody>
          <a:bodyPr wrap="square" rtlCol="0">
            <a:spAutoFit/>
          </a:bodyPr>
          <a:lstStyle/>
          <a:p>
            <a:r>
              <a:rPr lang="en-SG" sz="2000" dirty="0"/>
              <a:t>The sample gift card generated </a:t>
            </a:r>
          </a:p>
        </p:txBody>
      </p:sp>
    </p:spTree>
    <p:extLst>
      <p:ext uri="{BB962C8B-B14F-4D97-AF65-F5344CB8AC3E}">
        <p14:creationId xmlns:p14="http://schemas.microsoft.com/office/powerpoint/2010/main" val="31283067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735458" y="61213"/>
            <a:ext cx="10515600" cy="1325563"/>
          </a:xfrm>
        </p:spPr>
        <p:txBody>
          <a:bodyPr>
            <a:normAutofit/>
          </a:bodyPr>
          <a:lstStyle/>
          <a:p>
            <a:r>
              <a:rPr lang="en-SG" sz="5400" dirty="0"/>
              <a:t>Manage Blogs</a:t>
            </a:r>
            <a:endParaRPr lang="en-SG" sz="5400" dirty="0">
              <a:solidFill>
                <a:schemeClr val="accent5">
                  <a:lumMod val="75000"/>
                </a:schemeClr>
              </a:solidFill>
            </a:endParaRPr>
          </a:p>
        </p:txBody>
      </p:sp>
      <p:pic>
        <p:nvPicPr>
          <p:cNvPr id="3" name="Picture 2">
            <a:extLst>
              <a:ext uri="{FF2B5EF4-FFF2-40B4-BE49-F238E27FC236}">
                <a16:creationId xmlns:a16="http://schemas.microsoft.com/office/drawing/2014/main" id="{67340308-3934-4E4C-B842-B0E236C8EC7D}"/>
              </a:ext>
            </a:extLst>
          </p:cNvPr>
          <p:cNvPicPr>
            <a:picLocks noChangeAspect="1"/>
          </p:cNvPicPr>
          <p:nvPr/>
        </p:nvPicPr>
        <p:blipFill rotWithShape="1">
          <a:blip r:embed="rId2"/>
          <a:srcRect t="15449" r="1429" b="12381"/>
          <a:stretch/>
        </p:blipFill>
        <p:spPr>
          <a:xfrm>
            <a:off x="107273" y="1534160"/>
            <a:ext cx="11977454" cy="4932744"/>
          </a:xfrm>
          <a:prstGeom prst="rect">
            <a:avLst/>
          </a:prstGeom>
        </p:spPr>
      </p:pic>
      <p:sp>
        <p:nvSpPr>
          <p:cNvPr id="11" name="TextBox 10">
            <a:extLst>
              <a:ext uri="{FF2B5EF4-FFF2-40B4-BE49-F238E27FC236}">
                <a16:creationId xmlns:a16="http://schemas.microsoft.com/office/drawing/2014/main" id="{0AE84280-B431-4B49-A6DD-A1F895B7036C}"/>
              </a:ext>
            </a:extLst>
          </p:cNvPr>
          <p:cNvSpPr txBox="1"/>
          <p:nvPr/>
        </p:nvSpPr>
        <p:spPr>
          <a:xfrm>
            <a:off x="6050431" y="1094899"/>
            <a:ext cx="3467085" cy="2554545"/>
          </a:xfrm>
          <a:prstGeom prst="rect">
            <a:avLst/>
          </a:prstGeom>
          <a:solidFill>
            <a:schemeClr val="accent4">
              <a:lumMod val="60000"/>
              <a:lumOff val="40000"/>
            </a:schemeClr>
          </a:solidFill>
        </p:spPr>
        <p:txBody>
          <a:bodyPr wrap="square" rtlCol="0">
            <a:spAutoFit/>
          </a:bodyPr>
          <a:lstStyle/>
          <a:p>
            <a:r>
              <a:rPr lang="en-SG" sz="2000" dirty="0"/>
              <a:t>Benefits of Blogs in a site:</a:t>
            </a:r>
          </a:p>
          <a:p>
            <a:endParaRPr lang="en-SG" sz="2000" dirty="0"/>
          </a:p>
          <a:p>
            <a:pPr marL="342900" indent="-342900">
              <a:buFont typeface="Arial" panose="020B0604020202020204" pitchFamily="34" charset="0"/>
              <a:buChar char="•"/>
            </a:pPr>
            <a:r>
              <a:rPr lang="en-SG" sz="2000" dirty="0"/>
              <a:t>It helps drive web traffic </a:t>
            </a:r>
          </a:p>
          <a:p>
            <a:pPr marL="342900" indent="-342900">
              <a:buFont typeface="Arial" panose="020B0604020202020204" pitchFamily="34" charset="0"/>
              <a:buChar char="•"/>
            </a:pPr>
            <a:r>
              <a:rPr lang="en-SG" sz="2000" dirty="0"/>
              <a:t>It helps convert traffic into leads</a:t>
            </a:r>
          </a:p>
          <a:p>
            <a:pPr marL="342900" indent="-342900">
              <a:buFont typeface="Arial" panose="020B0604020202020204" pitchFamily="34" charset="0"/>
              <a:buChar char="•"/>
            </a:pPr>
            <a:r>
              <a:rPr lang="en-SG" sz="2000" dirty="0"/>
              <a:t>It creates value for your customers</a:t>
            </a:r>
          </a:p>
          <a:p>
            <a:pPr marL="342900" indent="-342900">
              <a:buFont typeface="Arial" panose="020B0604020202020204" pitchFamily="34" charset="0"/>
              <a:buChar char="•"/>
            </a:pPr>
            <a:r>
              <a:rPr lang="en-SG" sz="2000" dirty="0"/>
              <a:t>SEO ranking and more</a:t>
            </a:r>
          </a:p>
        </p:txBody>
      </p:sp>
      <p:grpSp>
        <p:nvGrpSpPr>
          <p:cNvPr id="4" name="Group 3">
            <a:extLst>
              <a:ext uri="{FF2B5EF4-FFF2-40B4-BE49-F238E27FC236}">
                <a16:creationId xmlns:a16="http://schemas.microsoft.com/office/drawing/2014/main" id="{30761729-4BD1-4B20-97CA-A6F677180E8C}"/>
              </a:ext>
            </a:extLst>
          </p:cNvPr>
          <p:cNvGrpSpPr/>
          <p:nvPr/>
        </p:nvGrpSpPr>
        <p:grpSpPr>
          <a:xfrm>
            <a:off x="9563085" y="1762572"/>
            <a:ext cx="2448575" cy="609600"/>
            <a:chOff x="9563085" y="1534160"/>
            <a:chExt cx="2448575" cy="609600"/>
          </a:xfrm>
        </p:grpSpPr>
        <p:sp>
          <p:nvSpPr>
            <p:cNvPr id="9" name="Rectangle 8">
              <a:extLst>
                <a:ext uri="{FF2B5EF4-FFF2-40B4-BE49-F238E27FC236}">
                  <a16:creationId xmlns:a16="http://schemas.microsoft.com/office/drawing/2014/main" id="{0C529AC0-8B96-4F18-B15B-4469B62AC883}"/>
                </a:ext>
              </a:extLst>
            </p:cNvPr>
            <p:cNvSpPr/>
            <p:nvPr/>
          </p:nvSpPr>
          <p:spPr>
            <a:xfrm>
              <a:off x="10850880" y="1534160"/>
              <a:ext cx="1160780" cy="609600"/>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3" name="Straight Arrow Connector 12">
              <a:extLst>
                <a:ext uri="{FF2B5EF4-FFF2-40B4-BE49-F238E27FC236}">
                  <a16:creationId xmlns:a16="http://schemas.microsoft.com/office/drawing/2014/main" id="{9B0CCEA2-6AD9-4833-A30A-457C3B4180F2}"/>
                </a:ext>
              </a:extLst>
            </p:cNvPr>
            <p:cNvCxnSpPr>
              <a:cxnSpLocks/>
            </p:cNvCxnSpPr>
            <p:nvPr/>
          </p:nvCxnSpPr>
          <p:spPr>
            <a:xfrm flipH="1">
              <a:off x="9563085" y="1886498"/>
              <a:ext cx="1287794" cy="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16532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9.2</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9.2</a:t>
            </a:r>
          </a:p>
        </p:txBody>
      </p:sp>
    </p:spTree>
    <p:extLst>
      <p:ext uri="{BB962C8B-B14F-4D97-AF65-F5344CB8AC3E}">
        <p14:creationId xmlns:p14="http://schemas.microsoft.com/office/powerpoint/2010/main" val="3456264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dirty="0">
                <a:solidFill>
                  <a:schemeClr val="accent5">
                    <a:lumMod val="75000"/>
                  </a:schemeClr>
                </a:solidFill>
              </a:rPr>
              <a:t>1 - Shipping</a:t>
            </a:r>
            <a:endParaRPr lang="en-SG" sz="5400" dirty="0">
              <a:solidFill>
                <a:schemeClr val="accent5">
                  <a:lumMod val="75000"/>
                </a:schemeClr>
              </a:solidFill>
            </a:endParaRPr>
          </a:p>
        </p:txBody>
      </p:sp>
      <p:pic>
        <p:nvPicPr>
          <p:cNvPr id="6" name="Picture 5">
            <a:extLst>
              <a:ext uri="{FF2B5EF4-FFF2-40B4-BE49-F238E27FC236}">
                <a16:creationId xmlns:a16="http://schemas.microsoft.com/office/drawing/2014/main" id="{ADF97702-EC5E-433A-8493-A5326B8BBE01}"/>
              </a:ext>
            </a:extLst>
          </p:cNvPr>
          <p:cNvPicPr>
            <a:picLocks noChangeAspect="1"/>
          </p:cNvPicPr>
          <p:nvPr/>
        </p:nvPicPr>
        <p:blipFill rotWithShape="1">
          <a:blip r:embed="rId2"/>
          <a:srcRect t="10222" r="13000" b="5037"/>
          <a:stretch/>
        </p:blipFill>
        <p:spPr>
          <a:xfrm>
            <a:off x="1262887" y="1405826"/>
            <a:ext cx="9666226" cy="5296056"/>
          </a:xfrm>
          <a:prstGeom prst="rect">
            <a:avLst/>
          </a:prstGeom>
        </p:spPr>
      </p:pic>
      <p:sp>
        <p:nvSpPr>
          <p:cNvPr id="12" name="Rectangle 11">
            <a:extLst>
              <a:ext uri="{FF2B5EF4-FFF2-40B4-BE49-F238E27FC236}">
                <a16:creationId xmlns:a16="http://schemas.microsoft.com/office/drawing/2014/main" id="{FA181489-BC0B-4B64-888C-95DF6BA908A7}"/>
              </a:ext>
            </a:extLst>
          </p:cNvPr>
          <p:cNvSpPr/>
          <p:nvPr/>
        </p:nvSpPr>
        <p:spPr>
          <a:xfrm>
            <a:off x="1262886" y="6238875"/>
            <a:ext cx="1727963" cy="482504"/>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4" name="Straight Arrow Connector 13">
            <a:extLst>
              <a:ext uri="{FF2B5EF4-FFF2-40B4-BE49-F238E27FC236}">
                <a16:creationId xmlns:a16="http://schemas.microsoft.com/office/drawing/2014/main" id="{B3E4E92D-E7F8-4350-916C-31FEF33F2BA8}"/>
              </a:ext>
            </a:extLst>
          </p:cNvPr>
          <p:cNvCxnSpPr>
            <a:cxnSpLocks/>
          </p:cNvCxnSpPr>
          <p:nvPr/>
        </p:nvCxnSpPr>
        <p:spPr>
          <a:xfrm flipV="1">
            <a:off x="2990849" y="5200650"/>
            <a:ext cx="1474470" cy="1018728"/>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C93A1D52-95D1-48C3-A486-E2722EA3C189}"/>
              </a:ext>
            </a:extLst>
          </p:cNvPr>
          <p:cNvSpPr/>
          <p:nvPr/>
        </p:nvSpPr>
        <p:spPr>
          <a:xfrm>
            <a:off x="4465319" y="4610100"/>
            <a:ext cx="1897381" cy="590550"/>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TextBox 15">
            <a:extLst>
              <a:ext uri="{FF2B5EF4-FFF2-40B4-BE49-F238E27FC236}">
                <a16:creationId xmlns:a16="http://schemas.microsoft.com/office/drawing/2014/main" id="{11E30742-75AF-4DE7-9A30-B032422ECEEA}"/>
              </a:ext>
            </a:extLst>
          </p:cNvPr>
          <p:cNvSpPr txBox="1"/>
          <p:nvPr/>
        </p:nvSpPr>
        <p:spPr>
          <a:xfrm>
            <a:off x="6821956" y="3332826"/>
            <a:ext cx="3884144" cy="2308324"/>
          </a:xfrm>
          <a:prstGeom prst="rect">
            <a:avLst/>
          </a:prstGeom>
          <a:solidFill>
            <a:schemeClr val="accent4">
              <a:lumMod val="60000"/>
              <a:lumOff val="40000"/>
            </a:schemeClr>
          </a:solidFill>
        </p:spPr>
        <p:txBody>
          <a:bodyPr wrap="square" rtlCol="0">
            <a:spAutoFit/>
          </a:bodyPr>
          <a:lstStyle/>
          <a:p>
            <a:r>
              <a:rPr lang="en-SG" sz="2400" dirty="0"/>
              <a:t>In this section, you can configure how orders are shipped to the customers. Like shipping rates at checkout, packages, packing slips and account integration</a:t>
            </a:r>
          </a:p>
        </p:txBody>
      </p:sp>
    </p:spTree>
    <p:extLst>
      <p:ext uri="{BB962C8B-B14F-4D97-AF65-F5344CB8AC3E}">
        <p14:creationId xmlns:p14="http://schemas.microsoft.com/office/powerpoint/2010/main" val="293243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dirty="0">
                <a:solidFill>
                  <a:schemeClr val="accent5">
                    <a:lumMod val="75000"/>
                  </a:schemeClr>
                </a:solidFill>
              </a:rPr>
              <a:t>1 - Shipping</a:t>
            </a:r>
            <a:endParaRPr lang="en-SG" sz="5400" dirty="0">
              <a:solidFill>
                <a:schemeClr val="accent5">
                  <a:lumMod val="75000"/>
                </a:schemeClr>
              </a:solidFill>
            </a:endParaRPr>
          </a:p>
        </p:txBody>
      </p:sp>
      <p:pic>
        <p:nvPicPr>
          <p:cNvPr id="3" name="Picture 2">
            <a:extLst>
              <a:ext uri="{FF2B5EF4-FFF2-40B4-BE49-F238E27FC236}">
                <a16:creationId xmlns:a16="http://schemas.microsoft.com/office/drawing/2014/main" id="{F705A2DC-56E1-4D2A-97FF-E079D5A04E84}"/>
              </a:ext>
            </a:extLst>
          </p:cNvPr>
          <p:cNvPicPr>
            <a:picLocks noChangeAspect="1"/>
          </p:cNvPicPr>
          <p:nvPr/>
        </p:nvPicPr>
        <p:blipFill rotWithShape="1">
          <a:blip r:embed="rId2"/>
          <a:srcRect l="26917" t="20499" r="15584" b="38074"/>
          <a:stretch/>
        </p:blipFill>
        <p:spPr>
          <a:xfrm>
            <a:off x="719454" y="1784000"/>
            <a:ext cx="8313946" cy="4045300"/>
          </a:xfrm>
          <a:prstGeom prst="rect">
            <a:avLst/>
          </a:prstGeom>
        </p:spPr>
      </p:pic>
      <p:sp>
        <p:nvSpPr>
          <p:cNvPr id="9" name="Rectangle 8">
            <a:extLst>
              <a:ext uri="{FF2B5EF4-FFF2-40B4-BE49-F238E27FC236}">
                <a16:creationId xmlns:a16="http://schemas.microsoft.com/office/drawing/2014/main" id="{240EC63B-9F68-4942-B334-5D30A36BC0CF}"/>
              </a:ext>
            </a:extLst>
          </p:cNvPr>
          <p:cNvSpPr/>
          <p:nvPr/>
        </p:nvSpPr>
        <p:spPr>
          <a:xfrm>
            <a:off x="3625086" y="2524125"/>
            <a:ext cx="5408314" cy="1676400"/>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1" name="Straight Arrow Connector 10">
            <a:extLst>
              <a:ext uri="{FF2B5EF4-FFF2-40B4-BE49-F238E27FC236}">
                <a16:creationId xmlns:a16="http://schemas.microsoft.com/office/drawing/2014/main" id="{46843509-C3F5-4549-BD1B-77EF9159F030}"/>
              </a:ext>
            </a:extLst>
          </p:cNvPr>
          <p:cNvCxnSpPr>
            <a:cxnSpLocks/>
          </p:cNvCxnSpPr>
          <p:nvPr/>
        </p:nvCxnSpPr>
        <p:spPr>
          <a:xfrm>
            <a:off x="9033400" y="3133278"/>
            <a:ext cx="377300" cy="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593FA33-E723-4569-85B7-5DC299F21389}"/>
              </a:ext>
            </a:extLst>
          </p:cNvPr>
          <p:cNvSpPr txBox="1"/>
          <p:nvPr/>
        </p:nvSpPr>
        <p:spPr>
          <a:xfrm>
            <a:off x="9410700" y="1962150"/>
            <a:ext cx="2305050" cy="1938992"/>
          </a:xfrm>
          <a:prstGeom prst="rect">
            <a:avLst/>
          </a:prstGeom>
          <a:solidFill>
            <a:schemeClr val="accent4">
              <a:lumMod val="60000"/>
              <a:lumOff val="40000"/>
            </a:schemeClr>
          </a:solidFill>
        </p:spPr>
        <p:txBody>
          <a:bodyPr wrap="square" rtlCol="0">
            <a:spAutoFit/>
          </a:bodyPr>
          <a:lstStyle/>
          <a:p>
            <a:r>
              <a:rPr lang="en-SG" sz="2000" dirty="0"/>
              <a:t>Can set the rates for both domestic and international. To edit the information you can click the “Manage Rates”</a:t>
            </a:r>
          </a:p>
        </p:txBody>
      </p:sp>
    </p:spTree>
    <p:extLst>
      <p:ext uri="{BB962C8B-B14F-4D97-AF65-F5344CB8AC3E}">
        <p14:creationId xmlns:p14="http://schemas.microsoft.com/office/powerpoint/2010/main" val="1230995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dirty="0">
                <a:solidFill>
                  <a:schemeClr val="accent5">
                    <a:lumMod val="75000"/>
                  </a:schemeClr>
                </a:solidFill>
              </a:rPr>
              <a:t>1 – Shipping (Editing Zone)</a:t>
            </a:r>
            <a:endParaRPr lang="en-SG" sz="5400" dirty="0">
              <a:solidFill>
                <a:schemeClr val="accent5">
                  <a:lumMod val="75000"/>
                </a:schemeClr>
              </a:solidFill>
            </a:endParaRPr>
          </a:p>
        </p:txBody>
      </p:sp>
      <p:pic>
        <p:nvPicPr>
          <p:cNvPr id="6" name="Picture 5">
            <a:extLst>
              <a:ext uri="{FF2B5EF4-FFF2-40B4-BE49-F238E27FC236}">
                <a16:creationId xmlns:a16="http://schemas.microsoft.com/office/drawing/2014/main" id="{21DCA357-77CC-4D2A-8B2A-A6CCA3717107}"/>
              </a:ext>
            </a:extLst>
          </p:cNvPr>
          <p:cNvPicPr>
            <a:picLocks noChangeAspect="1"/>
          </p:cNvPicPr>
          <p:nvPr/>
        </p:nvPicPr>
        <p:blipFill rotWithShape="1">
          <a:blip r:embed="rId2"/>
          <a:srcRect l="29001" t="22519" r="35000" b="11555"/>
          <a:stretch/>
        </p:blipFill>
        <p:spPr>
          <a:xfrm>
            <a:off x="782955" y="1525269"/>
            <a:ext cx="5151120" cy="5306131"/>
          </a:xfrm>
          <a:prstGeom prst="rect">
            <a:avLst/>
          </a:prstGeom>
        </p:spPr>
      </p:pic>
      <p:sp>
        <p:nvSpPr>
          <p:cNvPr id="10" name="Rectangle 9">
            <a:extLst>
              <a:ext uri="{FF2B5EF4-FFF2-40B4-BE49-F238E27FC236}">
                <a16:creationId xmlns:a16="http://schemas.microsoft.com/office/drawing/2014/main" id="{A531A9EA-3DBA-4F3D-B71E-27D7B5E6017B}"/>
              </a:ext>
            </a:extLst>
          </p:cNvPr>
          <p:cNvSpPr/>
          <p:nvPr/>
        </p:nvSpPr>
        <p:spPr>
          <a:xfrm>
            <a:off x="4368037" y="1525269"/>
            <a:ext cx="1632713" cy="482504"/>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7" name="Picture 6">
            <a:extLst>
              <a:ext uri="{FF2B5EF4-FFF2-40B4-BE49-F238E27FC236}">
                <a16:creationId xmlns:a16="http://schemas.microsoft.com/office/drawing/2014/main" id="{EB49DE71-ED11-4240-8332-325225C16CF2}"/>
              </a:ext>
            </a:extLst>
          </p:cNvPr>
          <p:cNvPicPr>
            <a:picLocks noChangeAspect="1"/>
          </p:cNvPicPr>
          <p:nvPr/>
        </p:nvPicPr>
        <p:blipFill rotWithShape="1">
          <a:blip r:embed="rId3"/>
          <a:srcRect l="31172" t="14853" r="32734" b="4559"/>
          <a:stretch/>
        </p:blipFill>
        <p:spPr>
          <a:xfrm>
            <a:off x="7208391" y="1405826"/>
            <a:ext cx="4400551" cy="5219701"/>
          </a:xfrm>
          <a:prstGeom prst="rect">
            <a:avLst/>
          </a:prstGeom>
        </p:spPr>
      </p:pic>
      <p:cxnSp>
        <p:nvCxnSpPr>
          <p:cNvPr id="13" name="Straight Arrow Connector 12">
            <a:extLst>
              <a:ext uri="{FF2B5EF4-FFF2-40B4-BE49-F238E27FC236}">
                <a16:creationId xmlns:a16="http://schemas.microsoft.com/office/drawing/2014/main" id="{0FFAC7D0-BE00-41BD-B010-F26C98585C84}"/>
              </a:ext>
            </a:extLst>
          </p:cNvPr>
          <p:cNvCxnSpPr>
            <a:cxnSpLocks/>
          </p:cNvCxnSpPr>
          <p:nvPr/>
        </p:nvCxnSpPr>
        <p:spPr>
          <a:xfrm>
            <a:off x="6000750" y="1804698"/>
            <a:ext cx="1274316" cy="1357602"/>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3A7EC71-80FF-483A-B3BC-D669DA1C0D87}"/>
              </a:ext>
            </a:extLst>
          </p:cNvPr>
          <p:cNvSpPr txBox="1"/>
          <p:nvPr/>
        </p:nvSpPr>
        <p:spPr>
          <a:xfrm>
            <a:off x="5105402" y="3281743"/>
            <a:ext cx="2305050" cy="1631216"/>
          </a:xfrm>
          <a:prstGeom prst="rect">
            <a:avLst/>
          </a:prstGeom>
          <a:solidFill>
            <a:schemeClr val="accent4">
              <a:lumMod val="60000"/>
              <a:lumOff val="40000"/>
            </a:schemeClr>
          </a:solidFill>
        </p:spPr>
        <p:txBody>
          <a:bodyPr wrap="square" rtlCol="0">
            <a:spAutoFit/>
          </a:bodyPr>
          <a:lstStyle/>
          <a:p>
            <a:r>
              <a:rPr lang="en-SG" sz="2000" dirty="0"/>
              <a:t>In this section, you can create a zone from which you can only ship the products/services</a:t>
            </a:r>
          </a:p>
        </p:txBody>
      </p:sp>
    </p:spTree>
    <p:extLst>
      <p:ext uri="{BB962C8B-B14F-4D97-AF65-F5344CB8AC3E}">
        <p14:creationId xmlns:p14="http://schemas.microsoft.com/office/powerpoint/2010/main" val="2056441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dirty="0">
                <a:solidFill>
                  <a:schemeClr val="accent5">
                    <a:lumMod val="75000"/>
                  </a:schemeClr>
                </a:solidFill>
              </a:rPr>
              <a:t>1 – Shipping (Editing Zone)</a:t>
            </a:r>
            <a:endParaRPr lang="en-SG" sz="5400" dirty="0">
              <a:solidFill>
                <a:schemeClr val="accent5">
                  <a:lumMod val="75000"/>
                </a:schemeClr>
              </a:solidFill>
            </a:endParaRPr>
          </a:p>
        </p:txBody>
      </p:sp>
      <p:pic>
        <p:nvPicPr>
          <p:cNvPr id="6" name="Picture 5">
            <a:extLst>
              <a:ext uri="{FF2B5EF4-FFF2-40B4-BE49-F238E27FC236}">
                <a16:creationId xmlns:a16="http://schemas.microsoft.com/office/drawing/2014/main" id="{21DCA357-77CC-4D2A-8B2A-A6CCA3717107}"/>
              </a:ext>
            </a:extLst>
          </p:cNvPr>
          <p:cNvPicPr>
            <a:picLocks noChangeAspect="1"/>
          </p:cNvPicPr>
          <p:nvPr/>
        </p:nvPicPr>
        <p:blipFill rotWithShape="1">
          <a:blip r:embed="rId2"/>
          <a:srcRect l="29001" t="22519" r="35000" b="11555"/>
          <a:stretch/>
        </p:blipFill>
        <p:spPr>
          <a:xfrm>
            <a:off x="782955" y="1525269"/>
            <a:ext cx="5151120" cy="5306131"/>
          </a:xfrm>
          <a:prstGeom prst="rect">
            <a:avLst/>
          </a:prstGeom>
        </p:spPr>
      </p:pic>
      <p:sp>
        <p:nvSpPr>
          <p:cNvPr id="10" name="Rectangle 9">
            <a:extLst>
              <a:ext uri="{FF2B5EF4-FFF2-40B4-BE49-F238E27FC236}">
                <a16:creationId xmlns:a16="http://schemas.microsoft.com/office/drawing/2014/main" id="{A531A9EA-3DBA-4F3D-B71E-27D7B5E6017B}"/>
              </a:ext>
            </a:extLst>
          </p:cNvPr>
          <p:cNvSpPr/>
          <p:nvPr/>
        </p:nvSpPr>
        <p:spPr>
          <a:xfrm>
            <a:off x="782955" y="1941507"/>
            <a:ext cx="5008245" cy="430218"/>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3" name="Straight Arrow Connector 12">
            <a:extLst>
              <a:ext uri="{FF2B5EF4-FFF2-40B4-BE49-F238E27FC236}">
                <a16:creationId xmlns:a16="http://schemas.microsoft.com/office/drawing/2014/main" id="{0FFAC7D0-BE00-41BD-B010-F26C98585C84}"/>
              </a:ext>
            </a:extLst>
          </p:cNvPr>
          <p:cNvCxnSpPr>
            <a:cxnSpLocks/>
          </p:cNvCxnSpPr>
          <p:nvPr/>
        </p:nvCxnSpPr>
        <p:spPr>
          <a:xfrm>
            <a:off x="5791200" y="2182759"/>
            <a:ext cx="1333500" cy="360695"/>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F64F13C8-4FA6-41D8-83E0-E982F7387A96}"/>
              </a:ext>
            </a:extLst>
          </p:cNvPr>
          <p:cNvPicPr>
            <a:picLocks noChangeAspect="1"/>
          </p:cNvPicPr>
          <p:nvPr/>
        </p:nvPicPr>
        <p:blipFill rotWithShape="1">
          <a:blip r:embed="rId3"/>
          <a:srcRect l="31250" t="14853" r="32813" b="4706"/>
          <a:stretch/>
        </p:blipFill>
        <p:spPr>
          <a:xfrm>
            <a:off x="7246620" y="1573246"/>
            <a:ext cx="4381500" cy="5210176"/>
          </a:xfrm>
          <a:prstGeom prst="rect">
            <a:avLst/>
          </a:prstGeom>
        </p:spPr>
      </p:pic>
      <p:sp>
        <p:nvSpPr>
          <p:cNvPr id="11" name="TextBox 10">
            <a:extLst>
              <a:ext uri="{FF2B5EF4-FFF2-40B4-BE49-F238E27FC236}">
                <a16:creationId xmlns:a16="http://schemas.microsoft.com/office/drawing/2014/main" id="{D47EADE5-1169-4C9E-A638-A53FEA8A0BC1}"/>
              </a:ext>
            </a:extLst>
          </p:cNvPr>
          <p:cNvSpPr txBox="1"/>
          <p:nvPr/>
        </p:nvSpPr>
        <p:spPr>
          <a:xfrm>
            <a:off x="5305425" y="3148658"/>
            <a:ext cx="2305050" cy="1631216"/>
          </a:xfrm>
          <a:prstGeom prst="rect">
            <a:avLst/>
          </a:prstGeom>
          <a:solidFill>
            <a:schemeClr val="accent4">
              <a:lumMod val="60000"/>
              <a:lumOff val="40000"/>
            </a:schemeClr>
          </a:solidFill>
        </p:spPr>
        <p:txBody>
          <a:bodyPr wrap="square" rtlCol="0">
            <a:spAutoFit/>
          </a:bodyPr>
          <a:lstStyle/>
          <a:p>
            <a:r>
              <a:rPr lang="en-SG" sz="2000" dirty="0"/>
              <a:t>You can edit the “Domestic” zone into another country by clicking the “Edit zone”</a:t>
            </a:r>
          </a:p>
        </p:txBody>
      </p:sp>
    </p:spTree>
    <p:extLst>
      <p:ext uri="{BB962C8B-B14F-4D97-AF65-F5344CB8AC3E}">
        <p14:creationId xmlns:p14="http://schemas.microsoft.com/office/powerpoint/2010/main" val="4245476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dirty="0">
                <a:solidFill>
                  <a:schemeClr val="accent5">
                    <a:lumMod val="75000"/>
                  </a:schemeClr>
                </a:solidFill>
              </a:rPr>
              <a:t>1 – Shipping (Editing Rate)</a:t>
            </a:r>
            <a:endParaRPr lang="en-SG" sz="5400" dirty="0">
              <a:solidFill>
                <a:schemeClr val="accent5">
                  <a:lumMod val="75000"/>
                </a:schemeClr>
              </a:solidFill>
            </a:endParaRPr>
          </a:p>
        </p:txBody>
      </p:sp>
      <p:pic>
        <p:nvPicPr>
          <p:cNvPr id="3" name="Picture 2">
            <a:extLst>
              <a:ext uri="{FF2B5EF4-FFF2-40B4-BE49-F238E27FC236}">
                <a16:creationId xmlns:a16="http://schemas.microsoft.com/office/drawing/2014/main" id="{83FD9891-E299-4F7C-834F-A46435E6114B}"/>
              </a:ext>
            </a:extLst>
          </p:cNvPr>
          <p:cNvPicPr>
            <a:picLocks noChangeAspect="1"/>
          </p:cNvPicPr>
          <p:nvPr/>
        </p:nvPicPr>
        <p:blipFill rotWithShape="1">
          <a:blip r:embed="rId2"/>
          <a:srcRect l="29083" t="20499" r="35667" b="15407"/>
          <a:stretch/>
        </p:blipFill>
        <p:spPr>
          <a:xfrm>
            <a:off x="755015" y="1405826"/>
            <a:ext cx="5163164" cy="5280724"/>
          </a:xfrm>
          <a:prstGeom prst="rect">
            <a:avLst/>
          </a:prstGeom>
        </p:spPr>
      </p:pic>
      <p:sp>
        <p:nvSpPr>
          <p:cNvPr id="9" name="Rectangle 8">
            <a:extLst>
              <a:ext uri="{FF2B5EF4-FFF2-40B4-BE49-F238E27FC236}">
                <a16:creationId xmlns:a16="http://schemas.microsoft.com/office/drawing/2014/main" id="{A60A2B59-5EA7-4101-A74D-7FE0827F3431}"/>
              </a:ext>
            </a:extLst>
          </p:cNvPr>
          <p:cNvSpPr/>
          <p:nvPr/>
        </p:nvSpPr>
        <p:spPr>
          <a:xfrm>
            <a:off x="996051" y="3006713"/>
            <a:ext cx="5008245" cy="641361"/>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7" name="Picture 6">
            <a:extLst>
              <a:ext uri="{FF2B5EF4-FFF2-40B4-BE49-F238E27FC236}">
                <a16:creationId xmlns:a16="http://schemas.microsoft.com/office/drawing/2014/main" id="{0210BCE5-3BED-4086-AB78-D0558CB993E9}"/>
              </a:ext>
            </a:extLst>
          </p:cNvPr>
          <p:cNvPicPr>
            <a:picLocks noChangeAspect="1"/>
          </p:cNvPicPr>
          <p:nvPr/>
        </p:nvPicPr>
        <p:blipFill rotWithShape="1">
          <a:blip r:embed="rId3"/>
          <a:srcRect l="31406" t="29722" r="32734" b="25972"/>
          <a:stretch/>
        </p:blipFill>
        <p:spPr>
          <a:xfrm>
            <a:off x="6830343" y="944876"/>
            <a:ext cx="4915650" cy="3416324"/>
          </a:xfrm>
          <a:prstGeom prst="rect">
            <a:avLst/>
          </a:prstGeom>
        </p:spPr>
      </p:pic>
      <p:cxnSp>
        <p:nvCxnSpPr>
          <p:cNvPr id="12" name="Straight Arrow Connector 11">
            <a:extLst>
              <a:ext uri="{FF2B5EF4-FFF2-40B4-BE49-F238E27FC236}">
                <a16:creationId xmlns:a16="http://schemas.microsoft.com/office/drawing/2014/main" id="{18B929D6-12BC-4FCA-954B-44508EC8799F}"/>
              </a:ext>
            </a:extLst>
          </p:cNvPr>
          <p:cNvCxnSpPr>
            <a:cxnSpLocks/>
            <a:stCxn id="9" idx="3"/>
          </p:cNvCxnSpPr>
          <p:nvPr/>
        </p:nvCxnSpPr>
        <p:spPr>
          <a:xfrm>
            <a:off x="6004296" y="3327394"/>
            <a:ext cx="826047" cy="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6A03EC0-7AFD-4B97-A026-C2D5ACD9B2ED}"/>
              </a:ext>
            </a:extLst>
          </p:cNvPr>
          <p:cNvSpPr txBox="1"/>
          <p:nvPr/>
        </p:nvSpPr>
        <p:spPr>
          <a:xfrm>
            <a:off x="6830343" y="4520346"/>
            <a:ext cx="4915650" cy="2246769"/>
          </a:xfrm>
          <a:prstGeom prst="rect">
            <a:avLst/>
          </a:prstGeom>
          <a:solidFill>
            <a:schemeClr val="accent4">
              <a:lumMod val="60000"/>
              <a:lumOff val="40000"/>
            </a:schemeClr>
          </a:solidFill>
        </p:spPr>
        <p:txBody>
          <a:bodyPr wrap="square" rtlCol="0">
            <a:spAutoFit/>
          </a:bodyPr>
          <a:lstStyle/>
          <a:p>
            <a:r>
              <a:rPr lang="en-SG" sz="2000" dirty="0"/>
              <a:t>By default there are two types of rates “Standard” and “Expedited” for both domestic and rest of the world but you can add other rate information. </a:t>
            </a:r>
          </a:p>
          <a:p>
            <a:endParaRPr lang="en-SG" sz="2000" dirty="0"/>
          </a:p>
          <a:p>
            <a:r>
              <a:rPr lang="en-SG" sz="2000" dirty="0"/>
              <a:t>You can based the rate by “Item weight” or “Order Price”. </a:t>
            </a:r>
          </a:p>
        </p:txBody>
      </p:sp>
      <p:sp>
        <p:nvSpPr>
          <p:cNvPr id="16" name="Rectangle 15">
            <a:extLst>
              <a:ext uri="{FF2B5EF4-FFF2-40B4-BE49-F238E27FC236}">
                <a16:creationId xmlns:a16="http://schemas.microsoft.com/office/drawing/2014/main" id="{2C7B4EE7-5B36-4F67-BFDE-DDD9F4E608BC}"/>
              </a:ext>
            </a:extLst>
          </p:cNvPr>
          <p:cNvSpPr/>
          <p:nvPr/>
        </p:nvSpPr>
        <p:spPr>
          <a:xfrm>
            <a:off x="909934" y="5452174"/>
            <a:ext cx="5008245" cy="641361"/>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7" name="Straight Arrow Connector 16">
            <a:extLst>
              <a:ext uri="{FF2B5EF4-FFF2-40B4-BE49-F238E27FC236}">
                <a16:creationId xmlns:a16="http://schemas.microsoft.com/office/drawing/2014/main" id="{D7C6CB05-A52A-4C55-9889-0BCB4D5540AA}"/>
              </a:ext>
            </a:extLst>
          </p:cNvPr>
          <p:cNvCxnSpPr>
            <a:cxnSpLocks/>
          </p:cNvCxnSpPr>
          <p:nvPr/>
        </p:nvCxnSpPr>
        <p:spPr>
          <a:xfrm flipV="1">
            <a:off x="5505156" y="3621979"/>
            <a:ext cx="1325187" cy="1830195"/>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3720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dirty="0">
                <a:solidFill>
                  <a:schemeClr val="accent5">
                    <a:lumMod val="75000"/>
                  </a:schemeClr>
                </a:solidFill>
              </a:rPr>
              <a:t>1 – Shipping (Editing Rate)</a:t>
            </a:r>
            <a:endParaRPr lang="en-SG" sz="5400" dirty="0">
              <a:solidFill>
                <a:schemeClr val="accent5">
                  <a:lumMod val="75000"/>
                </a:schemeClr>
              </a:solidFill>
            </a:endParaRPr>
          </a:p>
        </p:txBody>
      </p:sp>
      <p:pic>
        <p:nvPicPr>
          <p:cNvPr id="4" name="Picture 3">
            <a:extLst>
              <a:ext uri="{FF2B5EF4-FFF2-40B4-BE49-F238E27FC236}">
                <a16:creationId xmlns:a16="http://schemas.microsoft.com/office/drawing/2014/main" id="{229795D6-504D-418B-9AB2-023DBDA73EF7}"/>
              </a:ext>
            </a:extLst>
          </p:cNvPr>
          <p:cNvPicPr>
            <a:picLocks noChangeAspect="1"/>
          </p:cNvPicPr>
          <p:nvPr/>
        </p:nvPicPr>
        <p:blipFill rotWithShape="1">
          <a:blip r:embed="rId2"/>
          <a:srcRect l="28417" t="17926" r="34666" b="38666"/>
          <a:stretch/>
        </p:blipFill>
        <p:spPr>
          <a:xfrm>
            <a:off x="715242" y="1730374"/>
            <a:ext cx="5914158" cy="4213225"/>
          </a:xfrm>
          <a:prstGeom prst="rect">
            <a:avLst/>
          </a:prstGeom>
        </p:spPr>
      </p:pic>
      <p:sp>
        <p:nvSpPr>
          <p:cNvPr id="11" name="Rectangle 10">
            <a:extLst>
              <a:ext uri="{FF2B5EF4-FFF2-40B4-BE49-F238E27FC236}">
                <a16:creationId xmlns:a16="http://schemas.microsoft.com/office/drawing/2014/main" id="{62AE3A00-255D-489F-A552-D08373A4F257}"/>
              </a:ext>
            </a:extLst>
          </p:cNvPr>
          <p:cNvSpPr/>
          <p:nvPr/>
        </p:nvSpPr>
        <p:spPr>
          <a:xfrm>
            <a:off x="948426" y="2863838"/>
            <a:ext cx="5509524" cy="1279537"/>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Rectangle 12">
            <a:extLst>
              <a:ext uri="{FF2B5EF4-FFF2-40B4-BE49-F238E27FC236}">
                <a16:creationId xmlns:a16="http://schemas.microsoft.com/office/drawing/2014/main" id="{3645DABD-C037-43E5-9E3F-7FE84C584C20}"/>
              </a:ext>
            </a:extLst>
          </p:cNvPr>
          <p:cNvSpPr/>
          <p:nvPr/>
        </p:nvSpPr>
        <p:spPr>
          <a:xfrm>
            <a:off x="948426" y="4403718"/>
            <a:ext cx="5509524" cy="1279537"/>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4" name="Straight Arrow Connector 13">
            <a:extLst>
              <a:ext uri="{FF2B5EF4-FFF2-40B4-BE49-F238E27FC236}">
                <a16:creationId xmlns:a16="http://schemas.microsoft.com/office/drawing/2014/main" id="{899DE0BD-B78D-4870-BC71-7810C8354F7A}"/>
              </a:ext>
            </a:extLst>
          </p:cNvPr>
          <p:cNvCxnSpPr>
            <a:cxnSpLocks/>
          </p:cNvCxnSpPr>
          <p:nvPr/>
        </p:nvCxnSpPr>
        <p:spPr>
          <a:xfrm>
            <a:off x="6537696" y="3270244"/>
            <a:ext cx="826047" cy="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922748A-D1FB-468A-9B77-D88E8EDFE5B3}"/>
              </a:ext>
            </a:extLst>
          </p:cNvPr>
          <p:cNvSpPr txBox="1"/>
          <p:nvPr/>
        </p:nvSpPr>
        <p:spPr>
          <a:xfrm>
            <a:off x="7443489" y="2608524"/>
            <a:ext cx="4253211" cy="1323439"/>
          </a:xfrm>
          <a:prstGeom prst="rect">
            <a:avLst/>
          </a:prstGeom>
          <a:solidFill>
            <a:schemeClr val="accent4">
              <a:lumMod val="60000"/>
              <a:lumOff val="40000"/>
            </a:schemeClr>
          </a:solidFill>
        </p:spPr>
        <p:txBody>
          <a:bodyPr wrap="square" rtlCol="0">
            <a:spAutoFit/>
          </a:bodyPr>
          <a:lstStyle/>
          <a:p>
            <a:r>
              <a:rPr lang="en-SG" sz="2000" dirty="0"/>
              <a:t>In this section, you can specify which products are fragile so that during shipping this will be noted and placed with a fragile label.</a:t>
            </a:r>
          </a:p>
        </p:txBody>
      </p:sp>
      <p:sp>
        <p:nvSpPr>
          <p:cNvPr id="19" name="TextBox 18">
            <a:extLst>
              <a:ext uri="{FF2B5EF4-FFF2-40B4-BE49-F238E27FC236}">
                <a16:creationId xmlns:a16="http://schemas.microsoft.com/office/drawing/2014/main" id="{E2066685-CBE5-498E-B834-1E40DA987FA1}"/>
              </a:ext>
            </a:extLst>
          </p:cNvPr>
          <p:cNvSpPr txBox="1"/>
          <p:nvPr/>
        </p:nvSpPr>
        <p:spPr>
          <a:xfrm>
            <a:off x="7363743" y="4810115"/>
            <a:ext cx="4253211" cy="707886"/>
          </a:xfrm>
          <a:prstGeom prst="rect">
            <a:avLst/>
          </a:prstGeom>
          <a:solidFill>
            <a:schemeClr val="accent4">
              <a:lumMod val="60000"/>
              <a:lumOff val="40000"/>
            </a:schemeClr>
          </a:solidFill>
        </p:spPr>
        <p:txBody>
          <a:bodyPr wrap="square" rtlCol="0">
            <a:spAutoFit/>
          </a:bodyPr>
          <a:lstStyle/>
          <a:p>
            <a:r>
              <a:rPr lang="en-SG" sz="2000" dirty="0"/>
              <a:t>In this section, you can set specific rates for different products/services</a:t>
            </a:r>
          </a:p>
        </p:txBody>
      </p:sp>
      <p:cxnSp>
        <p:nvCxnSpPr>
          <p:cNvPr id="20" name="Straight Arrow Connector 19">
            <a:extLst>
              <a:ext uri="{FF2B5EF4-FFF2-40B4-BE49-F238E27FC236}">
                <a16:creationId xmlns:a16="http://schemas.microsoft.com/office/drawing/2014/main" id="{FD79B7E0-104C-4DB5-B6FF-08FA3E092E04}"/>
              </a:ext>
            </a:extLst>
          </p:cNvPr>
          <p:cNvCxnSpPr>
            <a:cxnSpLocks/>
          </p:cNvCxnSpPr>
          <p:nvPr/>
        </p:nvCxnSpPr>
        <p:spPr>
          <a:xfrm>
            <a:off x="6457950" y="5156194"/>
            <a:ext cx="826047" cy="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0008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dirty="0">
                <a:solidFill>
                  <a:schemeClr val="accent5">
                    <a:lumMod val="75000"/>
                  </a:schemeClr>
                </a:solidFill>
              </a:rPr>
              <a:t>1 – Shipping (Packages)</a:t>
            </a:r>
            <a:endParaRPr lang="en-SG" sz="5400" dirty="0">
              <a:solidFill>
                <a:schemeClr val="accent5">
                  <a:lumMod val="75000"/>
                </a:schemeClr>
              </a:solidFill>
            </a:endParaRPr>
          </a:p>
        </p:txBody>
      </p:sp>
      <p:pic>
        <p:nvPicPr>
          <p:cNvPr id="3" name="Picture 2">
            <a:extLst>
              <a:ext uri="{FF2B5EF4-FFF2-40B4-BE49-F238E27FC236}">
                <a16:creationId xmlns:a16="http://schemas.microsoft.com/office/drawing/2014/main" id="{B8C38D27-5C2C-4A61-B29C-47EED576E03B}"/>
              </a:ext>
            </a:extLst>
          </p:cNvPr>
          <p:cNvPicPr>
            <a:picLocks noChangeAspect="1"/>
          </p:cNvPicPr>
          <p:nvPr/>
        </p:nvPicPr>
        <p:blipFill rotWithShape="1">
          <a:blip r:embed="rId2"/>
          <a:srcRect l="27083" t="35852" r="15583" b="44819"/>
          <a:stretch/>
        </p:blipFill>
        <p:spPr>
          <a:xfrm>
            <a:off x="835024" y="1582420"/>
            <a:ext cx="10099675" cy="1915251"/>
          </a:xfrm>
          <a:prstGeom prst="rect">
            <a:avLst/>
          </a:prstGeom>
        </p:spPr>
      </p:pic>
      <p:sp>
        <p:nvSpPr>
          <p:cNvPr id="12" name="Rectangle 11">
            <a:extLst>
              <a:ext uri="{FF2B5EF4-FFF2-40B4-BE49-F238E27FC236}">
                <a16:creationId xmlns:a16="http://schemas.microsoft.com/office/drawing/2014/main" id="{C32CE344-9DC2-437C-B9FE-012826246E0C}"/>
              </a:ext>
            </a:extLst>
          </p:cNvPr>
          <p:cNvSpPr/>
          <p:nvPr/>
        </p:nvSpPr>
        <p:spPr>
          <a:xfrm flipV="1">
            <a:off x="9424213" y="2300326"/>
            <a:ext cx="1786712" cy="433349"/>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Rectangle 14">
            <a:extLst>
              <a:ext uri="{FF2B5EF4-FFF2-40B4-BE49-F238E27FC236}">
                <a16:creationId xmlns:a16="http://schemas.microsoft.com/office/drawing/2014/main" id="{D8417B91-609D-4121-93E8-41D0B82510B7}"/>
              </a:ext>
            </a:extLst>
          </p:cNvPr>
          <p:cNvSpPr/>
          <p:nvPr/>
        </p:nvSpPr>
        <p:spPr>
          <a:xfrm flipV="1">
            <a:off x="9424213" y="1724699"/>
            <a:ext cx="1786712" cy="433349"/>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6" name="Straight Arrow Connector 15">
            <a:extLst>
              <a:ext uri="{FF2B5EF4-FFF2-40B4-BE49-F238E27FC236}">
                <a16:creationId xmlns:a16="http://schemas.microsoft.com/office/drawing/2014/main" id="{DF48B36C-B12C-491C-8D4C-B57AD3597F58}"/>
              </a:ext>
            </a:extLst>
          </p:cNvPr>
          <p:cNvCxnSpPr>
            <a:cxnSpLocks/>
          </p:cNvCxnSpPr>
          <p:nvPr/>
        </p:nvCxnSpPr>
        <p:spPr>
          <a:xfrm flipH="1">
            <a:off x="4705350" y="2028825"/>
            <a:ext cx="4718864" cy="1468846"/>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EAD2558-89C3-4A2B-97B2-5E2ED7CF8DC5}"/>
              </a:ext>
            </a:extLst>
          </p:cNvPr>
          <p:cNvCxnSpPr>
            <a:cxnSpLocks/>
          </p:cNvCxnSpPr>
          <p:nvPr/>
        </p:nvCxnSpPr>
        <p:spPr>
          <a:xfrm flipH="1">
            <a:off x="9591675" y="2757890"/>
            <a:ext cx="536946" cy="1118785"/>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7079568-2820-4486-9167-495F87CD5075}"/>
              </a:ext>
            </a:extLst>
          </p:cNvPr>
          <p:cNvPicPr>
            <a:picLocks noChangeAspect="1"/>
          </p:cNvPicPr>
          <p:nvPr/>
        </p:nvPicPr>
        <p:blipFill rotWithShape="1">
          <a:blip r:embed="rId3"/>
          <a:srcRect l="31172" t="20499" r="32734" b="16667"/>
          <a:stretch/>
        </p:blipFill>
        <p:spPr>
          <a:xfrm>
            <a:off x="990602" y="3140123"/>
            <a:ext cx="3714748" cy="3637614"/>
          </a:xfrm>
          <a:prstGeom prst="rect">
            <a:avLst/>
          </a:prstGeom>
        </p:spPr>
      </p:pic>
      <p:pic>
        <p:nvPicPr>
          <p:cNvPr id="22" name="Picture 21">
            <a:extLst>
              <a:ext uri="{FF2B5EF4-FFF2-40B4-BE49-F238E27FC236}">
                <a16:creationId xmlns:a16="http://schemas.microsoft.com/office/drawing/2014/main" id="{E48CF1FD-402E-4C9A-81E5-D4BB63E1C82D}"/>
              </a:ext>
            </a:extLst>
          </p:cNvPr>
          <p:cNvPicPr>
            <a:picLocks noChangeAspect="1"/>
          </p:cNvPicPr>
          <p:nvPr/>
        </p:nvPicPr>
        <p:blipFill rotWithShape="1">
          <a:blip r:embed="rId4"/>
          <a:srcRect l="31406" t="35902" r="32812" b="32794"/>
          <a:stretch/>
        </p:blipFill>
        <p:spPr>
          <a:xfrm>
            <a:off x="5970739" y="3944076"/>
            <a:ext cx="4963960" cy="2442804"/>
          </a:xfrm>
          <a:prstGeom prst="rect">
            <a:avLst/>
          </a:prstGeom>
        </p:spPr>
      </p:pic>
      <p:sp>
        <p:nvSpPr>
          <p:cNvPr id="23" name="TextBox 22">
            <a:extLst>
              <a:ext uri="{FF2B5EF4-FFF2-40B4-BE49-F238E27FC236}">
                <a16:creationId xmlns:a16="http://schemas.microsoft.com/office/drawing/2014/main" id="{D1AC785F-9613-4556-A160-3A20519A411F}"/>
              </a:ext>
            </a:extLst>
          </p:cNvPr>
          <p:cNvSpPr txBox="1"/>
          <p:nvPr/>
        </p:nvSpPr>
        <p:spPr>
          <a:xfrm>
            <a:off x="6951702" y="404007"/>
            <a:ext cx="2305050" cy="1631216"/>
          </a:xfrm>
          <a:prstGeom prst="rect">
            <a:avLst/>
          </a:prstGeom>
          <a:solidFill>
            <a:schemeClr val="accent4">
              <a:lumMod val="60000"/>
              <a:lumOff val="40000"/>
            </a:schemeClr>
          </a:solidFill>
        </p:spPr>
        <p:txBody>
          <a:bodyPr wrap="square" rtlCol="0">
            <a:spAutoFit/>
          </a:bodyPr>
          <a:lstStyle/>
          <a:p>
            <a:r>
              <a:rPr lang="en-SG" sz="2000" dirty="0"/>
              <a:t>For setting the packages sizes for products that are ordered by the customers</a:t>
            </a:r>
          </a:p>
        </p:txBody>
      </p:sp>
    </p:spTree>
    <p:extLst>
      <p:ext uri="{BB962C8B-B14F-4D97-AF65-F5344CB8AC3E}">
        <p14:creationId xmlns:p14="http://schemas.microsoft.com/office/powerpoint/2010/main" val="3882478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dirty="0">
                <a:solidFill>
                  <a:schemeClr val="accent5">
                    <a:lumMod val="75000"/>
                  </a:schemeClr>
                </a:solidFill>
              </a:rPr>
              <a:t>1 – Shipping (Packing Slip Customization)</a:t>
            </a:r>
            <a:endParaRPr lang="en-SG" sz="5400" dirty="0">
              <a:solidFill>
                <a:schemeClr val="accent5">
                  <a:lumMod val="75000"/>
                </a:schemeClr>
              </a:solidFill>
            </a:endParaRPr>
          </a:p>
        </p:txBody>
      </p:sp>
      <p:pic>
        <p:nvPicPr>
          <p:cNvPr id="4" name="Picture 3">
            <a:extLst>
              <a:ext uri="{FF2B5EF4-FFF2-40B4-BE49-F238E27FC236}">
                <a16:creationId xmlns:a16="http://schemas.microsoft.com/office/drawing/2014/main" id="{ED9C6C51-CBB9-408E-8514-CDB3B8C6DE10}"/>
              </a:ext>
            </a:extLst>
          </p:cNvPr>
          <p:cNvPicPr>
            <a:picLocks noChangeAspect="1"/>
          </p:cNvPicPr>
          <p:nvPr/>
        </p:nvPicPr>
        <p:blipFill rotWithShape="1">
          <a:blip r:embed="rId2"/>
          <a:srcRect l="26917" t="47407" r="15750" b="38371"/>
          <a:stretch/>
        </p:blipFill>
        <p:spPr>
          <a:xfrm>
            <a:off x="583058" y="1745483"/>
            <a:ext cx="11041262" cy="1540641"/>
          </a:xfrm>
          <a:prstGeom prst="rect">
            <a:avLst/>
          </a:prstGeom>
        </p:spPr>
      </p:pic>
      <p:sp>
        <p:nvSpPr>
          <p:cNvPr id="13" name="Rectangle 12">
            <a:extLst>
              <a:ext uri="{FF2B5EF4-FFF2-40B4-BE49-F238E27FC236}">
                <a16:creationId xmlns:a16="http://schemas.microsoft.com/office/drawing/2014/main" id="{D8C0C064-ED6B-4428-864D-1653BCD8B43E}"/>
              </a:ext>
            </a:extLst>
          </p:cNvPr>
          <p:cNvSpPr/>
          <p:nvPr/>
        </p:nvSpPr>
        <p:spPr>
          <a:xfrm flipV="1">
            <a:off x="10052863" y="1947901"/>
            <a:ext cx="1786712" cy="433349"/>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5" name="Picture 4">
            <a:extLst>
              <a:ext uri="{FF2B5EF4-FFF2-40B4-BE49-F238E27FC236}">
                <a16:creationId xmlns:a16="http://schemas.microsoft.com/office/drawing/2014/main" id="{45B89368-5649-46BD-B97F-6E44244EA505}"/>
              </a:ext>
            </a:extLst>
          </p:cNvPr>
          <p:cNvPicPr>
            <a:picLocks noChangeAspect="1"/>
          </p:cNvPicPr>
          <p:nvPr/>
        </p:nvPicPr>
        <p:blipFill rotWithShape="1">
          <a:blip r:embed="rId3"/>
          <a:srcRect l="27500" t="21805" r="15859" b="19167"/>
          <a:stretch/>
        </p:blipFill>
        <p:spPr>
          <a:xfrm>
            <a:off x="4560233" y="3151632"/>
            <a:ext cx="6200006" cy="3634488"/>
          </a:xfrm>
          <a:prstGeom prst="rect">
            <a:avLst/>
          </a:prstGeom>
        </p:spPr>
      </p:pic>
      <p:cxnSp>
        <p:nvCxnSpPr>
          <p:cNvPr id="14" name="Straight Arrow Connector 13">
            <a:extLst>
              <a:ext uri="{FF2B5EF4-FFF2-40B4-BE49-F238E27FC236}">
                <a16:creationId xmlns:a16="http://schemas.microsoft.com/office/drawing/2014/main" id="{E0561203-962B-44EC-8054-BEDDB7D1BC86}"/>
              </a:ext>
            </a:extLst>
          </p:cNvPr>
          <p:cNvCxnSpPr>
            <a:cxnSpLocks/>
            <a:stCxn id="13" idx="1"/>
          </p:cNvCxnSpPr>
          <p:nvPr/>
        </p:nvCxnSpPr>
        <p:spPr>
          <a:xfrm flipH="1">
            <a:off x="9235547" y="2164575"/>
            <a:ext cx="817316" cy="987057"/>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42A49B7-2AFB-43F9-B0D1-8949176906F5}"/>
              </a:ext>
            </a:extLst>
          </p:cNvPr>
          <p:cNvSpPr txBox="1"/>
          <p:nvPr/>
        </p:nvSpPr>
        <p:spPr>
          <a:xfrm>
            <a:off x="655676" y="4205005"/>
            <a:ext cx="3687723" cy="1323439"/>
          </a:xfrm>
          <a:prstGeom prst="rect">
            <a:avLst/>
          </a:prstGeom>
          <a:solidFill>
            <a:schemeClr val="accent4">
              <a:lumMod val="60000"/>
              <a:lumOff val="40000"/>
            </a:schemeClr>
          </a:solidFill>
        </p:spPr>
        <p:txBody>
          <a:bodyPr wrap="square" rtlCol="0">
            <a:spAutoFit/>
          </a:bodyPr>
          <a:lstStyle/>
          <a:p>
            <a:r>
              <a:rPr lang="en-SG" sz="2000" dirty="0"/>
              <a:t>It is an HTML format which you can edit and specify the </a:t>
            </a:r>
            <a:r>
              <a:rPr lang="en-SG" sz="2000" b="1" u="sng" dirty="0"/>
              <a:t>From</a:t>
            </a:r>
            <a:r>
              <a:rPr lang="en-SG" sz="2000" dirty="0"/>
              <a:t> and </a:t>
            </a:r>
            <a:r>
              <a:rPr lang="en-SG" sz="2000" b="1" u="sng" dirty="0"/>
              <a:t>To</a:t>
            </a:r>
            <a:r>
              <a:rPr lang="en-SG" sz="2000" dirty="0"/>
              <a:t> shipping addresses and the order details.</a:t>
            </a:r>
          </a:p>
        </p:txBody>
      </p:sp>
    </p:spTree>
    <p:extLst>
      <p:ext uri="{BB962C8B-B14F-4D97-AF65-F5344CB8AC3E}">
        <p14:creationId xmlns:p14="http://schemas.microsoft.com/office/powerpoint/2010/main" val="1452740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B89368-5649-46BD-B97F-6E44244EA505}"/>
              </a:ext>
            </a:extLst>
          </p:cNvPr>
          <p:cNvPicPr>
            <a:picLocks noChangeAspect="1"/>
          </p:cNvPicPr>
          <p:nvPr/>
        </p:nvPicPr>
        <p:blipFill rotWithShape="1">
          <a:blip r:embed="rId2"/>
          <a:srcRect l="27500" t="21805" r="15859" b="19167"/>
          <a:stretch/>
        </p:blipFill>
        <p:spPr>
          <a:xfrm>
            <a:off x="721657" y="1611755"/>
            <a:ext cx="6526867" cy="4703319"/>
          </a:xfrm>
          <a:prstGeom prst="rect">
            <a:avLst/>
          </a:prstGeom>
        </p:spPr>
      </p:pic>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dirty="0">
                <a:solidFill>
                  <a:schemeClr val="accent5">
                    <a:lumMod val="75000"/>
                  </a:schemeClr>
                </a:solidFill>
              </a:rPr>
              <a:t>1 – Shipping (Packing Slip Customization)</a:t>
            </a:r>
            <a:endParaRPr lang="en-SG" sz="5400" dirty="0">
              <a:solidFill>
                <a:schemeClr val="accent5">
                  <a:lumMod val="75000"/>
                </a:schemeClr>
              </a:solidFill>
            </a:endParaRPr>
          </a:p>
        </p:txBody>
      </p:sp>
      <p:sp>
        <p:nvSpPr>
          <p:cNvPr id="13" name="Rectangle 12">
            <a:extLst>
              <a:ext uri="{FF2B5EF4-FFF2-40B4-BE49-F238E27FC236}">
                <a16:creationId xmlns:a16="http://schemas.microsoft.com/office/drawing/2014/main" id="{D8C0C064-ED6B-4428-864D-1653BCD8B43E}"/>
              </a:ext>
            </a:extLst>
          </p:cNvPr>
          <p:cNvSpPr/>
          <p:nvPr/>
        </p:nvSpPr>
        <p:spPr>
          <a:xfrm flipV="1">
            <a:off x="5738038" y="1602230"/>
            <a:ext cx="1786712" cy="433349"/>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4" name="Straight Arrow Connector 13">
            <a:extLst>
              <a:ext uri="{FF2B5EF4-FFF2-40B4-BE49-F238E27FC236}">
                <a16:creationId xmlns:a16="http://schemas.microsoft.com/office/drawing/2014/main" id="{E0561203-962B-44EC-8054-BEDDB7D1BC86}"/>
              </a:ext>
            </a:extLst>
          </p:cNvPr>
          <p:cNvCxnSpPr>
            <a:cxnSpLocks/>
            <a:stCxn id="13" idx="3"/>
          </p:cNvCxnSpPr>
          <p:nvPr/>
        </p:nvCxnSpPr>
        <p:spPr>
          <a:xfrm>
            <a:off x="7524750" y="1818904"/>
            <a:ext cx="1057275" cy="486146"/>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97F89D38-3145-409B-9ECC-BB8F1C213B66}"/>
              </a:ext>
            </a:extLst>
          </p:cNvPr>
          <p:cNvPicPr>
            <a:picLocks noChangeAspect="1"/>
          </p:cNvPicPr>
          <p:nvPr/>
        </p:nvPicPr>
        <p:blipFill rotWithShape="1">
          <a:blip r:embed="rId3"/>
          <a:srcRect l="20937" t="15001" r="22265" b="11249"/>
          <a:stretch/>
        </p:blipFill>
        <p:spPr>
          <a:xfrm>
            <a:off x="6223814" y="2501178"/>
            <a:ext cx="5503603" cy="4019825"/>
          </a:xfrm>
          <a:prstGeom prst="rect">
            <a:avLst/>
          </a:prstGeom>
        </p:spPr>
      </p:pic>
      <p:sp>
        <p:nvSpPr>
          <p:cNvPr id="15" name="TextBox 14">
            <a:extLst>
              <a:ext uri="{FF2B5EF4-FFF2-40B4-BE49-F238E27FC236}">
                <a16:creationId xmlns:a16="http://schemas.microsoft.com/office/drawing/2014/main" id="{ECF62DCB-B1F6-4904-9F45-ED7A22B2F9C3}"/>
              </a:ext>
            </a:extLst>
          </p:cNvPr>
          <p:cNvSpPr txBox="1"/>
          <p:nvPr/>
        </p:nvSpPr>
        <p:spPr>
          <a:xfrm>
            <a:off x="8315918" y="1601954"/>
            <a:ext cx="3411499" cy="400110"/>
          </a:xfrm>
          <a:prstGeom prst="rect">
            <a:avLst/>
          </a:prstGeom>
          <a:solidFill>
            <a:schemeClr val="accent4">
              <a:lumMod val="60000"/>
              <a:lumOff val="40000"/>
            </a:schemeClr>
          </a:solidFill>
        </p:spPr>
        <p:txBody>
          <a:bodyPr wrap="square" rtlCol="0">
            <a:spAutoFit/>
          </a:bodyPr>
          <a:lstStyle/>
          <a:p>
            <a:r>
              <a:rPr lang="en-SG" sz="2000" dirty="0"/>
              <a:t>Sample Customizable Template</a:t>
            </a:r>
          </a:p>
        </p:txBody>
      </p:sp>
    </p:spTree>
    <p:extLst>
      <p:ext uri="{BB962C8B-B14F-4D97-AF65-F5344CB8AC3E}">
        <p14:creationId xmlns:p14="http://schemas.microsoft.com/office/powerpoint/2010/main" val="35922289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dirty="0">
                <a:solidFill>
                  <a:schemeClr val="accent5">
                    <a:lumMod val="75000"/>
                  </a:schemeClr>
                </a:solidFill>
              </a:rPr>
              <a:t>1 – Shipping (Packing Slip Customization)</a:t>
            </a:r>
            <a:endParaRPr lang="en-SG" sz="5400" dirty="0">
              <a:solidFill>
                <a:schemeClr val="accent5">
                  <a:lumMod val="75000"/>
                </a:schemeClr>
              </a:solidFill>
            </a:endParaRPr>
          </a:p>
        </p:txBody>
      </p:sp>
      <p:sp>
        <p:nvSpPr>
          <p:cNvPr id="15" name="TextBox 14">
            <a:extLst>
              <a:ext uri="{FF2B5EF4-FFF2-40B4-BE49-F238E27FC236}">
                <a16:creationId xmlns:a16="http://schemas.microsoft.com/office/drawing/2014/main" id="{ECF62DCB-B1F6-4904-9F45-ED7A22B2F9C3}"/>
              </a:ext>
            </a:extLst>
          </p:cNvPr>
          <p:cNvSpPr txBox="1"/>
          <p:nvPr/>
        </p:nvSpPr>
        <p:spPr>
          <a:xfrm>
            <a:off x="695918" y="1405826"/>
            <a:ext cx="5647732" cy="400110"/>
          </a:xfrm>
          <a:prstGeom prst="rect">
            <a:avLst/>
          </a:prstGeom>
          <a:solidFill>
            <a:schemeClr val="accent4">
              <a:lumMod val="60000"/>
              <a:lumOff val="40000"/>
            </a:schemeClr>
          </a:solidFill>
        </p:spPr>
        <p:txBody>
          <a:bodyPr wrap="square" rtlCol="0">
            <a:spAutoFit/>
          </a:bodyPr>
          <a:lstStyle/>
          <a:p>
            <a:r>
              <a:rPr lang="en-SG" sz="2000" dirty="0"/>
              <a:t>To Change Store Address go to </a:t>
            </a:r>
            <a:r>
              <a:rPr lang="en-SG" sz="2000" b="1" dirty="0"/>
              <a:t>Settings</a:t>
            </a:r>
            <a:r>
              <a:rPr lang="en-SG" sz="2000" dirty="0"/>
              <a:t> &gt; </a:t>
            </a:r>
            <a:r>
              <a:rPr lang="en-SG" sz="2000" b="1" dirty="0"/>
              <a:t>General</a:t>
            </a:r>
          </a:p>
        </p:txBody>
      </p:sp>
      <p:pic>
        <p:nvPicPr>
          <p:cNvPr id="4" name="Picture 3">
            <a:extLst>
              <a:ext uri="{FF2B5EF4-FFF2-40B4-BE49-F238E27FC236}">
                <a16:creationId xmlns:a16="http://schemas.microsoft.com/office/drawing/2014/main" id="{9CF01551-3AAB-4394-A970-4218AE5D0BC4}"/>
              </a:ext>
            </a:extLst>
          </p:cNvPr>
          <p:cNvPicPr>
            <a:picLocks noChangeAspect="1"/>
          </p:cNvPicPr>
          <p:nvPr/>
        </p:nvPicPr>
        <p:blipFill rotWithShape="1">
          <a:blip r:embed="rId2"/>
          <a:srcRect l="28249" t="17926" r="15501" b="15555"/>
          <a:stretch/>
        </p:blipFill>
        <p:spPr>
          <a:xfrm>
            <a:off x="772118" y="1978413"/>
            <a:ext cx="5914432" cy="3934192"/>
          </a:xfrm>
          <a:prstGeom prst="rect">
            <a:avLst/>
          </a:prstGeom>
        </p:spPr>
      </p:pic>
      <p:pic>
        <p:nvPicPr>
          <p:cNvPr id="6" name="Picture 5">
            <a:extLst>
              <a:ext uri="{FF2B5EF4-FFF2-40B4-BE49-F238E27FC236}">
                <a16:creationId xmlns:a16="http://schemas.microsoft.com/office/drawing/2014/main" id="{DD87B3A7-1DB0-4267-8110-6FED64879294}"/>
              </a:ext>
            </a:extLst>
          </p:cNvPr>
          <p:cNvPicPr>
            <a:picLocks noChangeAspect="1"/>
          </p:cNvPicPr>
          <p:nvPr/>
        </p:nvPicPr>
        <p:blipFill rotWithShape="1">
          <a:blip r:embed="rId3"/>
          <a:srcRect l="28594" t="15833" r="16719" b="24722"/>
          <a:stretch/>
        </p:blipFill>
        <p:spPr>
          <a:xfrm>
            <a:off x="6192091" y="3332803"/>
            <a:ext cx="5634238" cy="3444934"/>
          </a:xfrm>
          <a:prstGeom prst="rect">
            <a:avLst/>
          </a:prstGeom>
        </p:spPr>
      </p:pic>
    </p:spTree>
    <p:extLst>
      <p:ext uri="{BB962C8B-B14F-4D97-AF65-F5344CB8AC3E}">
        <p14:creationId xmlns:p14="http://schemas.microsoft.com/office/powerpoint/2010/main" val="1983403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dirty="0">
                <a:solidFill>
                  <a:schemeClr val="accent5">
                    <a:lumMod val="75000"/>
                  </a:schemeClr>
                </a:solidFill>
              </a:rPr>
              <a:t>1 – Shipping (Packing Slip Customization)</a:t>
            </a:r>
            <a:endParaRPr lang="en-SG" sz="5400" dirty="0">
              <a:solidFill>
                <a:schemeClr val="accent5">
                  <a:lumMod val="75000"/>
                </a:schemeClr>
              </a:solidFill>
            </a:endParaRPr>
          </a:p>
        </p:txBody>
      </p:sp>
      <p:sp>
        <p:nvSpPr>
          <p:cNvPr id="15" name="TextBox 14">
            <a:extLst>
              <a:ext uri="{FF2B5EF4-FFF2-40B4-BE49-F238E27FC236}">
                <a16:creationId xmlns:a16="http://schemas.microsoft.com/office/drawing/2014/main" id="{ECF62DCB-B1F6-4904-9F45-ED7A22B2F9C3}"/>
              </a:ext>
            </a:extLst>
          </p:cNvPr>
          <p:cNvSpPr txBox="1"/>
          <p:nvPr/>
        </p:nvSpPr>
        <p:spPr>
          <a:xfrm>
            <a:off x="686391" y="1577276"/>
            <a:ext cx="10248309" cy="400110"/>
          </a:xfrm>
          <a:prstGeom prst="rect">
            <a:avLst/>
          </a:prstGeom>
          <a:solidFill>
            <a:schemeClr val="accent4">
              <a:lumMod val="60000"/>
              <a:lumOff val="40000"/>
            </a:schemeClr>
          </a:solidFill>
        </p:spPr>
        <p:txBody>
          <a:bodyPr wrap="square" rtlCol="0">
            <a:spAutoFit/>
          </a:bodyPr>
          <a:lstStyle/>
          <a:p>
            <a:r>
              <a:rPr lang="en-SG" sz="2000" dirty="0"/>
              <a:t>To Change the Address on the Packing Slip go to </a:t>
            </a:r>
            <a:r>
              <a:rPr lang="en-SG" sz="2000" b="1" dirty="0"/>
              <a:t>Settings</a:t>
            </a:r>
            <a:r>
              <a:rPr lang="en-SG" sz="2000" dirty="0"/>
              <a:t> &gt; </a:t>
            </a:r>
            <a:r>
              <a:rPr lang="en-SG" sz="2000" b="1" dirty="0"/>
              <a:t>Shipping</a:t>
            </a:r>
            <a:r>
              <a:rPr lang="en-SG" sz="2000" dirty="0"/>
              <a:t> &gt; </a:t>
            </a:r>
            <a:r>
              <a:rPr lang="en-SG" sz="2000" b="1" dirty="0"/>
              <a:t>Packing</a:t>
            </a:r>
            <a:r>
              <a:rPr lang="en-SG" sz="2000" dirty="0"/>
              <a:t> List  then click </a:t>
            </a:r>
            <a:r>
              <a:rPr lang="en-SG" sz="2000" b="1" dirty="0"/>
              <a:t>Edit</a:t>
            </a:r>
          </a:p>
        </p:txBody>
      </p:sp>
      <p:sp>
        <p:nvSpPr>
          <p:cNvPr id="3" name="TextBox 2">
            <a:extLst>
              <a:ext uri="{FF2B5EF4-FFF2-40B4-BE49-F238E27FC236}">
                <a16:creationId xmlns:a16="http://schemas.microsoft.com/office/drawing/2014/main" id="{868592BC-4C6A-4A5C-91FA-5ED16EA69697}"/>
              </a:ext>
            </a:extLst>
          </p:cNvPr>
          <p:cNvSpPr txBox="1"/>
          <p:nvPr/>
        </p:nvSpPr>
        <p:spPr>
          <a:xfrm>
            <a:off x="686391" y="2266950"/>
            <a:ext cx="9095784" cy="461665"/>
          </a:xfrm>
          <a:prstGeom prst="rect">
            <a:avLst/>
          </a:prstGeom>
          <a:noFill/>
        </p:spPr>
        <p:txBody>
          <a:bodyPr wrap="square" rtlCol="0">
            <a:spAutoFit/>
          </a:bodyPr>
          <a:lstStyle/>
          <a:p>
            <a:r>
              <a:rPr lang="en-US" sz="2400" dirty="0"/>
              <a:t>1. Find the following Liquid variables that reference your store address:</a:t>
            </a:r>
          </a:p>
        </p:txBody>
      </p:sp>
      <p:pic>
        <p:nvPicPr>
          <p:cNvPr id="8" name="Picture 7">
            <a:extLst>
              <a:ext uri="{FF2B5EF4-FFF2-40B4-BE49-F238E27FC236}">
                <a16:creationId xmlns:a16="http://schemas.microsoft.com/office/drawing/2014/main" id="{510FC651-5A22-4B7D-9CBE-809BABFBB56C}"/>
              </a:ext>
            </a:extLst>
          </p:cNvPr>
          <p:cNvPicPr>
            <a:picLocks noChangeAspect="1"/>
          </p:cNvPicPr>
          <p:nvPr/>
        </p:nvPicPr>
        <p:blipFill rotWithShape="1">
          <a:blip r:embed="rId2"/>
          <a:srcRect l="28167" t="55425" r="18250" b="34223"/>
          <a:stretch/>
        </p:blipFill>
        <p:spPr>
          <a:xfrm>
            <a:off x="686391" y="2833746"/>
            <a:ext cx="9378334" cy="1019175"/>
          </a:xfrm>
          <a:prstGeom prst="rect">
            <a:avLst/>
          </a:prstGeom>
        </p:spPr>
      </p:pic>
      <p:sp>
        <p:nvSpPr>
          <p:cNvPr id="10" name="TextBox 9">
            <a:extLst>
              <a:ext uri="{FF2B5EF4-FFF2-40B4-BE49-F238E27FC236}">
                <a16:creationId xmlns:a16="http://schemas.microsoft.com/office/drawing/2014/main" id="{C45817DF-302D-4CA3-BAD1-0A56F1BE723F}"/>
              </a:ext>
            </a:extLst>
          </p:cNvPr>
          <p:cNvSpPr txBox="1"/>
          <p:nvPr/>
        </p:nvSpPr>
        <p:spPr>
          <a:xfrm>
            <a:off x="686391" y="4247616"/>
            <a:ext cx="9095784" cy="1569660"/>
          </a:xfrm>
          <a:prstGeom prst="rect">
            <a:avLst/>
          </a:prstGeom>
          <a:noFill/>
        </p:spPr>
        <p:txBody>
          <a:bodyPr wrap="square" rtlCol="0">
            <a:spAutoFit/>
          </a:bodyPr>
          <a:lstStyle/>
          <a:p>
            <a:r>
              <a:rPr lang="en-US" sz="2400" dirty="0"/>
              <a:t>2. Highlight this code and delete it.</a:t>
            </a:r>
          </a:p>
          <a:p>
            <a:r>
              <a:rPr lang="en-US" sz="2400" dirty="0"/>
              <a:t>3. Type the address you want </a:t>
            </a:r>
          </a:p>
          <a:p>
            <a:r>
              <a:rPr lang="en-US" sz="2400" dirty="0"/>
              <a:t>4. Click Preview Template to see the changes </a:t>
            </a:r>
          </a:p>
          <a:p>
            <a:r>
              <a:rPr lang="en-US" sz="2400" dirty="0"/>
              <a:t>5. Click Save </a:t>
            </a:r>
          </a:p>
        </p:txBody>
      </p:sp>
    </p:spTree>
    <p:extLst>
      <p:ext uri="{BB962C8B-B14F-4D97-AF65-F5344CB8AC3E}">
        <p14:creationId xmlns:p14="http://schemas.microsoft.com/office/powerpoint/2010/main" val="9838042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dirty="0">
                <a:solidFill>
                  <a:schemeClr val="accent5">
                    <a:lumMod val="75000"/>
                  </a:schemeClr>
                </a:solidFill>
              </a:rPr>
              <a:t>1 – Shipping (Packing Slip Customization)</a:t>
            </a:r>
            <a:endParaRPr lang="en-SG" sz="5400" dirty="0">
              <a:solidFill>
                <a:schemeClr val="accent5">
                  <a:lumMod val="75000"/>
                </a:schemeClr>
              </a:solidFill>
            </a:endParaRPr>
          </a:p>
        </p:txBody>
      </p:sp>
      <p:sp>
        <p:nvSpPr>
          <p:cNvPr id="15" name="TextBox 14">
            <a:extLst>
              <a:ext uri="{FF2B5EF4-FFF2-40B4-BE49-F238E27FC236}">
                <a16:creationId xmlns:a16="http://schemas.microsoft.com/office/drawing/2014/main" id="{ECF62DCB-B1F6-4904-9F45-ED7A22B2F9C3}"/>
              </a:ext>
            </a:extLst>
          </p:cNvPr>
          <p:cNvSpPr txBox="1"/>
          <p:nvPr/>
        </p:nvSpPr>
        <p:spPr>
          <a:xfrm>
            <a:off x="686391" y="1574778"/>
            <a:ext cx="4790483" cy="523220"/>
          </a:xfrm>
          <a:prstGeom prst="rect">
            <a:avLst/>
          </a:prstGeom>
          <a:solidFill>
            <a:schemeClr val="accent4">
              <a:lumMod val="60000"/>
              <a:lumOff val="40000"/>
            </a:schemeClr>
          </a:solidFill>
        </p:spPr>
        <p:txBody>
          <a:bodyPr wrap="square" rtlCol="0">
            <a:spAutoFit/>
          </a:bodyPr>
          <a:lstStyle/>
          <a:p>
            <a:r>
              <a:rPr lang="en-SG" sz="2800" dirty="0"/>
              <a:t>To Edit Logo in the Packing Slip</a:t>
            </a:r>
            <a:endParaRPr lang="en-SG" sz="2800" b="1" dirty="0"/>
          </a:p>
        </p:txBody>
      </p:sp>
      <p:sp>
        <p:nvSpPr>
          <p:cNvPr id="3" name="TextBox 2">
            <a:extLst>
              <a:ext uri="{FF2B5EF4-FFF2-40B4-BE49-F238E27FC236}">
                <a16:creationId xmlns:a16="http://schemas.microsoft.com/office/drawing/2014/main" id="{868592BC-4C6A-4A5C-91FA-5ED16EA69697}"/>
              </a:ext>
            </a:extLst>
          </p:cNvPr>
          <p:cNvSpPr txBox="1"/>
          <p:nvPr/>
        </p:nvSpPr>
        <p:spPr>
          <a:xfrm>
            <a:off x="686391" y="2266950"/>
            <a:ext cx="11057934" cy="4278094"/>
          </a:xfrm>
          <a:prstGeom prst="rect">
            <a:avLst/>
          </a:prstGeom>
          <a:noFill/>
        </p:spPr>
        <p:txBody>
          <a:bodyPr wrap="square" rtlCol="0">
            <a:spAutoFit/>
          </a:bodyPr>
          <a:lstStyle/>
          <a:p>
            <a:r>
              <a:rPr lang="en-US" sz="2400" dirty="0"/>
              <a:t>Before you add your store logo to your packing slips, you need to upload your logo to your Shopify admin. You need the URL that is assigned to your file to use on your packing slips.</a:t>
            </a:r>
          </a:p>
          <a:p>
            <a:endParaRPr lang="en-US" sz="2400" dirty="0"/>
          </a:p>
          <a:p>
            <a:r>
              <a:rPr lang="en-US" sz="2400" dirty="0"/>
              <a:t>Steps:</a:t>
            </a:r>
          </a:p>
          <a:p>
            <a:endParaRPr lang="en-US" sz="2400" dirty="0"/>
          </a:p>
          <a:p>
            <a:pPr marL="457200" indent="-457200">
              <a:buFont typeface="+mj-lt"/>
              <a:buAutoNum type="arabicPeriod"/>
            </a:pPr>
            <a:r>
              <a:rPr lang="en-US" sz="2400" dirty="0"/>
              <a:t>From your Shopify admin, go to </a:t>
            </a:r>
            <a:r>
              <a:rPr lang="en-US" sz="2400" b="1" dirty="0"/>
              <a:t>Settings</a:t>
            </a:r>
            <a:r>
              <a:rPr lang="en-US" sz="2400" dirty="0"/>
              <a:t> &gt; </a:t>
            </a:r>
            <a:r>
              <a:rPr lang="en-US" sz="2400" b="1" dirty="0"/>
              <a:t>Files</a:t>
            </a:r>
            <a:r>
              <a:rPr lang="en-US" sz="2400" dirty="0"/>
              <a:t>.</a:t>
            </a:r>
          </a:p>
          <a:p>
            <a:pPr marL="457200" indent="-457200">
              <a:buFont typeface="+mj-lt"/>
              <a:buAutoNum type="arabicPeriod"/>
            </a:pPr>
            <a:r>
              <a:rPr lang="en-US" sz="2400" dirty="0"/>
              <a:t>Click </a:t>
            </a:r>
            <a:r>
              <a:rPr lang="en-US" sz="2400" b="1" dirty="0"/>
              <a:t>Upload files</a:t>
            </a:r>
            <a:r>
              <a:rPr lang="en-US" sz="2400" dirty="0"/>
              <a:t>.</a:t>
            </a:r>
          </a:p>
          <a:p>
            <a:pPr marL="457200" indent="-457200">
              <a:buFont typeface="+mj-lt"/>
              <a:buAutoNum type="arabicPeriod"/>
            </a:pPr>
            <a:r>
              <a:rPr lang="en-US" sz="2400" dirty="0"/>
              <a:t>Select and upload your store logo from your device.</a:t>
            </a:r>
          </a:p>
          <a:p>
            <a:pPr marL="457200" indent="-457200">
              <a:buFont typeface="+mj-lt"/>
              <a:buAutoNum type="arabicPeriod"/>
            </a:pPr>
            <a:r>
              <a:rPr lang="en-US" sz="2400" dirty="0"/>
              <a:t>Copy the file URL when the upload is complete.</a:t>
            </a:r>
          </a:p>
          <a:p>
            <a:endParaRPr lang="en-US" sz="3200" dirty="0"/>
          </a:p>
        </p:txBody>
      </p:sp>
    </p:spTree>
    <p:extLst>
      <p:ext uri="{BB962C8B-B14F-4D97-AF65-F5344CB8AC3E}">
        <p14:creationId xmlns:p14="http://schemas.microsoft.com/office/powerpoint/2010/main" val="791078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dirty="0">
                <a:solidFill>
                  <a:schemeClr val="accent5">
                    <a:lumMod val="75000"/>
                  </a:schemeClr>
                </a:solidFill>
              </a:rPr>
              <a:t>1 – Shipping (Packing Slip Customization)</a:t>
            </a:r>
            <a:endParaRPr lang="en-SG" sz="5400" dirty="0">
              <a:solidFill>
                <a:schemeClr val="accent5">
                  <a:lumMod val="75000"/>
                </a:schemeClr>
              </a:solidFill>
            </a:endParaRPr>
          </a:p>
        </p:txBody>
      </p:sp>
      <p:sp>
        <p:nvSpPr>
          <p:cNvPr id="15" name="TextBox 14">
            <a:extLst>
              <a:ext uri="{FF2B5EF4-FFF2-40B4-BE49-F238E27FC236}">
                <a16:creationId xmlns:a16="http://schemas.microsoft.com/office/drawing/2014/main" id="{ECF62DCB-B1F6-4904-9F45-ED7A22B2F9C3}"/>
              </a:ext>
            </a:extLst>
          </p:cNvPr>
          <p:cNvSpPr txBox="1"/>
          <p:nvPr/>
        </p:nvSpPr>
        <p:spPr>
          <a:xfrm>
            <a:off x="686391" y="1574778"/>
            <a:ext cx="6495459" cy="523220"/>
          </a:xfrm>
          <a:prstGeom prst="rect">
            <a:avLst/>
          </a:prstGeom>
          <a:solidFill>
            <a:schemeClr val="accent4">
              <a:lumMod val="60000"/>
              <a:lumOff val="40000"/>
            </a:schemeClr>
          </a:solidFill>
        </p:spPr>
        <p:txBody>
          <a:bodyPr wrap="square" rtlCol="0">
            <a:spAutoFit/>
          </a:bodyPr>
          <a:lstStyle/>
          <a:p>
            <a:r>
              <a:rPr lang="en-SG" sz="2800" dirty="0"/>
              <a:t>To Add a Logo and remove the store name</a:t>
            </a:r>
            <a:endParaRPr lang="en-SG" sz="2800" b="1" dirty="0"/>
          </a:p>
        </p:txBody>
      </p:sp>
      <p:sp>
        <p:nvSpPr>
          <p:cNvPr id="3" name="TextBox 2">
            <a:extLst>
              <a:ext uri="{FF2B5EF4-FFF2-40B4-BE49-F238E27FC236}">
                <a16:creationId xmlns:a16="http://schemas.microsoft.com/office/drawing/2014/main" id="{868592BC-4C6A-4A5C-91FA-5ED16EA69697}"/>
              </a:ext>
            </a:extLst>
          </p:cNvPr>
          <p:cNvSpPr txBox="1"/>
          <p:nvPr/>
        </p:nvSpPr>
        <p:spPr>
          <a:xfrm>
            <a:off x="686391" y="2266950"/>
            <a:ext cx="11057934" cy="4401205"/>
          </a:xfrm>
          <a:prstGeom prst="rect">
            <a:avLst/>
          </a:prstGeom>
          <a:noFill/>
        </p:spPr>
        <p:txBody>
          <a:bodyPr wrap="square" rtlCol="0">
            <a:spAutoFit/>
          </a:bodyPr>
          <a:lstStyle/>
          <a:p>
            <a:r>
              <a:rPr lang="en-US" sz="2000" dirty="0"/>
              <a:t>You can remove your store name and replace it with your store logo at the top of your packing slips.</a:t>
            </a:r>
          </a:p>
          <a:p>
            <a:endParaRPr lang="en-US" sz="2000" dirty="0"/>
          </a:p>
          <a:p>
            <a:r>
              <a:rPr lang="en-US" sz="2000" dirty="0"/>
              <a:t>Steps:</a:t>
            </a:r>
          </a:p>
          <a:p>
            <a:endParaRPr lang="en-US" sz="2000" dirty="0"/>
          </a:p>
          <a:p>
            <a:pPr marL="457200" indent="-457200">
              <a:buFont typeface="+mj-lt"/>
              <a:buAutoNum type="arabicPeriod"/>
            </a:pPr>
            <a:r>
              <a:rPr lang="en-US" sz="2000" dirty="0"/>
              <a:t>From your Shopify admin, go to </a:t>
            </a:r>
            <a:r>
              <a:rPr lang="en-US" sz="2000" b="1" dirty="0"/>
              <a:t>Settings</a:t>
            </a:r>
            <a:r>
              <a:rPr lang="en-US" sz="2000" dirty="0"/>
              <a:t> &gt; </a:t>
            </a:r>
            <a:r>
              <a:rPr lang="en-US" sz="2000" b="1" dirty="0"/>
              <a:t>Shipping</a:t>
            </a:r>
            <a:r>
              <a:rPr lang="en-US" sz="2000" dirty="0"/>
              <a:t>.</a:t>
            </a:r>
          </a:p>
          <a:p>
            <a:pPr marL="457200" indent="-457200">
              <a:buFont typeface="+mj-lt"/>
              <a:buAutoNum type="arabicPeriod"/>
            </a:pPr>
            <a:r>
              <a:rPr lang="en-US" sz="2000" dirty="0"/>
              <a:t>In the </a:t>
            </a:r>
            <a:r>
              <a:rPr lang="en-US" sz="2000" b="1" dirty="0"/>
              <a:t>Packing slips</a:t>
            </a:r>
            <a:r>
              <a:rPr lang="en-US" sz="2000" dirty="0"/>
              <a:t> section, click </a:t>
            </a:r>
            <a:r>
              <a:rPr lang="en-US" sz="2000" b="1" dirty="0"/>
              <a:t>Edit</a:t>
            </a:r>
            <a:r>
              <a:rPr lang="en-US" sz="2000" dirty="0"/>
              <a:t>.</a:t>
            </a:r>
          </a:p>
          <a:p>
            <a:pPr marL="457200" indent="-457200">
              <a:buFont typeface="+mj-lt"/>
              <a:buAutoNum type="arabicPeriod"/>
            </a:pPr>
            <a:r>
              <a:rPr lang="en-US" sz="2000" dirty="0"/>
              <a:t>Find the following code that references your store name:</a:t>
            </a:r>
          </a:p>
          <a:p>
            <a:pPr marL="457200" indent="-457200">
              <a:buFont typeface="+mj-lt"/>
              <a:buAutoNum type="arabicPeriod"/>
            </a:pPr>
            <a:endParaRPr lang="en-US" sz="2000" dirty="0"/>
          </a:p>
          <a:p>
            <a:pPr marL="457200" indent="-457200">
              <a:buFont typeface="+mj-lt"/>
              <a:buAutoNum type="arabicPeriod"/>
            </a:pPr>
            <a:endParaRPr lang="en-US" sz="2000" dirty="0"/>
          </a:p>
          <a:p>
            <a:pPr marL="457200" indent="-457200">
              <a:buFont typeface="+mj-lt"/>
              <a:buAutoNum type="arabicPeriod"/>
            </a:pPr>
            <a:endParaRPr lang="en-US" sz="2000" dirty="0"/>
          </a:p>
          <a:p>
            <a:pPr marL="457200" indent="-457200">
              <a:buFont typeface="+mj-lt"/>
              <a:buAutoNum type="arabicPeriod"/>
            </a:pPr>
            <a:endParaRPr lang="en-US" sz="2000" dirty="0"/>
          </a:p>
          <a:p>
            <a:pPr marL="457200" indent="-457200">
              <a:buFont typeface="+mj-lt"/>
              <a:buAutoNum type="arabicPeriod"/>
            </a:pPr>
            <a:r>
              <a:rPr lang="en-US" sz="2000" dirty="0"/>
              <a:t>Highlight the code and delete it </a:t>
            </a:r>
          </a:p>
          <a:p>
            <a:pPr marL="457200" indent="-457200">
              <a:buFont typeface="+mj-lt"/>
              <a:buAutoNum type="arabicPeriod"/>
            </a:pPr>
            <a:r>
              <a:rPr lang="en-US" sz="2000" dirty="0"/>
              <a:t>In the space created, write the following code below but take note to change URL:</a:t>
            </a:r>
          </a:p>
          <a:p>
            <a:r>
              <a:rPr lang="en-US" sz="2000" dirty="0"/>
              <a:t>       &lt;img src = “Paste the URL of the Logo” style=“width: 150px; height:150px;”&gt;</a:t>
            </a:r>
          </a:p>
        </p:txBody>
      </p:sp>
      <p:pic>
        <p:nvPicPr>
          <p:cNvPr id="4" name="Picture 3">
            <a:extLst>
              <a:ext uri="{FF2B5EF4-FFF2-40B4-BE49-F238E27FC236}">
                <a16:creationId xmlns:a16="http://schemas.microsoft.com/office/drawing/2014/main" id="{5CDAA116-9742-40EE-A924-C0CE51561BFF}"/>
              </a:ext>
            </a:extLst>
          </p:cNvPr>
          <p:cNvPicPr>
            <a:picLocks noChangeAspect="1"/>
          </p:cNvPicPr>
          <p:nvPr/>
        </p:nvPicPr>
        <p:blipFill rotWithShape="1">
          <a:blip r:embed="rId2"/>
          <a:srcRect l="29333" t="28148" r="54417" b="57943"/>
          <a:stretch/>
        </p:blipFill>
        <p:spPr>
          <a:xfrm>
            <a:off x="1204595" y="4542065"/>
            <a:ext cx="1981200" cy="953860"/>
          </a:xfrm>
          <a:prstGeom prst="rect">
            <a:avLst/>
          </a:prstGeom>
        </p:spPr>
      </p:pic>
      <p:pic>
        <p:nvPicPr>
          <p:cNvPr id="5" name="Picture 4">
            <a:extLst>
              <a:ext uri="{FF2B5EF4-FFF2-40B4-BE49-F238E27FC236}">
                <a16:creationId xmlns:a16="http://schemas.microsoft.com/office/drawing/2014/main" id="{AE7AF6CF-4A16-4E57-B6B1-F949F8A8E1C6}"/>
              </a:ext>
            </a:extLst>
          </p:cNvPr>
          <p:cNvPicPr>
            <a:picLocks noChangeAspect="1"/>
          </p:cNvPicPr>
          <p:nvPr/>
        </p:nvPicPr>
        <p:blipFill rotWithShape="1">
          <a:blip r:embed="rId3"/>
          <a:srcRect l="24250" t="27852" r="20833" b="33770"/>
          <a:stretch/>
        </p:blipFill>
        <p:spPr>
          <a:xfrm>
            <a:off x="7130525" y="3143250"/>
            <a:ext cx="5061475" cy="2042796"/>
          </a:xfrm>
          <a:prstGeom prst="rect">
            <a:avLst/>
          </a:prstGeom>
        </p:spPr>
      </p:pic>
    </p:spTree>
    <p:extLst>
      <p:ext uri="{BB962C8B-B14F-4D97-AF65-F5344CB8AC3E}">
        <p14:creationId xmlns:p14="http://schemas.microsoft.com/office/powerpoint/2010/main" val="878969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9.3</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9.3</a:t>
            </a:r>
          </a:p>
        </p:txBody>
      </p:sp>
    </p:spTree>
    <p:extLst>
      <p:ext uri="{BB962C8B-B14F-4D97-AF65-F5344CB8AC3E}">
        <p14:creationId xmlns:p14="http://schemas.microsoft.com/office/powerpoint/2010/main" val="3771181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sz="5400" dirty="0">
                <a:solidFill>
                  <a:schemeClr val="accent5">
                    <a:lumMod val="75000"/>
                  </a:schemeClr>
                </a:solidFill>
              </a:rPr>
              <a:t>2</a:t>
            </a:r>
            <a:r>
              <a:rPr lang="en-SG" dirty="0">
                <a:solidFill>
                  <a:schemeClr val="accent5">
                    <a:lumMod val="75000"/>
                  </a:schemeClr>
                </a:solidFill>
              </a:rPr>
              <a:t> – Payment Providers</a:t>
            </a:r>
            <a:endParaRPr lang="en-SG" sz="5400" dirty="0">
              <a:solidFill>
                <a:schemeClr val="accent5">
                  <a:lumMod val="75000"/>
                </a:schemeClr>
              </a:solidFill>
            </a:endParaRPr>
          </a:p>
        </p:txBody>
      </p:sp>
      <p:pic>
        <p:nvPicPr>
          <p:cNvPr id="7" name="Picture 6">
            <a:extLst>
              <a:ext uri="{FF2B5EF4-FFF2-40B4-BE49-F238E27FC236}">
                <a16:creationId xmlns:a16="http://schemas.microsoft.com/office/drawing/2014/main" id="{1E4D5B5A-518E-4619-920A-A587655A2425}"/>
              </a:ext>
            </a:extLst>
          </p:cNvPr>
          <p:cNvPicPr>
            <a:picLocks noChangeAspect="1"/>
          </p:cNvPicPr>
          <p:nvPr/>
        </p:nvPicPr>
        <p:blipFill rotWithShape="1">
          <a:blip r:embed="rId2"/>
          <a:srcRect t="10222" r="13000" b="5037"/>
          <a:stretch/>
        </p:blipFill>
        <p:spPr>
          <a:xfrm>
            <a:off x="1262887" y="1405826"/>
            <a:ext cx="9666226" cy="5296056"/>
          </a:xfrm>
          <a:prstGeom prst="rect">
            <a:avLst/>
          </a:prstGeom>
        </p:spPr>
      </p:pic>
      <p:sp>
        <p:nvSpPr>
          <p:cNvPr id="8" name="Rectangle 7">
            <a:extLst>
              <a:ext uri="{FF2B5EF4-FFF2-40B4-BE49-F238E27FC236}">
                <a16:creationId xmlns:a16="http://schemas.microsoft.com/office/drawing/2014/main" id="{62F8834B-B36B-4833-BA55-BD7B487B5196}"/>
              </a:ext>
            </a:extLst>
          </p:cNvPr>
          <p:cNvSpPr/>
          <p:nvPr/>
        </p:nvSpPr>
        <p:spPr>
          <a:xfrm>
            <a:off x="1262886" y="6238875"/>
            <a:ext cx="1727963" cy="482504"/>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9" name="Straight Arrow Connector 8">
            <a:extLst>
              <a:ext uri="{FF2B5EF4-FFF2-40B4-BE49-F238E27FC236}">
                <a16:creationId xmlns:a16="http://schemas.microsoft.com/office/drawing/2014/main" id="{98B96164-79F8-4419-BAC9-C5D4A2DDB682}"/>
              </a:ext>
            </a:extLst>
          </p:cNvPr>
          <p:cNvCxnSpPr>
            <a:cxnSpLocks/>
          </p:cNvCxnSpPr>
          <p:nvPr/>
        </p:nvCxnSpPr>
        <p:spPr>
          <a:xfrm flipV="1">
            <a:off x="2990849" y="4067174"/>
            <a:ext cx="1474470" cy="2152204"/>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CCFEEF9-93F1-4C7C-A535-D57C91FCD807}"/>
              </a:ext>
            </a:extLst>
          </p:cNvPr>
          <p:cNvSpPr/>
          <p:nvPr/>
        </p:nvSpPr>
        <p:spPr>
          <a:xfrm>
            <a:off x="4465319" y="3428999"/>
            <a:ext cx="1992631" cy="638175"/>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C9A43CDA-E430-40FC-80DF-449F2A1D6E5A}"/>
              </a:ext>
            </a:extLst>
          </p:cNvPr>
          <p:cNvSpPr txBox="1"/>
          <p:nvPr/>
        </p:nvSpPr>
        <p:spPr>
          <a:xfrm>
            <a:off x="6821956" y="3332826"/>
            <a:ext cx="3884144" cy="1200329"/>
          </a:xfrm>
          <a:prstGeom prst="rect">
            <a:avLst/>
          </a:prstGeom>
          <a:solidFill>
            <a:schemeClr val="accent4">
              <a:lumMod val="60000"/>
              <a:lumOff val="40000"/>
            </a:schemeClr>
          </a:solidFill>
        </p:spPr>
        <p:txBody>
          <a:bodyPr wrap="square" rtlCol="0">
            <a:spAutoFit/>
          </a:bodyPr>
          <a:lstStyle/>
          <a:p>
            <a:r>
              <a:rPr lang="en-SG" sz="2400" dirty="0"/>
              <a:t>In this section, you can configure and manage the payment providers</a:t>
            </a:r>
          </a:p>
        </p:txBody>
      </p:sp>
    </p:spTree>
    <p:extLst>
      <p:ext uri="{BB962C8B-B14F-4D97-AF65-F5344CB8AC3E}">
        <p14:creationId xmlns:p14="http://schemas.microsoft.com/office/powerpoint/2010/main" val="19145004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sz="5400" dirty="0">
                <a:solidFill>
                  <a:schemeClr val="accent5">
                    <a:lumMod val="75000"/>
                  </a:schemeClr>
                </a:solidFill>
              </a:rPr>
              <a:t>2</a:t>
            </a:r>
            <a:r>
              <a:rPr lang="en-SG" dirty="0">
                <a:solidFill>
                  <a:schemeClr val="accent5">
                    <a:lumMod val="75000"/>
                  </a:schemeClr>
                </a:solidFill>
              </a:rPr>
              <a:t> – Payment Providers</a:t>
            </a:r>
            <a:endParaRPr lang="en-SG" sz="5400" dirty="0">
              <a:solidFill>
                <a:schemeClr val="accent5">
                  <a:lumMod val="75000"/>
                </a:schemeClr>
              </a:solidFill>
            </a:endParaRPr>
          </a:p>
        </p:txBody>
      </p:sp>
      <p:pic>
        <p:nvPicPr>
          <p:cNvPr id="3" name="Picture 2">
            <a:extLst>
              <a:ext uri="{FF2B5EF4-FFF2-40B4-BE49-F238E27FC236}">
                <a16:creationId xmlns:a16="http://schemas.microsoft.com/office/drawing/2014/main" id="{FF229453-531F-4831-8E22-586D8B80622A}"/>
              </a:ext>
            </a:extLst>
          </p:cNvPr>
          <p:cNvPicPr>
            <a:picLocks noChangeAspect="1"/>
          </p:cNvPicPr>
          <p:nvPr/>
        </p:nvPicPr>
        <p:blipFill rotWithShape="1">
          <a:blip r:embed="rId2"/>
          <a:srcRect l="28500" t="15259" r="16333" b="12889"/>
          <a:stretch/>
        </p:blipFill>
        <p:spPr>
          <a:xfrm>
            <a:off x="898087" y="1538794"/>
            <a:ext cx="6736321" cy="4935220"/>
          </a:xfrm>
          <a:prstGeom prst="rect">
            <a:avLst/>
          </a:prstGeom>
        </p:spPr>
      </p:pic>
      <p:sp>
        <p:nvSpPr>
          <p:cNvPr id="12" name="Rectangle 11">
            <a:extLst>
              <a:ext uri="{FF2B5EF4-FFF2-40B4-BE49-F238E27FC236}">
                <a16:creationId xmlns:a16="http://schemas.microsoft.com/office/drawing/2014/main" id="{62D0CC40-BCF8-4E4E-B34B-D4DC506E9879}"/>
              </a:ext>
            </a:extLst>
          </p:cNvPr>
          <p:cNvSpPr/>
          <p:nvPr/>
        </p:nvSpPr>
        <p:spPr>
          <a:xfrm>
            <a:off x="6753224" y="1676400"/>
            <a:ext cx="971551" cy="400050"/>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3" name="Straight Arrow Connector 12">
            <a:extLst>
              <a:ext uri="{FF2B5EF4-FFF2-40B4-BE49-F238E27FC236}">
                <a16:creationId xmlns:a16="http://schemas.microsoft.com/office/drawing/2014/main" id="{66BE655E-37DF-407C-80B2-36055570AD67}"/>
              </a:ext>
            </a:extLst>
          </p:cNvPr>
          <p:cNvCxnSpPr>
            <a:cxnSpLocks/>
          </p:cNvCxnSpPr>
          <p:nvPr/>
        </p:nvCxnSpPr>
        <p:spPr>
          <a:xfrm>
            <a:off x="7724775" y="1909539"/>
            <a:ext cx="409576" cy="333822"/>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C73C867F-5F99-4417-B39C-E8638C94C8CA}"/>
              </a:ext>
            </a:extLst>
          </p:cNvPr>
          <p:cNvPicPr>
            <a:picLocks noChangeAspect="1"/>
          </p:cNvPicPr>
          <p:nvPr/>
        </p:nvPicPr>
        <p:blipFill rotWithShape="1">
          <a:blip r:embed="rId3"/>
          <a:srcRect l="47733" t="30278" r="15860" b="20695"/>
          <a:stretch/>
        </p:blipFill>
        <p:spPr>
          <a:xfrm>
            <a:off x="7724775" y="2307335"/>
            <a:ext cx="4225288" cy="3398139"/>
          </a:xfrm>
          <a:prstGeom prst="rect">
            <a:avLst/>
          </a:prstGeom>
        </p:spPr>
      </p:pic>
      <p:sp>
        <p:nvSpPr>
          <p:cNvPr id="14" name="TextBox 13">
            <a:extLst>
              <a:ext uri="{FF2B5EF4-FFF2-40B4-BE49-F238E27FC236}">
                <a16:creationId xmlns:a16="http://schemas.microsoft.com/office/drawing/2014/main" id="{1628FA07-0669-4836-B980-8E50F47F09A0}"/>
              </a:ext>
            </a:extLst>
          </p:cNvPr>
          <p:cNvSpPr txBox="1"/>
          <p:nvPr/>
        </p:nvSpPr>
        <p:spPr>
          <a:xfrm>
            <a:off x="2498732" y="4818107"/>
            <a:ext cx="5135676" cy="1938992"/>
          </a:xfrm>
          <a:prstGeom prst="rect">
            <a:avLst/>
          </a:prstGeom>
          <a:solidFill>
            <a:schemeClr val="accent4">
              <a:lumMod val="60000"/>
              <a:lumOff val="40000"/>
            </a:schemeClr>
          </a:solidFill>
        </p:spPr>
        <p:txBody>
          <a:bodyPr wrap="square" rtlCol="0">
            <a:spAutoFit/>
          </a:bodyPr>
          <a:lstStyle/>
          <a:p>
            <a:r>
              <a:rPr lang="en-SG" sz="2400" dirty="0"/>
              <a:t>Available Payment Providers. You can select and deselect each payment provider. You can enable test mode to simulate successful and failed transactions</a:t>
            </a:r>
          </a:p>
        </p:txBody>
      </p:sp>
    </p:spTree>
    <p:extLst>
      <p:ext uri="{BB962C8B-B14F-4D97-AF65-F5344CB8AC3E}">
        <p14:creationId xmlns:p14="http://schemas.microsoft.com/office/powerpoint/2010/main" val="6823934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sz="5400" dirty="0">
                <a:solidFill>
                  <a:schemeClr val="accent5">
                    <a:lumMod val="75000"/>
                  </a:schemeClr>
                </a:solidFill>
              </a:rPr>
              <a:t>2</a:t>
            </a:r>
            <a:r>
              <a:rPr lang="en-SG" dirty="0">
                <a:solidFill>
                  <a:schemeClr val="accent5">
                    <a:lumMod val="75000"/>
                  </a:schemeClr>
                </a:solidFill>
              </a:rPr>
              <a:t> – Payment Providers</a:t>
            </a:r>
            <a:endParaRPr lang="en-SG" sz="5400" dirty="0">
              <a:solidFill>
                <a:schemeClr val="accent5">
                  <a:lumMod val="75000"/>
                </a:schemeClr>
              </a:solidFill>
            </a:endParaRPr>
          </a:p>
        </p:txBody>
      </p:sp>
      <p:pic>
        <p:nvPicPr>
          <p:cNvPr id="4" name="Picture 3">
            <a:extLst>
              <a:ext uri="{FF2B5EF4-FFF2-40B4-BE49-F238E27FC236}">
                <a16:creationId xmlns:a16="http://schemas.microsoft.com/office/drawing/2014/main" id="{A4E4D266-E118-4B5C-927E-CD292E1FDEC6}"/>
              </a:ext>
            </a:extLst>
          </p:cNvPr>
          <p:cNvPicPr>
            <a:picLocks noChangeAspect="1"/>
          </p:cNvPicPr>
          <p:nvPr/>
        </p:nvPicPr>
        <p:blipFill rotWithShape="1">
          <a:blip r:embed="rId2"/>
          <a:srcRect l="24918" t="61972" r="15082" b="19704"/>
          <a:stretch/>
        </p:blipFill>
        <p:spPr>
          <a:xfrm>
            <a:off x="770889" y="1676399"/>
            <a:ext cx="10640061" cy="1827837"/>
          </a:xfrm>
          <a:prstGeom prst="rect">
            <a:avLst/>
          </a:prstGeom>
        </p:spPr>
      </p:pic>
      <p:sp>
        <p:nvSpPr>
          <p:cNvPr id="9" name="TextBox 8">
            <a:extLst>
              <a:ext uri="{FF2B5EF4-FFF2-40B4-BE49-F238E27FC236}">
                <a16:creationId xmlns:a16="http://schemas.microsoft.com/office/drawing/2014/main" id="{AFF7F245-14F5-422A-9DE4-3D594E1C8F93}"/>
              </a:ext>
            </a:extLst>
          </p:cNvPr>
          <p:cNvSpPr txBox="1"/>
          <p:nvPr/>
        </p:nvSpPr>
        <p:spPr>
          <a:xfrm>
            <a:off x="799465" y="3989432"/>
            <a:ext cx="10640060" cy="830997"/>
          </a:xfrm>
          <a:prstGeom prst="rect">
            <a:avLst/>
          </a:prstGeom>
          <a:solidFill>
            <a:schemeClr val="accent4">
              <a:lumMod val="60000"/>
              <a:lumOff val="40000"/>
            </a:schemeClr>
          </a:solidFill>
        </p:spPr>
        <p:txBody>
          <a:bodyPr wrap="square" rtlCol="0">
            <a:spAutoFit/>
          </a:bodyPr>
          <a:lstStyle/>
          <a:p>
            <a:r>
              <a:rPr lang="en-SG" sz="2400" dirty="0"/>
              <a:t>To test your Shopify Payments setup and configuration, you can “Enable Test Mode” to simulate successful and failed transactions.</a:t>
            </a:r>
          </a:p>
        </p:txBody>
      </p:sp>
      <p:sp>
        <p:nvSpPr>
          <p:cNvPr id="6" name="TextBox 5">
            <a:extLst>
              <a:ext uri="{FF2B5EF4-FFF2-40B4-BE49-F238E27FC236}">
                <a16:creationId xmlns:a16="http://schemas.microsoft.com/office/drawing/2014/main" id="{7AD900EB-1CE8-4883-A2C6-BB0CA81F9A06}"/>
              </a:ext>
            </a:extLst>
          </p:cNvPr>
          <p:cNvSpPr txBox="1"/>
          <p:nvPr/>
        </p:nvSpPr>
        <p:spPr>
          <a:xfrm>
            <a:off x="799465" y="5277050"/>
            <a:ext cx="10611485" cy="1661993"/>
          </a:xfrm>
          <a:prstGeom prst="rect">
            <a:avLst/>
          </a:prstGeom>
          <a:noFill/>
        </p:spPr>
        <p:txBody>
          <a:bodyPr wrap="square" rtlCol="0">
            <a:spAutoFit/>
          </a:bodyPr>
          <a:lstStyle/>
          <a:p>
            <a:r>
              <a:rPr lang="en-SG" sz="2800" dirty="0"/>
              <a:t>For more information on enabling test mode watch the video below:</a:t>
            </a:r>
          </a:p>
          <a:p>
            <a:endParaRPr lang="en-SG" sz="2800" dirty="0"/>
          </a:p>
          <a:p>
            <a:r>
              <a:rPr lang="en-SG" sz="2800" dirty="0">
                <a:hlinkClick r:id="rId3"/>
              </a:rPr>
              <a:t>https://youtu.be/yOg0lpBt6d0</a:t>
            </a:r>
            <a:endParaRPr lang="en-SG" sz="2800" dirty="0"/>
          </a:p>
          <a:p>
            <a:endParaRPr lang="en-SG" dirty="0"/>
          </a:p>
        </p:txBody>
      </p:sp>
    </p:spTree>
    <p:extLst>
      <p:ext uri="{BB962C8B-B14F-4D97-AF65-F5344CB8AC3E}">
        <p14:creationId xmlns:p14="http://schemas.microsoft.com/office/powerpoint/2010/main" val="2273886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sz="5400" dirty="0">
                <a:solidFill>
                  <a:schemeClr val="accent5">
                    <a:lumMod val="75000"/>
                  </a:schemeClr>
                </a:solidFill>
              </a:rPr>
              <a:t>2</a:t>
            </a:r>
            <a:r>
              <a:rPr lang="en-SG" dirty="0">
                <a:solidFill>
                  <a:schemeClr val="accent5">
                    <a:lumMod val="75000"/>
                  </a:schemeClr>
                </a:solidFill>
              </a:rPr>
              <a:t> – Payment Providers (Account Payment Setup)</a:t>
            </a:r>
            <a:endParaRPr lang="en-SG" sz="5400" dirty="0">
              <a:solidFill>
                <a:schemeClr val="accent5">
                  <a:lumMod val="75000"/>
                </a:schemeClr>
              </a:solidFill>
            </a:endParaRPr>
          </a:p>
        </p:txBody>
      </p:sp>
      <p:pic>
        <p:nvPicPr>
          <p:cNvPr id="3" name="Picture 2">
            <a:extLst>
              <a:ext uri="{FF2B5EF4-FFF2-40B4-BE49-F238E27FC236}">
                <a16:creationId xmlns:a16="http://schemas.microsoft.com/office/drawing/2014/main" id="{665E877B-601C-4F2E-BA53-173BCE7A3A28}"/>
              </a:ext>
            </a:extLst>
          </p:cNvPr>
          <p:cNvPicPr>
            <a:picLocks noChangeAspect="1"/>
          </p:cNvPicPr>
          <p:nvPr/>
        </p:nvPicPr>
        <p:blipFill rotWithShape="1">
          <a:blip r:embed="rId2"/>
          <a:srcRect l="48667" t="29630" r="15500" b="27259"/>
          <a:stretch/>
        </p:blipFill>
        <p:spPr>
          <a:xfrm>
            <a:off x="808989" y="1508125"/>
            <a:ext cx="6077585" cy="4112970"/>
          </a:xfrm>
          <a:prstGeom prst="rect">
            <a:avLst/>
          </a:prstGeom>
        </p:spPr>
      </p:pic>
      <p:sp>
        <p:nvSpPr>
          <p:cNvPr id="7" name="Rectangle 6">
            <a:extLst>
              <a:ext uri="{FF2B5EF4-FFF2-40B4-BE49-F238E27FC236}">
                <a16:creationId xmlns:a16="http://schemas.microsoft.com/office/drawing/2014/main" id="{53795D6F-98E2-4DFA-940F-FC66F80A87A7}"/>
              </a:ext>
            </a:extLst>
          </p:cNvPr>
          <p:cNvSpPr/>
          <p:nvPr/>
        </p:nvSpPr>
        <p:spPr>
          <a:xfrm>
            <a:off x="4695825" y="4949824"/>
            <a:ext cx="1952625" cy="479425"/>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 name="Straight Arrow Connector 7">
            <a:extLst>
              <a:ext uri="{FF2B5EF4-FFF2-40B4-BE49-F238E27FC236}">
                <a16:creationId xmlns:a16="http://schemas.microsoft.com/office/drawing/2014/main" id="{343FC72F-C41F-4A1F-9051-E442A1607D72}"/>
              </a:ext>
            </a:extLst>
          </p:cNvPr>
          <p:cNvCxnSpPr>
            <a:cxnSpLocks/>
          </p:cNvCxnSpPr>
          <p:nvPr/>
        </p:nvCxnSpPr>
        <p:spPr>
          <a:xfrm flipV="1">
            <a:off x="6257925" y="4467225"/>
            <a:ext cx="828675" cy="48260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41F89B56-5F20-450B-A874-D4E80FF08C50}"/>
              </a:ext>
            </a:extLst>
          </p:cNvPr>
          <p:cNvPicPr>
            <a:picLocks noChangeAspect="1"/>
          </p:cNvPicPr>
          <p:nvPr/>
        </p:nvPicPr>
        <p:blipFill rotWithShape="1">
          <a:blip r:embed="rId3"/>
          <a:srcRect l="38516" t="21991" r="25468" b="19306"/>
          <a:stretch/>
        </p:blipFill>
        <p:spPr>
          <a:xfrm>
            <a:off x="7153275" y="1595194"/>
            <a:ext cx="4391026" cy="4025901"/>
          </a:xfrm>
          <a:prstGeom prst="rect">
            <a:avLst/>
          </a:prstGeom>
        </p:spPr>
      </p:pic>
      <p:sp>
        <p:nvSpPr>
          <p:cNvPr id="12" name="TextBox 11">
            <a:extLst>
              <a:ext uri="{FF2B5EF4-FFF2-40B4-BE49-F238E27FC236}">
                <a16:creationId xmlns:a16="http://schemas.microsoft.com/office/drawing/2014/main" id="{2AD49B6D-347E-422C-926B-A1E6A9B7E63B}"/>
              </a:ext>
            </a:extLst>
          </p:cNvPr>
          <p:cNvSpPr txBox="1"/>
          <p:nvPr/>
        </p:nvSpPr>
        <p:spPr>
          <a:xfrm>
            <a:off x="7153275" y="5778713"/>
            <a:ext cx="4208590" cy="830997"/>
          </a:xfrm>
          <a:prstGeom prst="rect">
            <a:avLst/>
          </a:prstGeom>
          <a:solidFill>
            <a:schemeClr val="accent4">
              <a:lumMod val="60000"/>
              <a:lumOff val="40000"/>
            </a:schemeClr>
          </a:solidFill>
        </p:spPr>
        <p:txBody>
          <a:bodyPr wrap="square" rtlCol="0">
            <a:spAutoFit/>
          </a:bodyPr>
          <a:lstStyle/>
          <a:p>
            <a:r>
              <a:rPr lang="en-SG" sz="2400" dirty="0"/>
              <a:t>Provide the necessary company/business information</a:t>
            </a:r>
          </a:p>
        </p:txBody>
      </p:sp>
    </p:spTree>
    <p:extLst>
      <p:ext uri="{BB962C8B-B14F-4D97-AF65-F5344CB8AC3E}">
        <p14:creationId xmlns:p14="http://schemas.microsoft.com/office/powerpoint/2010/main" val="1617868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81531C-2684-4468-8415-C37CDC41ABEA}"/>
              </a:ext>
            </a:extLst>
          </p:cNvPr>
          <p:cNvPicPr>
            <a:picLocks noChangeAspect="1"/>
          </p:cNvPicPr>
          <p:nvPr/>
        </p:nvPicPr>
        <p:blipFill rotWithShape="1">
          <a:blip r:embed="rId2"/>
          <a:srcRect l="38515" t="26528" r="25781" b="31945"/>
          <a:stretch/>
        </p:blipFill>
        <p:spPr>
          <a:xfrm>
            <a:off x="6982527" y="1862138"/>
            <a:ext cx="4789672" cy="3133724"/>
          </a:xfrm>
          <a:prstGeom prst="rect">
            <a:avLst/>
          </a:prstGeom>
        </p:spPr>
      </p:pic>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sz="5400" dirty="0">
                <a:solidFill>
                  <a:schemeClr val="accent5">
                    <a:lumMod val="75000"/>
                  </a:schemeClr>
                </a:solidFill>
              </a:rPr>
              <a:t>2</a:t>
            </a:r>
            <a:r>
              <a:rPr lang="en-SG" dirty="0">
                <a:solidFill>
                  <a:schemeClr val="accent5">
                    <a:lumMod val="75000"/>
                  </a:schemeClr>
                </a:solidFill>
              </a:rPr>
              <a:t> – Payment Providers (Account Payment Setup)</a:t>
            </a:r>
            <a:endParaRPr lang="en-SG" sz="5400" dirty="0">
              <a:solidFill>
                <a:schemeClr val="accent5">
                  <a:lumMod val="75000"/>
                </a:schemeClr>
              </a:solidFill>
            </a:endParaRPr>
          </a:p>
        </p:txBody>
      </p:sp>
      <p:pic>
        <p:nvPicPr>
          <p:cNvPr id="3" name="Picture 2">
            <a:extLst>
              <a:ext uri="{FF2B5EF4-FFF2-40B4-BE49-F238E27FC236}">
                <a16:creationId xmlns:a16="http://schemas.microsoft.com/office/drawing/2014/main" id="{665E877B-601C-4F2E-BA53-173BCE7A3A28}"/>
              </a:ext>
            </a:extLst>
          </p:cNvPr>
          <p:cNvPicPr>
            <a:picLocks noChangeAspect="1"/>
          </p:cNvPicPr>
          <p:nvPr/>
        </p:nvPicPr>
        <p:blipFill rotWithShape="1">
          <a:blip r:embed="rId3"/>
          <a:srcRect l="48667" t="29630" r="15500" b="27259"/>
          <a:stretch/>
        </p:blipFill>
        <p:spPr>
          <a:xfrm>
            <a:off x="808989" y="1508125"/>
            <a:ext cx="6077585" cy="4112970"/>
          </a:xfrm>
          <a:prstGeom prst="rect">
            <a:avLst/>
          </a:prstGeom>
        </p:spPr>
      </p:pic>
      <p:sp>
        <p:nvSpPr>
          <p:cNvPr id="7" name="Rectangle 6">
            <a:extLst>
              <a:ext uri="{FF2B5EF4-FFF2-40B4-BE49-F238E27FC236}">
                <a16:creationId xmlns:a16="http://schemas.microsoft.com/office/drawing/2014/main" id="{53795D6F-98E2-4DFA-940F-FC66F80A87A7}"/>
              </a:ext>
            </a:extLst>
          </p:cNvPr>
          <p:cNvSpPr/>
          <p:nvPr/>
        </p:nvSpPr>
        <p:spPr>
          <a:xfrm>
            <a:off x="4695825" y="4949824"/>
            <a:ext cx="1952625" cy="479425"/>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 name="Straight Arrow Connector 7">
            <a:extLst>
              <a:ext uri="{FF2B5EF4-FFF2-40B4-BE49-F238E27FC236}">
                <a16:creationId xmlns:a16="http://schemas.microsoft.com/office/drawing/2014/main" id="{343FC72F-C41F-4A1F-9051-E442A1607D72}"/>
              </a:ext>
            </a:extLst>
          </p:cNvPr>
          <p:cNvCxnSpPr>
            <a:cxnSpLocks/>
          </p:cNvCxnSpPr>
          <p:nvPr/>
        </p:nvCxnSpPr>
        <p:spPr>
          <a:xfrm flipV="1">
            <a:off x="6257925" y="4467225"/>
            <a:ext cx="828675" cy="48260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AD49B6D-347E-422C-926B-A1E6A9B7E63B}"/>
              </a:ext>
            </a:extLst>
          </p:cNvPr>
          <p:cNvSpPr txBox="1"/>
          <p:nvPr/>
        </p:nvSpPr>
        <p:spPr>
          <a:xfrm>
            <a:off x="6982527" y="5205596"/>
            <a:ext cx="4208590" cy="1200329"/>
          </a:xfrm>
          <a:prstGeom prst="rect">
            <a:avLst/>
          </a:prstGeom>
          <a:solidFill>
            <a:schemeClr val="accent4">
              <a:lumMod val="60000"/>
              <a:lumOff val="40000"/>
            </a:schemeClr>
          </a:solidFill>
        </p:spPr>
        <p:txBody>
          <a:bodyPr wrap="square" rtlCol="0">
            <a:spAutoFit/>
          </a:bodyPr>
          <a:lstStyle/>
          <a:p>
            <a:r>
              <a:rPr lang="en-SG" sz="2400" dirty="0"/>
              <a:t>Provide the business/company owner or significant shareholders information</a:t>
            </a:r>
          </a:p>
        </p:txBody>
      </p:sp>
    </p:spTree>
    <p:extLst>
      <p:ext uri="{BB962C8B-B14F-4D97-AF65-F5344CB8AC3E}">
        <p14:creationId xmlns:p14="http://schemas.microsoft.com/office/powerpoint/2010/main" val="23421819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sz="5400" dirty="0">
                <a:solidFill>
                  <a:schemeClr val="accent5">
                    <a:lumMod val="75000"/>
                  </a:schemeClr>
                </a:solidFill>
              </a:rPr>
              <a:t>2</a:t>
            </a:r>
            <a:r>
              <a:rPr lang="en-SG" dirty="0">
                <a:solidFill>
                  <a:schemeClr val="accent5">
                    <a:lumMod val="75000"/>
                  </a:schemeClr>
                </a:solidFill>
              </a:rPr>
              <a:t> – Payment Providers (Account Payment Setup)</a:t>
            </a:r>
            <a:endParaRPr lang="en-SG" sz="5400" dirty="0">
              <a:solidFill>
                <a:schemeClr val="accent5">
                  <a:lumMod val="75000"/>
                </a:schemeClr>
              </a:solidFill>
            </a:endParaRPr>
          </a:p>
        </p:txBody>
      </p:sp>
      <p:pic>
        <p:nvPicPr>
          <p:cNvPr id="3" name="Picture 2">
            <a:extLst>
              <a:ext uri="{FF2B5EF4-FFF2-40B4-BE49-F238E27FC236}">
                <a16:creationId xmlns:a16="http://schemas.microsoft.com/office/drawing/2014/main" id="{665E877B-601C-4F2E-BA53-173BCE7A3A28}"/>
              </a:ext>
            </a:extLst>
          </p:cNvPr>
          <p:cNvPicPr>
            <a:picLocks noChangeAspect="1"/>
          </p:cNvPicPr>
          <p:nvPr/>
        </p:nvPicPr>
        <p:blipFill rotWithShape="1">
          <a:blip r:embed="rId2"/>
          <a:srcRect l="48667" t="29630" r="15500" b="27259"/>
          <a:stretch/>
        </p:blipFill>
        <p:spPr>
          <a:xfrm>
            <a:off x="808989" y="1508125"/>
            <a:ext cx="6077585" cy="4112970"/>
          </a:xfrm>
          <a:prstGeom prst="rect">
            <a:avLst/>
          </a:prstGeom>
        </p:spPr>
      </p:pic>
      <p:sp>
        <p:nvSpPr>
          <p:cNvPr id="7" name="Rectangle 6">
            <a:extLst>
              <a:ext uri="{FF2B5EF4-FFF2-40B4-BE49-F238E27FC236}">
                <a16:creationId xmlns:a16="http://schemas.microsoft.com/office/drawing/2014/main" id="{53795D6F-98E2-4DFA-940F-FC66F80A87A7}"/>
              </a:ext>
            </a:extLst>
          </p:cNvPr>
          <p:cNvSpPr/>
          <p:nvPr/>
        </p:nvSpPr>
        <p:spPr>
          <a:xfrm>
            <a:off x="4695825" y="4949824"/>
            <a:ext cx="1952625" cy="479425"/>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 name="Straight Arrow Connector 7">
            <a:extLst>
              <a:ext uri="{FF2B5EF4-FFF2-40B4-BE49-F238E27FC236}">
                <a16:creationId xmlns:a16="http://schemas.microsoft.com/office/drawing/2014/main" id="{343FC72F-C41F-4A1F-9051-E442A1607D72}"/>
              </a:ext>
            </a:extLst>
          </p:cNvPr>
          <p:cNvCxnSpPr>
            <a:cxnSpLocks/>
          </p:cNvCxnSpPr>
          <p:nvPr/>
        </p:nvCxnSpPr>
        <p:spPr>
          <a:xfrm flipV="1">
            <a:off x="6257925" y="4467225"/>
            <a:ext cx="828675" cy="48260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AD49B6D-347E-422C-926B-A1E6A9B7E63B}"/>
              </a:ext>
            </a:extLst>
          </p:cNvPr>
          <p:cNvSpPr txBox="1"/>
          <p:nvPr/>
        </p:nvSpPr>
        <p:spPr>
          <a:xfrm>
            <a:off x="7086600" y="5343712"/>
            <a:ext cx="4208590" cy="1154162"/>
          </a:xfrm>
          <a:prstGeom prst="rect">
            <a:avLst/>
          </a:prstGeom>
          <a:solidFill>
            <a:schemeClr val="accent4">
              <a:lumMod val="60000"/>
              <a:lumOff val="40000"/>
            </a:schemeClr>
          </a:solidFill>
        </p:spPr>
        <p:txBody>
          <a:bodyPr wrap="square" rtlCol="0">
            <a:spAutoFit/>
          </a:bodyPr>
          <a:lstStyle/>
          <a:p>
            <a:r>
              <a:rPr lang="en-SG" sz="2300" dirty="0"/>
              <a:t>The Banking information is very important because the funds will be deposited into this account</a:t>
            </a:r>
          </a:p>
        </p:txBody>
      </p:sp>
      <p:pic>
        <p:nvPicPr>
          <p:cNvPr id="5" name="Picture 4">
            <a:extLst>
              <a:ext uri="{FF2B5EF4-FFF2-40B4-BE49-F238E27FC236}">
                <a16:creationId xmlns:a16="http://schemas.microsoft.com/office/drawing/2014/main" id="{C2DDE9B0-84E6-4B86-9302-91024CEB02EF}"/>
              </a:ext>
            </a:extLst>
          </p:cNvPr>
          <p:cNvPicPr>
            <a:picLocks noChangeAspect="1"/>
          </p:cNvPicPr>
          <p:nvPr/>
        </p:nvPicPr>
        <p:blipFill rotWithShape="1">
          <a:blip r:embed="rId3"/>
          <a:srcRect l="39219" t="16945" r="26262" b="33750"/>
          <a:stretch/>
        </p:blipFill>
        <p:spPr>
          <a:xfrm>
            <a:off x="7086600" y="1560002"/>
            <a:ext cx="4517456" cy="3629534"/>
          </a:xfrm>
          <a:prstGeom prst="rect">
            <a:avLst/>
          </a:prstGeom>
        </p:spPr>
      </p:pic>
    </p:spTree>
    <p:extLst>
      <p:ext uri="{BB962C8B-B14F-4D97-AF65-F5344CB8AC3E}">
        <p14:creationId xmlns:p14="http://schemas.microsoft.com/office/powerpoint/2010/main" val="42346688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sz="5400" dirty="0">
                <a:solidFill>
                  <a:schemeClr val="accent5">
                    <a:lumMod val="75000"/>
                  </a:schemeClr>
                </a:solidFill>
              </a:rPr>
              <a:t>2</a:t>
            </a:r>
            <a:r>
              <a:rPr lang="en-SG" dirty="0">
                <a:solidFill>
                  <a:schemeClr val="accent5">
                    <a:lumMod val="75000"/>
                  </a:schemeClr>
                </a:solidFill>
              </a:rPr>
              <a:t> – Payment Providers (PayPal Complete Setup)</a:t>
            </a:r>
            <a:endParaRPr lang="en-SG" sz="5400" dirty="0">
              <a:solidFill>
                <a:schemeClr val="accent5">
                  <a:lumMod val="75000"/>
                </a:schemeClr>
              </a:solidFill>
            </a:endParaRPr>
          </a:p>
        </p:txBody>
      </p:sp>
      <p:pic>
        <p:nvPicPr>
          <p:cNvPr id="4" name="Picture 3">
            <a:extLst>
              <a:ext uri="{FF2B5EF4-FFF2-40B4-BE49-F238E27FC236}">
                <a16:creationId xmlns:a16="http://schemas.microsoft.com/office/drawing/2014/main" id="{42EFF2B9-FE14-4EF9-94F8-F56973F9A848}"/>
              </a:ext>
            </a:extLst>
          </p:cNvPr>
          <p:cNvPicPr>
            <a:picLocks noChangeAspect="1"/>
          </p:cNvPicPr>
          <p:nvPr/>
        </p:nvPicPr>
        <p:blipFill rotWithShape="1">
          <a:blip r:embed="rId2"/>
          <a:srcRect l="48000" t="27408" r="16833" b="33037"/>
          <a:stretch/>
        </p:blipFill>
        <p:spPr>
          <a:xfrm>
            <a:off x="880109" y="1555750"/>
            <a:ext cx="5399545" cy="3416300"/>
          </a:xfrm>
          <a:prstGeom prst="rect">
            <a:avLst/>
          </a:prstGeom>
        </p:spPr>
      </p:pic>
      <p:sp>
        <p:nvSpPr>
          <p:cNvPr id="9" name="Rectangle 8">
            <a:extLst>
              <a:ext uri="{FF2B5EF4-FFF2-40B4-BE49-F238E27FC236}">
                <a16:creationId xmlns:a16="http://schemas.microsoft.com/office/drawing/2014/main" id="{126EE5CA-1B91-47DE-9546-2DB02845F2A8}"/>
              </a:ext>
            </a:extLst>
          </p:cNvPr>
          <p:cNvSpPr/>
          <p:nvPr/>
        </p:nvSpPr>
        <p:spPr>
          <a:xfrm>
            <a:off x="4438650" y="4359274"/>
            <a:ext cx="1952625" cy="479425"/>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0" name="Straight Arrow Connector 9">
            <a:extLst>
              <a:ext uri="{FF2B5EF4-FFF2-40B4-BE49-F238E27FC236}">
                <a16:creationId xmlns:a16="http://schemas.microsoft.com/office/drawing/2014/main" id="{5FB491F8-60BF-4244-8295-8077674204C3}"/>
              </a:ext>
            </a:extLst>
          </p:cNvPr>
          <p:cNvCxnSpPr>
            <a:cxnSpLocks/>
          </p:cNvCxnSpPr>
          <p:nvPr/>
        </p:nvCxnSpPr>
        <p:spPr>
          <a:xfrm flipV="1">
            <a:off x="6000750" y="3876675"/>
            <a:ext cx="828675" cy="48260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4727F1E2-EC7F-40B5-801B-10987AC89AC3}"/>
              </a:ext>
            </a:extLst>
          </p:cNvPr>
          <p:cNvPicPr>
            <a:picLocks noChangeAspect="1"/>
          </p:cNvPicPr>
          <p:nvPr/>
        </p:nvPicPr>
        <p:blipFill rotWithShape="1">
          <a:blip r:embed="rId3"/>
          <a:srcRect l="33516" t="28750" r="34688" b="10278"/>
          <a:stretch/>
        </p:blipFill>
        <p:spPr>
          <a:xfrm>
            <a:off x="6943725" y="1555750"/>
            <a:ext cx="3876675" cy="4181475"/>
          </a:xfrm>
          <a:prstGeom prst="rect">
            <a:avLst/>
          </a:prstGeom>
        </p:spPr>
      </p:pic>
      <p:sp>
        <p:nvSpPr>
          <p:cNvPr id="13" name="TextBox 12">
            <a:extLst>
              <a:ext uri="{FF2B5EF4-FFF2-40B4-BE49-F238E27FC236}">
                <a16:creationId xmlns:a16="http://schemas.microsoft.com/office/drawing/2014/main" id="{3B943B85-FCE3-4A69-BA10-7D8B9B363BA1}"/>
              </a:ext>
            </a:extLst>
          </p:cNvPr>
          <p:cNvSpPr txBox="1"/>
          <p:nvPr/>
        </p:nvSpPr>
        <p:spPr>
          <a:xfrm>
            <a:off x="1371600" y="5302250"/>
            <a:ext cx="5514975" cy="800219"/>
          </a:xfrm>
          <a:prstGeom prst="rect">
            <a:avLst/>
          </a:prstGeom>
          <a:solidFill>
            <a:schemeClr val="accent4">
              <a:lumMod val="60000"/>
              <a:lumOff val="40000"/>
            </a:schemeClr>
          </a:solidFill>
        </p:spPr>
        <p:txBody>
          <a:bodyPr wrap="square" rtlCol="0">
            <a:spAutoFit/>
          </a:bodyPr>
          <a:lstStyle/>
          <a:p>
            <a:r>
              <a:rPr lang="en-SG" sz="2300" dirty="0"/>
              <a:t>Redirected to PayPal portal to set-up a business account.</a:t>
            </a:r>
          </a:p>
        </p:txBody>
      </p:sp>
    </p:spTree>
    <p:extLst>
      <p:ext uri="{BB962C8B-B14F-4D97-AF65-F5344CB8AC3E}">
        <p14:creationId xmlns:p14="http://schemas.microsoft.com/office/powerpoint/2010/main" val="16534474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sz="5400" dirty="0">
                <a:solidFill>
                  <a:schemeClr val="accent5">
                    <a:lumMod val="75000"/>
                  </a:schemeClr>
                </a:solidFill>
              </a:rPr>
              <a:t>2</a:t>
            </a:r>
            <a:r>
              <a:rPr lang="en-SG" dirty="0">
                <a:solidFill>
                  <a:schemeClr val="accent5">
                    <a:lumMod val="75000"/>
                  </a:schemeClr>
                </a:solidFill>
              </a:rPr>
              <a:t> – Payment Providers (PayPal Complete Setup)</a:t>
            </a:r>
            <a:endParaRPr lang="en-SG" sz="5400" dirty="0">
              <a:solidFill>
                <a:schemeClr val="accent5">
                  <a:lumMod val="75000"/>
                </a:schemeClr>
              </a:solidFill>
            </a:endParaRPr>
          </a:p>
        </p:txBody>
      </p:sp>
      <p:pic>
        <p:nvPicPr>
          <p:cNvPr id="3" name="Picture 2">
            <a:extLst>
              <a:ext uri="{FF2B5EF4-FFF2-40B4-BE49-F238E27FC236}">
                <a16:creationId xmlns:a16="http://schemas.microsoft.com/office/drawing/2014/main" id="{D42BDA0E-E3B0-403F-AB45-F3EEEFDC8694}"/>
              </a:ext>
            </a:extLst>
          </p:cNvPr>
          <p:cNvPicPr>
            <a:picLocks noChangeAspect="1"/>
          </p:cNvPicPr>
          <p:nvPr/>
        </p:nvPicPr>
        <p:blipFill rotWithShape="1">
          <a:blip r:embed="rId2"/>
          <a:srcRect l="33968" t="16666" r="35876" b="5833"/>
          <a:stretch/>
        </p:blipFill>
        <p:spPr>
          <a:xfrm>
            <a:off x="666750" y="1301145"/>
            <a:ext cx="3676650" cy="5314950"/>
          </a:xfrm>
          <a:prstGeom prst="rect">
            <a:avLst/>
          </a:prstGeom>
        </p:spPr>
      </p:pic>
      <p:pic>
        <p:nvPicPr>
          <p:cNvPr id="5" name="Picture 4">
            <a:extLst>
              <a:ext uri="{FF2B5EF4-FFF2-40B4-BE49-F238E27FC236}">
                <a16:creationId xmlns:a16="http://schemas.microsoft.com/office/drawing/2014/main" id="{13CA77A6-DE81-4AE2-81C7-F2D3E3B04ACD}"/>
              </a:ext>
            </a:extLst>
          </p:cNvPr>
          <p:cNvPicPr>
            <a:picLocks noChangeAspect="1"/>
          </p:cNvPicPr>
          <p:nvPr/>
        </p:nvPicPr>
        <p:blipFill rotWithShape="1">
          <a:blip r:embed="rId3"/>
          <a:srcRect l="33917" t="17629" r="36083" b="8000"/>
          <a:stretch/>
        </p:blipFill>
        <p:spPr>
          <a:xfrm>
            <a:off x="4427092" y="1405826"/>
            <a:ext cx="3852366" cy="5371911"/>
          </a:xfrm>
          <a:prstGeom prst="rect">
            <a:avLst/>
          </a:prstGeom>
        </p:spPr>
      </p:pic>
      <p:pic>
        <p:nvPicPr>
          <p:cNvPr id="7" name="Picture 6">
            <a:extLst>
              <a:ext uri="{FF2B5EF4-FFF2-40B4-BE49-F238E27FC236}">
                <a16:creationId xmlns:a16="http://schemas.microsoft.com/office/drawing/2014/main" id="{1D136113-7B87-4A8C-9EF8-3863BBC73978}"/>
              </a:ext>
            </a:extLst>
          </p:cNvPr>
          <p:cNvPicPr>
            <a:picLocks noChangeAspect="1"/>
          </p:cNvPicPr>
          <p:nvPr/>
        </p:nvPicPr>
        <p:blipFill rotWithShape="1">
          <a:blip r:embed="rId4"/>
          <a:srcRect l="34583" t="9778" r="35000" b="20499"/>
          <a:stretch/>
        </p:blipFill>
        <p:spPr>
          <a:xfrm>
            <a:off x="8363150" y="1834481"/>
            <a:ext cx="3708400" cy="4781614"/>
          </a:xfrm>
          <a:prstGeom prst="rect">
            <a:avLst/>
          </a:prstGeom>
        </p:spPr>
      </p:pic>
    </p:spTree>
    <p:extLst>
      <p:ext uri="{BB962C8B-B14F-4D97-AF65-F5344CB8AC3E}">
        <p14:creationId xmlns:p14="http://schemas.microsoft.com/office/powerpoint/2010/main" val="35742122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sz="5300" dirty="0">
                <a:solidFill>
                  <a:schemeClr val="accent5">
                    <a:lumMod val="75000"/>
                  </a:schemeClr>
                </a:solidFill>
              </a:rPr>
              <a:t>2</a:t>
            </a:r>
            <a:r>
              <a:rPr lang="en-SG" sz="4000" dirty="0">
                <a:solidFill>
                  <a:schemeClr val="accent5">
                    <a:lumMod val="75000"/>
                  </a:schemeClr>
                </a:solidFill>
              </a:rPr>
              <a:t> – Payment Providers (Alternative Payment Methods)</a:t>
            </a:r>
            <a:endParaRPr lang="en-SG" sz="5400" dirty="0">
              <a:solidFill>
                <a:schemeClr val="accent5">
                  <a:lumMod val="75000"/>
                </a:schemeClr>
              </a:solidFill>
            </a:endParaRPr>
          </a:p>
        </p:txBody>
      </p:sp>
      <p:pic>
        <p:nvPicPr>
          <p:cNvPr id="4" name="Picture 3">
            <a:extLst>
              <a:ext uri="{FF2B5EF4-FFF2-40B4-BE49-F238E27FC236}">
                <a16:creationId xmlns:a16="http://schemas.microsoft.com/office/drawing/2014/main" id="{B04337AB-53E5-48D5-BB76-EA7962EA86E1}"/>
              </a:ext>
            </a:extLst>
          </p:cNvPr>
          <p:cNvPicPr>
            <a:picLocks noChangeAspect="1"/>
          </p:cNvPicPr>
          <p:nvPr/>
        </p:nvPicPr>
        <p:blipFill rotWithShape="1">
          <a:blip r:embed="rId2"/>
          <a:srcRect l="29453" t="22917" r="16328" b="14028"/>
          <a:stretch/>
        </p:blipFill>
        <p:spPr>
          <a:xfrm>
            <a:off x="1095374" y="1685924"/>
            <a:ext cx="7294682" cy="4772026"/>
          </a:xfrm>
          <a:prstGeom prst="rect">
            <a:avLst/>
          </a:prstGeom>
        </p:spPr>
      </p:pic>
      <p:sp>
        <p:nvSpPr>
          <p:cNvPr id="8" name="TextBox 7">
            <a:extLst>
              <a:ext uri="{FF2B5EF4-FFF2-40B4-BE49-F238E27FC236}">
                <a16:creationId xmlns:a16="http://schemas.microsoft.com/office/drawing/2014/main" id="{8359DBC2-BF2E-45C8-B672-9F3DF4A27D66}"/>
              </a:ext>
            </a:extLst>
          </p:cNvPr>
          <p:cNvSpPr txBox="1"/>
          <p:nvPr/>
        </p:nvSpPr>
        <p:spPr>
          <a:xfrm>
            <a:off x="7581900" y="2917775"/>
            <a:ext cx="4208590" cy="1154162"/>
          </a:xfrm>
          <a:prstGeom prst="rect">
            <a:avLst/>
          </a:prstGeom>
          <a:solidFill>
            <a:schemeClr val="accent4">
              <a:lumMod val="60000"/>
              <a:lumOff val="40000"/>
            </a:schemeClr>
          </a:solidFill>
        </p:spPr>
        <p:txBody>
          <a:bodyPr wrap="square" rtlCol="0">
            <a:spAutoFit/>
          </a:bodyPr>
          <a:lstStyle/>
          <a:p>
            <a:r>
              <a:rPr lang="en-SG" sz="2300" dirty="0"/>
              <a:t>Alternative Payment methods in Shopify Payment which you can choose from.</a:t>
            </a:r>
          </a:p>
        </p:txBody>
      </p:sp>
    </p:spTree>
    <p:extLst>
      <p:ext uri="{BB962C8B-B14F-4D97-AF65-F5344CB8AC3E}">
        <p14:creationId xmlns:p14="http://schemas.microsoft.com/office/powerpoint/2010/main" val="21171956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sz="5300" dirty="0">
                <a:solidFill>
                  <a:schemeClr val="accent5">
                    <a:lumMod val="75000"/>
                  </a:schemeClr>
                </a:solidFill>
              </a:rPr>
              <a:t>2</a:t>
            </a:r>
            <a:r>
              <a:rPr lang="en-SG" sz="4000" dirty="0">
                <a:solidFill>
                  <a:schemeClr val="accent5">
                    <a:lumMod val="75000"/>
                  </a:schemeClr>
                </a:solidFill>
              </a:rPr>
              <a:t> – Payment Providers (Manual Payment Methods)</a:t>
            </a:r>
            <a:endParaRPr lang="en-SG" sz="5400" dirty="0">
              <a:solidFill>
                <a:schemeClr val="accent5">
                  <a:lumMod val="75000"/>
                </a:schemeClr>
              </a:solidFill>
            </a:endParaRPr>
          </a:p>
        </p:txBody>
      </p:sp>
      <p:sp>
        <p:nvSpPr>
          <p:cNvPr id="8" name="TextBox 7">
            <a:extLst>
              <a:ext uri="{FF2B5EF4-FFF2-40B4-BE49-F238E27FC236}">
                <a16:creationId xmlns:a16="http://schemas.microsoft.com/office/drawing/2014/main" id="{8359DBC2-BF2E-45C8-B672-9F3DF4A27D66}"/>
              </a:ext>
            </a:extLst>
          </p:cNvPr>
          <p:cNvSpPr txBox="1"/>
          <p:nvPr/>
        </p:nvSpPr>
        <p:spPr>
          <a:xfrm>
            <a:off x="7667625" y="3755975"/>
            <a:ext cx="4208590" cy="1154162"/>
          </a:xfrm>
          <a:prstGeom prst="rect">
            <a:avLst/>
          </a:prstGeom>
          <a:solidFill>
            <a:schemeClr val="accent4">
              <a:lumMod val="60000"/>
              <a:lumOff val="40000"/>
            </a:schemeClr>
          </a:solidFill>
        </p:spPr>
        <p:txBody>
          <a:bodyPr wrap="square" rtlCol="0">
            <a:spAutoFit/>
          </a:bodyPr>
          <a:lstStyle/>
          <a:p>
            <a:r>
              <a:rPr lang="en-SG" sz="2300" dirty="0"/>
              <a:t>In this section, you configure a manual payment method for the customers. </a:t>
            </a:r>
          </a:p>
        </p:txBody>
      </p:sp>
      <p:pic>
        <p:nvPicPr>
          <p:cNvPr id="3" name="Picture 2">
            <a:extLst>
              <a:ext uri="{FF2B5EF4-FFF2-40B4-BE49-F238E27FC236}">
                <a16:creationId xmlns:a16="http://schemas.microsoft.com/office/drawing/2014/main" id="{904903F3-1ABE-42BB-B8AE-20E64BAACC98}"/>
              </a:ext>
            </a:extLst>
          </p:cNvPr>
          <p:cNvPicPr>
            <a:picLocks noChangeAspect="1"/>
          </p:cNvPicPr>
          <p:nvPr/>
        </p:nvPicPr>
        <p:blipFill rotWithShape="1">
          <a:blip r:embed="rId2"/>
          <a:srcRect l="47083" t="26222" r="16667" b="36889"/>
          <a:stretch/>
        </p:blipFill>
        <p:spPr>
          <a:xfrm>
            <a:off x="583058" y="1793349"/>
            <a:ext cx="6674329" cy="3820478"/>
          </a:xfrm>
          <a:prstGeom prst="rect">
            <a:avLst/>
          </a:prstGeom>
        </p:spPr>
      </p:pic>
      <p:sp>
        <p:nvSpPr>
          <p:cNvPr id="6" name="Rectangle 5">
            <a:extLst>
              <a:ext uri="{FF2B5EF4-FFF2-40B4-BE49-F238E27FC236}">
                <a16:creationId xmlns:a16="http://schemas.microsoft.com/office/drawing/2014/main" id="{80ABB3ED-C50F-49DE-9DB0-04CD2873FE94}"/>
              </a:ext>
            </a:extLst>
          </p:cNvPr>
          <p:cNvSpPr/>
          <p:nvPr/>
        </p:nvSpPr>
        <p:spPr>
          <a:xfrm>
            <a:off x="4505324" y="3552825"/>
            <a:ext cx="2828925" cy="2061001"/>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467521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sz="5300" dirty="0">
                <a:solidFill>
                  <a:schemeClr val="accent5">
                    <a:lumMod val="75000"/>
                  </a:schemeClr>
                </a:solidFill>
              </a:rPr>
              <a:t>2</a:t>
            </a:r>
            <a:r>
              <a:rPr lang="en-SG" sz="4000" dirty="0">
                <a:solidFill>
                  <a:schemeClr val="accent5">
                    <a:lumMod val="75000"/>
                  </a:schemeClr>
                </a:solidFill>
              </a:rPr>
              <a:t> – Payment Providers (Payment Capture)</a:t>
            </a:r>
            <a:endParaRPr lang="en-SG" sz="5400" dirty="0">
              <a:solidFill>
                <a:schemeClr val="accent5">
                  <a:lumMod val="75000"/>
                </a:schemeClr>
              </a:solidFill>
            </a:endParaRPr>
          </a:p>
        </p:txBody>
      </p:sp>
      <p:sp>
        <p:nvSpPr>
          <p:cNvPr id="8" name="TextBox 7">
            <a:extLst>
              <a:ext uri="{FF2B5EF4-FFF2-40B4-BE49-F238E27FC236}">
                <a16:creationId xmlns:a16="http://schemas.microsoft.com/office/drawing/2014/main" id="{8359DBC2-BF2E-45C8-B672-9F3DF4A27D66}"/>
              </a:ext>
            </a:extLst>
          </p:cNvPr>
          <p:cNvSpPr txBox="1"/>
          <p:nvPr/>
        </p:nvSpPr>
        <p:spPr>
          <a:xfrm>
            <a:off x="1238980" y="4545362"/>
            <a:ext cx="9714040" cy="1154162"/>
          </a:xfrm>
          <a:prstGeom prst="rect">
            <a:avLst/>
          </a:prstGeom>
          <a:solidFill>
            <a:schemeClr val="accent4">
              <a:lumMod val="60000"/>
              <a:lumOff val="40000"/>
            </a:schemeClr>
          </a:solidFill>
        </p:spPr>
        <p:txBody>
          <a:bodyPr wrap="square" rtlCol="0">
            <a:spAutoFit/>
          </a:bodyPr>
          <a:lstStyle/>
          <a:p>
            <a:r>
              <a:rPr lang="en-SG" sz="2300" dirty="0"/>
              <a:t>Most of Shopify site charge credit cards and/or other payment methods automatically the moment the customer’s payment method is authorized. But you opt to do it manually but it will be tedious on the company’s side. </a:t>
            </a:r>
          </a:p>
        </p:txBody>
      </p:sp>
      <p:pic>
        <p:nvPicPr>
          <p:cNvPr id="4" name="Picture 3">
            <a:extLst>
              <a:ext uri="{FF2B5EF4-FFF2-40B4-BE49-F238E27FC236}">
                <a16:creationId xmlns:a16="http://schemas.microsoft.com/office/drawing/2014/main" id="{74181218-DE50-447F-8786-1243B1256837}"/>
              </a:ext>
            </a:extLst>
          </p:cNvPr>
          <p:cNvPicPr>
            <a:picLocks noChangeAspect="1"/>
          </p:cNvPicPr>
          <p:nvPr/>
        </p:nvPicPr>
        <p:blipFill rotWithShape="1">
          <a:blip r:embed="rId2"/>
          <a:srcRect l="28594" t="48056" r="15469" b="31528"/>
          <a:stretch/>
        </p:blipFill>
        <p:spPr>
          <a:xfrm>
            <a:off x="723900" y="1779238"/>
            <a:ext cx="11153775" cy="2289951"/>
          </a:xfrm>
          <a:prstGeom prst="rect">
            <a:avLst/>
          </a:prstGeom>
        </p:spPr>
      </p:pic>
    </p:spTree>
    <p:extLst>
      <p:ext uri="{BB962C8B-B14F-4D97-AF65-F5344CB8AC3E}">
        <p14:creationId xmlns:p14="http://schemas.microsoft.com/office/powerpoint/2010/main" val="15305744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9.4</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9.4</a:t>
            </a:r>
          </a:p>
        </p:txBody>
      </p:sp>
    </p:spTree>
    <p:extLst>
      <p:ext uri="{BB962C8B-B14F-4D97-AF65-F5344CB8AC3E}">
        <p14:creationId xmlns:p14="http://schemas.microsoft.com/office/powerpoint/2010/main" val="30610462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sz="5300" dirty="0">
                <a:solidFill>
                  <a:schemeClr val="accent5">
                    <a:lumMod val="75000"/>
                  </a:schemeClr>
                </a:solidFill>
              </a:rPr>
              <a:t>3</a:t>
            </a:r>
            <a:r>
              <a:rPr lang="en-SG" sz="4000" dirty="0">
                <a:solidFill>
                  <a:schemeClr val="accent5">
                    <a:lumMod val="75000"/>
                  </a:schemeClr>
                </a:solidFill>
              </a:rPr>
              <a:t> – Checkout </a:t>
            </a:r>
            <a:endParaRPr lang="en-SG" sz="5400" dirty="0">
              <a:solidFill>
                <a:schemeClr val="accent5">
                  <a:lumMod val="75000"/>
                </a:schemeClr>
              </a:solidFill>
            </a:endParaRPr>
          </a:p>
        </p:txBody>
      </p:sp>
      <p:pic>
        <p:nvPicPr>
          <p:cNvPr id="5" name="Picture 4">
            <a:extLst>
              <a:ext uri="{FF2B5EF4-FFF2-40B4-BE49-F238E27FC236}">
                <a16:creationId xmlns:a16="http://schemas.microsoft.com/office/drawing/2014/main" id="{387EADFA-ADD8-4552-8AE6-0B00A59ED7CA}"/>
              </a:ext>
            </a:extLst>
          </p:cNvPr>
          <p:cNvPicPr>
            <a:picLocks noChangeAspect="1"/>
          </p:cNvPicPr>
          <p:nvPr/>
        </p:nvPicPr>
        <p:blipFill rotWithShape="1">
          <a:blip r:embed="rId2"/>
          <a:srcRect t="10222" r="13000" b="5037"/>
          <a:stretch/>
        </p:blipFill>
        <p:spPr>
          <a:xfrm>
            <a:off x="1262887" y="1405826"/>
            <a:ext cx="9666226" cy="5296056"/>
          </a:xfrm>
          <a:prstGeom prst="rect">
            <a:avLst/>
          </a:prstGeom>
        </p:spPr>
      </p:pic>
      <p:sp>
        <p:nvSpPr>
          <p:cNvPr id="6" name="Rectangle 5">
            <a:extLst>
              <a:ext uri="{FF2B5EF4-FFF2-40B4-BE49-F238E27FC236}">
                <a16:creationId xmlns:a16="http://schemas.microsoft.com/office/drawing/2014/main" id="{7F1AE5B8-7EAB-45AF-A268-B9E27D108EC5}"/>
              </a:ext>
            </a:extLst>
          </p:cNvPr>
          <p:cNvSpPr/>
          <p:nvPr/>
        </p:nvSpPr>
        <p:spPr>
          <a:xfrm>
            <a:off x="1262886" y="6238875"/>
            <a:ext cx="1727963" cy="482504"/>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7" name="Straight Arrow Connector 6">
            <a:extLst>
              <a:ext uri="{FF2B5EF4-FFF2-40B4-BE49-F238E27FC236}">
                <a16:creationId xmlns:a16="http://schemas.microsoft.com/office/drawing/2014/main" id="{F73E4D1D-0696-45F8-AD22-CE4741992C80}"/>
              </a:ext>
            </a:extLst>
          </p:cNvPr>
          <p:cNvCxnSpPr>
            <a:cxnSpLocks/>
          </p:cNvCxnSpPr>
          <p:nvPr/>
        </p:nvCxnSpPr>
        <p:spPr>
          <a:xfrm flipV="1">
            <a:off x="2990849" y="4366764"/>
            <a:ext cx="1474470" cy="1852614"/>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054A6FF3-410E-4FD9-B5FF-E7FDD46A06A8}"/>
              </a:ext>
            </a:extLst>
          </p:cNvPr>
          <p:cNvSpPr/>
          <p:nvPr/>
        </p:nvSpPr>
        <p:spPr>
          <a:xfrm>
            <a:off x="4465319" y="4047677"/>
            <a:ext cx="1992631" cy="638175"/>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TextBox 9">
            <a:extLst>
              <a:ext uri="{FF2B5EF4-FFF2-40B4-BE49-F238E27FC236}">
                <a16:creationId xmlns:a16="http://schemas.microsoft.com/office/drawing/2014/main" id="{2C8BAF1F-D383-4147-BDEA-139CCBD3CBD5}"/>
              </a:ext>
            </a:extLst>
          </p:cNvPr>
          <p:cNvSpPr txBox="1"/>
          <p:nvPr/>
        </p:nvSpPr>
        <p:spPr>
          <a:xfrm>
            <a:off x="6621931" y="2951826"/>
            <a:ext cx="3884144" cy="3046988"/>
          </a:xfrm>
          <a:prstGeom prst="rect">
            <a:avLst/>
          </a:prstGeom>
          <a:solidFill>
            <a:schemeClr val="accent4">
              <a:lumMod val="60000"/>
              <a:lumOff val="40000"/>
            </a:schemeClr>
          </a:solidFill>
        </p:spPr>
        <p:txBody>
          <a:bodyPr wrap="square" rtlCol="0">
            <a:spAutoFit/>
          </a:bodyPr>
          <a:lstStyle/>
          <a:p>
            <a:r>
              <a:rPr lang="en-SG" sz="2400" dirty="0"/>
              <a:t>In this section, you can configure and manage checkout settings like customer accounts, Customer contact, form options and order processing, email marketing and Checkout language</a:t>
            </a:r>
          </a:p>
        </p:txBody>
      </p:sp>
    </p:spTree>
    <p:extLst>
      <p:ext uri="{BB962C8B-B14F-4D97-AF65-F5344CB8AC3E}">
        <p14:creationId xmlns:p14="http://schemas.microsoft.com/office/powerpoint/2010/main" val="4517416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sz="5300" dirty="0">
                <a:solidFill>
                  <a:schemeClr val="accent5">
                    <a:lumMod val="75000"/>
                  </a:schemeClr>
                </a:solidFill>
              </a:rPr>
              <a:t>3</a:t>
            </a:r>
            <a:r>
              <a:rPr lang="en-SG" sz="4000" dirty="0">
                <a:solidFill>
                  <a:schemeClr val="accent5">
                    <a:lumMod val="75000"/>
                  </a:schemeClr>
                </a:solidFill>
              </a:rPr>
              <a:t> – Checkout </a:t>
            </a:r>
            <a:endParaRPr lang="en-SG" sz="5400" dirty="0">
              <a:solidFill>
                <a:schemeClr val="accent5">
                  <a:lumMod val="75000"/>
                </a:schemeClr>
              </a:solidFill>
            </a:endParaRPr>
          </a:p>
        </p:txBody>
      </p:sp>
      <p:pic>
        <p:nvPicPr>
          <p:cNvPr id="5" name="Picture 4">
            <a:extLst>
              <a:ext uri="{FF2B5EF4-FFF2-40B4-BE49-F238E27FC236}">
                <a16:creationId xmlns:a16="http://schemas.microsoft.com/office/drawing/2014/main" id="{387EADFA-ADD8-4552-8AE6-0B00A59ED7CA}"/>
              </a:ext>
            </a:extLst>
          </p:cNvPr>
          <p:cNvPicPr>
            <a:picLocks noChangeAspect="1"/>
          </p:cNvPicPr>
          <p:nvPr/>
        </p:nvPicPr>
        <p:blipFill rotWithShape="1">
          <a:blip r:embed="rId2"/>
          <a:srcRect t="10222" r="13000" b="5037"/>
          <a:stretch/>
        </p:blipFill>
        <p:spPr>
          <a:xfrm>
            <a:off x="1262887" y="1405826"/>
            <a:ext cx="9666226" cy="5296056"/>
          </a:xfrm>
          <a:prstGeom prst="rect">
            <a:avLst/>
          </a:prstGeom>
        </p:spPr>
      </p:pic>
      <p:sp>
        <p:nvSpPr>
          <p:cNvPr id="6" name="Rectangle 5">
            <a:extLst>
              <a:ext uri="{FF2B5EF4-FFF2-40B4-BE49-F238E27FC236}">
                <a16:creationId xmlns:a16="http://schemas.microsoft.com/office/drawing/2014/main" id="{7F1AE5B8-7EAB-45AF-A268-B9E27D108EC5}"/>
              </a:ext>
            </a:extLst>
          </p:cNvPr>
          <p:cNvSpPr/>
          <p:nvPr/>
        </p:nvSpPr>
        <p:spPr>
          <a:xfrm>
            <a:off x="1262886" y="6238875"/>
            <a:ext cx="1727963" cy="482504"/>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7" name="Straight Arrow Connector 6">
            <a:extLst>
              <a:ext uri="{FF2B5EF4-FFF2-40B4-BE49-F238E27FC236}">
                <a16:creationId xmlns:a16="http://schemas.microsoft.com/office/drawing/2014/main" id="{F73E4D1D-0696-45F8-AD22-CE4741992C80}"/>
              </a:ext>
            </a:extLst>
          </p:cNvPr>
          <p:cNvCxnSpPr>
            <a:cxnSpLocks/>
          </p:cNvCxnSpPr>
          <p:nvPr/>
        </p:nvCxnSpPr>
        <p:spPr>
          <a:xfrm flipV="1">
            <a:off x="2990849" y="4366764"/>
            <a:ext cx="1474470" cy="1852614"/>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054A6FF3-410E-4FD9-B5FF-E7FDD46A06A8}"/>
              </a:ext>
            </a:extLst>
          </p:cNvPr>
          <p:cNvSpPr/>
          <p:nvPr/>
        </p:nvSpPr>
        <p:spPr>
          <a:xfrm>
            <a:off x="4465319" y="4047677"/>
            <a:ext cx="1992631" cy="638175"/>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TextBox 9">
            <a:extLst>
              <a:ext uri="{FF2B5EF4-FFF2-40B4-BE49-F238E27FC236}">
                <a16:creationId xmlns:a16="http://schemas.microsoft.com/office/drawing/2014/main" id="{2C8BAF1F-D383-4147-BDEA-139CCBD3CBD5}"/>
              </a:ext>
            </a:extLst>
          </p:cNvPr>
          <p:cNvSpPr txBox="1"/>
          <p:nvPr/>
        </p:nvSpPr>
        <p:spPr>
          <a:xfrm>
            <a:off x="6622335" y="3257941"/>
            <a:ext cx="4853897" cy="1938992"/>
          </a:xfrm>
          <a:prstGeom prst="rect">
            <a:avLst/>
          </a:prstGeom>
          <a:solidFill>
            <a:schemeClr val="accent4">
              <a:lumMod val="60000"/>
              <a:lumOff val="40000"/>
            </a:schemeClr>
          </a:solidFill>
        </p:spPr>
        <p:txBody>
          <a:bodyPr wrap="square" rtlCol="0">
            <a:spAutoFit/>
          </a:bodyPr>
          <a:lstStyle/>
          <a:p>
            <a:r>
              <a:rPr lang="en-US" sz="2400" dirty="0"/>
              <a:t>During the trial period, the checkout is deactivated by default. In order to activate this, to test out all the features available you will just need to </a:t>
            </a:r>
            <a:r>
              <a:rPr lang="en-US" sz="2400" u="sng" dirty="0">
                <a:hlinkClick r:id="rId3"/>
              </a:rPr>
              <a:t>select your preferred plan</a:t>
            </a:r>
            <a:r>
              <a:rPr lang="en-US" sz="2400" dirty="0"/>
              <a:t>. </a:t>
            </a:r>
          </a:p>
        </p:txBody>
      </p:sp>
    </p:spTree>
    <p:extLst>
      <p:ext uri="{BB962C8B-B14F-4D97-AF65-F5344CB8AC3E}">
        <p14:creationId xmlns:p14="http://schemas.microsoft.com/office/powerpoint/2010/main" val="19834761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A42F599-BEAD-46F2-95AA-7ABE2243257E}"/>
              </a:ext>
            </a:extLst>
          </p:cNvPr>
          <p:cNvPicPr>
            <a:picLocks noChangeAspect="1"/>
          </p:cNvPicPr>
          <p:nvPr/>
        </p:nvPicPr>
        <p:blipFill rotWithShape="1">
          <a:blip r:embed="rId2"/>
          <a:srcRect l="28333" t="17186" r="15333" b="20498"/>
          <a:stretch/>
        </p:blipFill>
        <p:spPr>
          <a:xfrm>
            <a:off x="5725795" y="1239921"/>
            <a:ext cx="6207938" cy="3862800"/>
          </a:xfrm>
          <a:prstGeom prst="rect">
            <a:avLst/>
          </a:prstGeom>
        </p:spPr>
      </p:pic>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sz="5300" dirty="0">
                <a:solidFill>
                  <a:schemeClr val="accent5">
                    <a:lumMod val="75000"/>
                  </a:schemeClr>
                </a:solidFill>
              </a:rPr>
              <a:t>3</a:t>
            </a:r>
            <a:r>
              <a:rPr lang="en-SG" sz="4000" dirty="0">
                <a:solidFill>
                  <a:schemeClr val="accent5">
                    <a:lumMod val="75000"/>
                  </a:schemeClr>
                </a:solidFill>
              </a:rPr>
              <a:t> – Checkout </a:t>
            </a:r>
            <a:endParaRPr lang="en-SG" sz="5400" dirty="0">
              <a:solidFill>
                <a:schemeClr val="accent5">
                  <a:lumMod val="75000"/>
                </a:schemeClr>
              </a:solidFill>
            </a:endParaRPr>
          </a:p>
        </p:txBody>
      </p:sp>
      <p:pic>
        <p:nvPicPr>
          <p:cNvPr id="3" name="Picture 2">
            <a:extLst>
              <a:ext uri="{FF2B5EF4-FFF2-40B4-BE49-F238E27FC236}">
                <a16:creationId xmlns:a16="http://schemas.microsoft.com/office/drawing/2014/main" id="{FB84F8F3-6564-4610-9B7E-02469553FAF5}"/>
              </a:ext>
            </a:extLst>
          </p:cNvPr>
          <p:cNvPicPr>
            <a:picLocks noChangeAspect="1"/>
          </p:cNvPicPr>
          <p:nvPr/>
        </p:nvPicPr>
        <p:blipFill rotWithShape="1">
          <a:blip r:embed="rId3"/>
          <a:srcRect l="5101" t="15449" r="64406" b="44127"/>
          <a:stretch/>
        </p:blipFill>
        <p:spPr>
          <a:xfrm>
            <a:off x="715645" y="1303331"/>
            <a:ext cx="5010150" cy="3735980"/>
          </a:xfrm>
          <a:prstGeom prst="rect">
            <a:avLst/>
          </a:prstGeom>
        </p:spPr>
      </p:pic>
      <p:sp>
        <p:nvSpPr>
          <p:cNvPr id="4" name="TextBox 3">
            <a:extLst>
              <a:ext uri="{FF2B5EF4-FFF2-40B4-BE49-F238E27FC236}">
                <a16:creationId xmlns:a16="http://schemas.microsoft.com/office/drawing/2014/main" id="{4E8125DD-F1C5-4237-814A-24C0B84AAED9}"/>
              </a:ext>
            </a:extLst>
          </p:cNvPr>
          <p:cNvSpPr txBox="1"/>
          <p:nvPr/>
        </p:nvSpPr>
        <p:spPr>
          <a:xfrm>
            <a:off x="955040" y="5507898"/>
            <a:ext cx="10978693" cy="1200329"/>
          </a:xfrm>
          <a:prstGeom prst="rect">
            <a:avLst/>
          </a:prstGeom>
          <a:noFill/>
        </p:spPr>
        <p:txBody>
          <a:bodyPr wrap="square" rtlCol="0">
            <a:spAutoFit/>
          </a:bodyPr>
          <a:lstStyle/>
          <a:p>
            <a:r>
              <a:rPr lang="en-SG" sz="2400" dirty="0"/>
              <a:t>When you click the “Checkout” this is the message you will receive from your screen if you didn’t pick or select a plan. However after you select the plan, this will not be charged right away only after the free trial period expires.</a:t>
            </a:r>
          </a:p>
        </p:txBody>
      </p:sp>
    </p:spTree>
    <p:extLst>
      <p:ext uri="{BB962C8B-B14F-4D97-AF65-F5344CB8AC3E}">
        <p14:creationId xmlns:p14="http://schemas.microsoft.com/office/powerpoint/2010/main" val="27590861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sz="5300" dirty="0">
                <a:solidFill>
                  <a:schemeClr val="accent5">
                    <a:lumMod val="75000"/>
                  </a:schemeClr>
                </a:solidFill>
              </a:rPr>
              <a:t>3</a:t>
            </a:r>
            <a:r>
              <a:rPr lang="en-SG" sz="4000" dirty="0">
                <a:solidFill>
                  <a:schemeClr val="accent5">
                    <a:lumMod val="75000"/>
                  </a:schemeClr>
                </a:solidFill>
              </a:rPr>
              <a:t> – Checkout (Customer Accounts)</a:t>
            </a:r>
            <a:endParaRPr lang="en-SG" sz="5400" dirty="0">
              <a:solidFill>
                <a:schemeClr val="accent5">
                  <a:lumMod val="75000"/>
                </a:schemeClr>
              </a:solidFill>
            </a:endParaRPr>
          </a:p>
        </p:txBody>
      </p:sp>
      <p:pic>
        <p:nvPicPr>
          <p:cNvPr id="3" name="Picture 2">
            <a:extLst>
              <a:ext uri="{FF2B5EF4-FFF2-40B4-BE49-F238E27FC236}">
                <a16:creationId xmlns:a16="http://schemas.microsoft.com/office/drawing/2014/main" id="{2BEEE3D3-D92A-457E-8C3A-0FEC226081C2}"/>
              </a:ext>
            </a:extLst>
          </p:cNvPr>
          <p:cNvPicPr>
            <a:picLocks noChangeAspect="1"/>
          </p:cNvPicPr>
          <p:nvPr/>
        </p:nvPicPr>
        <p:blipFill rotWithShape="1">
          <a:blip r:embed="rId2"/>
          <a:srcRect l="27583" t="27408" r="16083" b="50000"/>
          <a:stretch/>
        </p:blipFill>
        <p:spPr>
          <a:xfrm>
            <a:off x="791210" y="1674812"/>
            <a:ext cx="10815942" cy="2439987"/>
          </a:xfrm>
          <a:prstGeom prst="rect">
            <a:avLst/>
          </a:prstGeom>
        </p:spPr>
      </p:pic>
      <p:sp>
        <p:nvSpPr>
          <p:cNvPr id="11" name="TextBox 10">
            <a:extLst>
              <a:ext uri="{FF2B5EF4-FFF2-40B4-BE49-F238E27FC236}">
                <a16:creationId xmlns:a16="http://schemas.microsoft.com/office/drawing/2014/main" id="{58526213-A8C8-4388-A500-B04CA2D7F71C}"/>
              </a:ext>
            </a:extLst>
          </p:cNvPr>
          <p:cNvSpPr txBox="1"/>
          <p:nvPr/>
        </p:nvSpPr>
        <p:spPr>
          <a:xfrm>
            <a:off x="876299" y="4374259"/>
            <a:ext cx="10906125" cy="1938992"/>
          </a:xfrm>
          <a:prstGeom prst="rect">
            <a:avLst/>
          </a:prstGeom>
          <a:solidFill>
            <a:schemeClr val="accent4">
              <a:lumMod val="60000"/>
              <a:lumOff val="40000"/>
            </a:schemeClr>
          </a:solidFill>
        </p:spPr>
        <p:txBody>
          <a:bodyPr wrap="square" rtlCol="0">
            <a:spAutoFit/>
          </a:bodyPr>
          <a:lstStyle/>
          <a:p>
            <a:r>
              <a:rPr lang="en-SG" sz="2400" dirty="0"/>
              <a:t>In this section, there are three settings you can choose from. If your company/business requires users to have an account then select the third one but majority of the Shopify site selects the “Accounts are optional” to give flexibility on your customers. Sometimes they don’t want the site to capture permanently their information.</a:t>
            </a:r>
          </a:p>
        </p:txBody>
      </p:sp>
    </p:spTree>
    <p:extLst>
      <p:ext uri="{BB962C8B-B14F-4D97-AF65-F5344CB8AC3E}">
        <p14:creationId xmlns:p14="http://schemas.microsoft.com/office/powerpoint/2010/main" val="3087310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sz="5300" dirty="0">
                <a:solidFill>
                  <a:schemeClr val="accent5">
                    <a:lumMod val="75000"/>
                  </a:schemeClr>
                </a:solidFill>
              </a:rPr>
              <a:t>3</a:t>
            </a:r>
            <a:r>
              <a:rPr lang="en-SG" sz="4000" dirty="0">
                <a:solidFill>
                  <a:schemeClr val="accent5">
                    <a:lumMod val="75000"/>
                  </a:schemeClr>
                </a:solidFill>
              </a:rPr>
              <a:t> – Checkout (Customer Accounts)</a:t>
            </a:r>
            <a:endParaRPr lang="en-SG" sz="5400" dirty="0">
              <a:solidFill>
                <a:schemeClr val="accent5">
                  <a:lumMod val="75000"/>
                </a:schemeClr>
              </a:solidFill>
            </a:endParaRPr>
          </a:p>
        </p:txBody>
      </p:sp>
      <p:pic>
        <p:nvPicPr>
          <p:cNvPr id="4" name="Picture 3">
            <a:extLst>
              <a:ext uri="{FF2B5EF4-FFF2-40B4-BE49-F238E27FC236}">
                <a16:creationId xmlns:a16="http://schemas.microsoft.com/office/drawing/2014/main" id="{6251DBF1-4D61-4714-9FE4-42F91DA417C2}"/>
              </a:ext>
            </a:extLst>
          </p:cNvPr>
          <p:cNvPicPr>
            <a:picLocks noChangeAspect="1"/>
          </p:cNvPicPr>
          <p:nvPr/>
        </p:nvPicPr>
        <p:blipFill rotWithShape="1">
          <a:blip r:embed="rId2"/>
          <a:srcRect l="26167" t="26074" r="15334" b="40889"/>
          <a:stretch/>
        </p:blipFill>
        <p:spPr>
          <a:xfrm>
            <a:off x="913764" y="1626234"/>
            <a:ext cx="10515599" cy="3340425"/>
          </a:xfrm>
          <a:prstGeom prst="rect">
            <a:avLst/>
          </a:prstGeom>
        </p:spPr>
      </p:pic>
      <p:sp>
        <p:nvSpPr>
          <p:cNvPr id="6" name="TextBox 5">
            <a:extLst>
              <a:ext uri="{FF2B5EF4-FFF2-40B4-BE49-F238E27FC236}">
                <a16:creationId xmlns:a16="http://schemas.microsoft.com/office/drawing/2014/main" id="{7F7C53C4-1664-4476-B5B3-7C6E57BE3C7F}"/>
              </a:ext>
            </a:extLst>
          </p:cNvPr>
          <p:cNvSpPr txBox="1"/>
          <p:nvPr/>
        </p:nvSpPr>
        <p:spPr>
          <a:xfrm>
            <a:off x="1294764" y="5231766"/>
            <a:ext cx="9420225" cy="1200329"/>
          </a:xfrm>
          <a:prstGeom prst="rect">
            <a:avLst/>
          </a:prstGeom>
          <a:solidFill>
            <a:schemeClr val="accent4">
              <a:lumMod val="60000"/>
              <a:lumOff val="40000"/>
            </a:schemeClr>
          </a:solidFill>
        </p:spPr>
        <p:txBody>
          <a:bodyPr wrap="square" rtlCol="0">
            <a:spAutoFit/>
          </a:bodyPr>
          <a:lstStyle/>
          <a:p>
            <a:r>
              <a:rPr lang="en-SG" sz="2400" dirty="0"/>
              <a:t>In this section, you can configure whether the customers can use either phone numbers or e-mail and to receive shipping updates through e-mail/phone or check in the “Arrive App” for the status of the order</a:t>
            </a:r>
          </a:p>
        </p:txBody>
      </p:sp>
    </p:spTree>
    <p:extLst>
      <p:ext uri="{BB962C8B-B14F-4D97-AF65-F5344CB8AC3E}">
        <p14:creationId xmlns:p14="http://schemas.microsoft.com/office/powerpoint/2010/main" val="3923076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sz="5300" dirty="0">
                <a:solidFill>
                  <a:schemeClr val="accent5">
                    <a:lumMod val="75000"/>
                  </a:schemeClr>
                </a:solidFill>
              </a:rPr>
              <a:t>3</a:t>
            </a:r>
            <a:r>
              <a:rPr lang="en-SG" sz="4000" dirty="0">
                <a:solidFill>
                  <a:schemeClr val="accent5">
                    <a:lumMod val="75000"/>
                  </a:schemeClr>
                </a:solidFill>
              </a:rPr>
              <a:t> – Checkout (Form Options)</a:t>
            </a:r>
            <a:endParaRPr lang="en-SG" sz="5400" dirty="0">
              <a:solidFill>
                <a:schemeClr val="accent5">
                  <a:lumMod val="75000"/>
                </a:schemeClr>
              </a:solidFill>
            </a:endParaRPr>
          </a:p>
        </p:txBody>
      </p:sp>
      <p:pic>
        <p:nvPicPr>
          <p:cNvPr id="5" name="Picture 4">
            <a:extLst>
              <a:ext uri="{FF2B5EF4-FFF2-40B4-BE49-F238E27FC236}">
                <a16:creationId xmlns:a16="http://schemas.microsoft.com/office/drawing/2014/main" id="{12321E3E-A073-40CA-ADEC-5CD0FFD643D9}"/>
              </a:ext>
            </a:extLst>
          </p:cNvPr>
          <p:cNvPicPr>
            <a:picLocks noChangeAspect="1"/>
          </p:cNvPicPr>
          <p:nvPr/>
        </p:nvPicPr>
        <p:blipFill rotWithShape="1">
          <a:blip r:embed="rId2"/>
          <a:srcRect l="28333" t="20499" r="36084" b="19556"/>
          <a:stretch/>
        </p:blipFill>
        <p:spPr>
          <a:xfrm>
            <a:off x="711200" y="1405826"/>
            <a:ext cx="5613400" cy="5319338"/>
          </a:xfrm>
          <a:prstGeom prst="rect">
            <a:avLst/>
          </a:prstGeom>
        </p:spPr>
      </p:pic>
      <p:sp>
        <p:nvSpPr>
          <p:cNvPr id="7" name="Rectangle 6">
            <a:extLst>
              <a:ext uri="{FF2B5EF4-FFF2-40B4-BE49-F238E27FC236}">
                <a16:creationId xmlns:a16="http://schemas.microsoft.com/office/drawing/2014/main" id="{59C8617B-EE5D-40D2-8C1A-D8A040D6A305}"/>
              </a:ext>
            </a:extLst>
          </p:cNvPr>
          <p:cNvSpPr/>
          <p:nvPr/>
        </p:nvSpPr>
        <p:spPr>
          <a:xfrm>
            <a:off x="3901311" y="1581149"/>
            <a:ext cx="2423289" cy="923925"/>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8">
            <a:extLst>
              <a:ext uri="{FF2B5EF4-FFF2-40B4-BE49-F238E27FC236}">
                <a16:creationId xmlns:a16="http://schemas.microsoft.com/office/drawing/2014/main" id="{141B0DA3-28B3-479C-BE38-91A27EABC2A0}"/>
              </a:ext>
            </a:extLst>
          </p:cNvPr>
          <p:cNvSpPr/>
          <p:nvPr/>
        </p:nvSpPr>
        <p:spPr>
          <a:xfrm>
            <a:off x="3901310" y="2731389"/>
            <a:ext cx="2423289" cy="1099248"/>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Rectangle 9">
            <a:extLst>
              <a:ext uri="{FF2B5EF4-FFF2-40B4-BE49-F238E27FC236}">
                <a16:creationId xmlns:a16="http://schemas.microsoft.com/office/drawing/2014/main" id="{F04477F6-8900-49F7-B3EF-E232D377D8E1}"/>
              </a:ext>
            </a:extLst>
          </p:cNvPr>
          <p:cNvSpPr/>
          <p:nvPr/>
        </p:nvSpPr>
        <p:spPr>
          <a:xfrm>
            <a:off x="3901310" y="4045141"/>
            <a:ext cx="2423289" cy="1099248"/>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Rectangle 10">
            <a:extLst>
              <a:ext uri="{FF2B5EF4-FFF2-40B4-BE49-F238E27FC236}">
                <a16:creationId xmlns:a16="http://schemas.microsoft.com/office/drawing/2014/main" id="{DC074022-AB46-4FC7-ABC7-B3F53AB06F07}"/>
              </a:ext>
            </a:extLst>
          </p:cNvPr>
          <p:cNvSpPr/>
          <p:nvPr/>
        </p:nvSpPr>
        <p:spPr>
          <a:xfrm>
            <a:off x="3901309" y="5385152"/>
            <a:ext cx="2423289" cy="1099248"/>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2" name="Straight Arrow Connector 11">
            <a:extLst>
              <a:ext uri="{FF2B5EF4-FFF2-40B4-BE49-F238E27FC236}">
                <a16:creationId xmlns:a16="http://schemas.microsoft.com/office/drawing/2014/main" id="{6C97F2CC-78DE-4AEC-9F94-EBD3A4760D3A}"/>
              </a:ext>
            </a:extLst>
          </p:cNvPr>
          <p:cNvCxnSpPr>
            <a:cxnSpLocks/>
          </p:cNvCxnSpPr>
          <p:nvPr/>
        </p:nvCxnSpPr>
        <p:spPr>
          <a:xfrm>
            <a:off x="6324598" y="2047428"/>
            <a:ext cx="752476" cy="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9DE84A1-0022-42BC-829F-B43A139BF112}"/>
              </a:ext>
            </a:extLst>
          </p:cNvPr>
          <p:cNvCxnSpPr>
            <a:cxnSpLocks/>
          </p:cNvCxnSpPr>
          <p:nvPr/>
        </p:nvCxnSpPr>
        <p:spPr>
          <a:xfrm>
            <a:off x="6324598" y="3219003"/>
            <a:ext cx="752476" cy="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2FC788C-A8DA-4D4E-82B8-D961F7156321}"/>
              </a:ext>
            </a:extLst>
          </p:cNvPr>
          <p:cNvCxnSpPr>
            <a:cxnSpLocks/>
          </p:cNvCxnSpPr>
          <p:nvPr/>
        </p:nvCxnSpPr>
        <p:spPr>
          <a:xfrm>
            <a:off x="6324598" y="4609653"/>
            <a:ext cx="752476" cy="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35F0081-1C7A-44BF-8EBA-46785FD99737}"/>
              </a:ext>
            </a:extLst>
          </p:cNvPr>
          <p:cNvCxnSpPr>
            <a:cxnSpLocks/>
          </p:cNvCxnSpPr>
          <p:nvPr/>
        </p:nvCxnSpPr>
        <p:spPr>
          <a:xfrm>
            <a:off x="6324598" y="5886003"/>
            <a:ext cx="752476" cy="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2654D25-89DC-4AF7-B010-49CB4B63BAE0}"/>
              </a:ext>
            </a:extLst>
          </p:cNvPr>
          <p:cNvSpPr txBox="1"/>
          <p:nvPr/>
        </p:nvSpPr>
        <p:spPr>
          <a:xfrm>
            <a:off x="7115175" y="1762125"/>
            <a:ext cx="4724400" cy="646331"/>
          </a:xfrm>
          <a:prstGeom prst="rect">
            <a:avLst/>
          </a:prstGeom>
          <a:noFill/>
        </p:spPr>
        <p:txBody>
          <a:bodyPr wrap="square" rtlCol="0">
            <a:spAutoFit/>
          </a:bodyPr>
          <a:lstStyle/>
          <a:p>
            <a:r>
              <a:rPr lang="en-SG" dirty="0"/>
              <a:t>Settings that allows the customers to fill up their information like FirstName, LastName or both</a:t>
            </a:r>
          </a:p>
        </p:txBody>
      </p:sp>
      <p:sp>
        <p:nvSpPr>
          <p:cNvPr id="18" name="TextBox 17">
            <a:extLst>
              <a:ext uri="{FF2B5EF4-FFF2-40B4-BE49-F238E27FC236}">
                <a16:creationId xmlns:a16="http://schemas.microsoft.com/office/drawing/2014/main" id="{079B4979-76A8-4821-A44C-8F9C901C2F33}"/>
              </a:ext>
            </a:extLst>
          </p:cNvPr>
          <p:cNvSpPr txBox="1"/>
          <p:nvPr/>
        </p:nvSpPr>
        <p:spPr>
          <a:xfrm>
            <a:off x="7077074" y="2895837"/>
            <a:ext cx="4724400" cy="1200329"/>
          </a:xfrm>
          <a:prstGeom prst="rect">
            <a:avLst/>
          </a:prstGeom>
          <a:noFill/>
        </p:spPr>
        <p:txBody>
          <a:bodyPr wrap="square" rtlCol="0">
            <a:spAutoFit/>
          </a:bodyPr>
          <a:lstStyle/>
          <a:p>
            <a:r>
              <a:rPr lang="en-SG" dirty="0"/>
              <a:t>Settings that allows the customers to provide their company name but not all customers has company so normally it is set to hidden or optional</a:t>
            </a:r>
          </a:p>
        </p:txBody>
      </p:sp>
      <p:sp>
        <p:nvSpPr>
          <p:cNvPr id="19" name="TextBox 18">
            <a:extLst>
              <a:ext uri="{FF2B5EF4-FFF2-40B4-BE49-F238E27FC236}">
                <a16:creationId xmlns:a16="http://schemas.microsoft.com/office/drawing/2014/main" id="{C9E4AC4D-0360-4BA4-A4F8-94C3CD688843}"/>
              </a:ext>
            </a:extLst>
          </p:cNvPr>
          <p:cNvSpPr txBox="1"/>
          <p:nvPr/>
        </p:nvSpPr>
        <p:spPr>
          <a:xfrm>
            <a:off x="7077074" y="4371706"/>
            <a:ext cx="4724400" cy="923330"/>
          </a:xfrm>
          <a:prstGeom prst="rect">
            <a:avLst/>
          </a:prstGeom>
          <a:noFill/>
        </p:spPr>
        <p:txBody>
          <a:bodyPr wrap="square" rtlCol="0">
            <a:spAutoFit/>
          </a:bodyPr>
          <a:lstStyle/>
          <a:p>
            <a:r>
              <a:rPr lang="en-SG" dirty="0"/>
              <a:t>Settings that allows the customers to provide a second address or not. Normally it is set to optional</a:t>
            </a:r>
          </a:p>
        </p:txBody>
      </p:sp>
      <p:sp>
        <p:nvSpPr>
          <p:cNvPr id="20" name="TextBox 19">
            <a:extLst>
              <a:ext uri="{FF2B5EF4-FFF2-40B4-BE49-F238E27FC236}">
                <a16:creationId xmlns:a16="http://schemas.microsoft.com/office/drawing/2014/main" id="{9607F6A6-BED1-4720-AF22-53A8CFACBF74}"/>
              </a:ext>
            </a:extLst>
          </p:cNvPr>
          <p:cNvSpPr txBox="1"/>
          <p:nvPr/>
        </p:nvSpPr>
        <p:spPr>
          <a:xfrm>
            <a:off x="7077074" y="5586177"/>
            <a:ext cx="4724400" cy="923330"/>
          </a:xfrm>
          <a:prstGeom prst="rect">
            <a:avLst/>
          </a:prstGeom>
          <a:noFill/>
        </p:spPr>
        <p:txBody>
          <a:bodyPr wrap="square" rtlCol="0">
            <a:spAutoFit/>
          </a:bodyPr>
          <a:lstStyle/>
          <a:p>
            <a:r>
              <a:rPr lang="en-SG" dirty="0"/>
              <a:t>Settings that allows the customers to provide a shipping address and phone number. Normally it is set to required</a:t>
            </a:r>
          </a:p>
        </p:txBody>
      </p:sp>
    </p:spTree>
    <p:extLst>
      <p:ext uri="{BB962C8B-B14F-4D97-AF65-F5344CB8AC3E}">
        <p14:creationId xmlns:p14="http://schemas.microsoft.com/office/powerpoint/2010/main" val="568343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sz="5300" dirty="0">
                <a:solidFill>
                  <a:schemeClr val="accent5">
                    <a:lumMod val="75000"/>
                  </a:schemeClr>
                </a:solidFill>
              </a:rPr>
              <a:t>3</a:t>
            </a:r>
            <a:r>
              <a:rPr lang="en-SG" sz="4000" dirty="0">
                <a:solidFill>
                  <a:schemeClr val="accent5">
                    <a:lumMod val="75000"/>
                  </a:schemeClr>
                </a:solidFill>
              </a:rPr>
              <a:t> – Checkout (Order Processing)</a:t>
            </a:r>
            <a:endParaRPr lang="en-SG" sz="5400" dirty="0">
              <a:solidFill>
                <a:schemeClr val="accent5">
                  <a:lumMod val="75000"/>
                </a:schemeClr>
              </a:solidFill>
            </a:endParaRPr>
          </a:p>
        </p:txBody>
      </p:sp>
      <p:pic>
        <p:nvPicPr>
          <p:cNvPr id="3" name="Picture 2">
            <a:extLst>
              <a:ext uri="{FF2B5EF4-FFF2-40B4-BE49-F238E27FC236}">
                <a16:creationId xmlns:a16="http://schemas.microsoft.com/office/drawing/2014/main" id="{FB97A174-F409-422A-B605-ECD5BBD00488}"/>
              </a:ext>
            </a:extLst>
          </p:cNvPr>
          <p:cNvPicPr>
            <a:picLocks noChangeAspect="1"/>
          </p:cNvPicPr>
          <p:nvPr/>
        </p:nvPicPr>
        <p:blipFill rotWithShape="1">
          <a:blip r:embed="rId2"/>
          <a:srcRect l="28666" t="28445" r="16083" b="21185"/>
          <a:stretch/>
        </p:blipFill>
        <p:spPr>
          <a:xfrm>
            <a:off x="789940" y="1405826"/>
            <a:ext cx="8361902" cy="4564381"/>
          </a:xfrm>
          <a:prstGeom prst="rect">
            <a:avLst/>
          </a:prstGeom>
        </p:spPr>
      </p:pic>
      <p:sp>
        <p:nvSpPr>
          <p:cNvPr id="4" name="TextBox 3">
            <a:extLst>
              <a:ext uri="{FF2B5EF4-FFF2-40B4-BE49-F238E27FC236}">
                <a16:creationId xmlns:a16="http://schemas.microsoft.com/office/drawing/2014/main" id="{7A98DF91-0937-4C46-88C2-1F6B36B03CEF}"/>
              </a:ext>
            </a:extLst>
          </p:cNvPr>
          <p:cNvSpPr txBox="1"/>
          <p:nvPr/>
        </p:nvSpPr>
        <p:spPr>
          <a:xfrm>
            <a:off x="9390602" y="1405826"/>
            <a:ext cx="2371725" cy="4247317"/>
          </a:xfrm>
          <a:prstGeom prst="rect">
            <a:avLst/>
          </a:prstGeom>
          <a:solidFill>
            <a:schemeClr val="accent4">
              <a:lumMod val="60000"/>
              <a:lumOff val="40000"/>
            </a:schemeClr>
          </a:solidFill>
        </p:spPr>
        <p:txBody>
          <a:bodyPr wrap="square" rtlCol="0">
            <a:spAutoFit/>
          </a:bodyPr>
          <a:lstStyle/>
          <a:p>
            <a:r>
              <a:rPr lang="en-US" dirty="0"/>
              <a:t>When you fulfill an order in Shopify, you begin the process of sending the order on its way to the customer. The customer receives an email telling them that their item has shipped, and the order's </a:t>
            </a:r>
            <a:r>
              <a:rPr lang="en-US" b="1" dirty="0"/>
              <a:t>Fulfillment Status</a:t>
            </a:r>
            <a:r>
              <a:rPr lang="en-US" dirty="0"/>
              <a:t> displays as </a:t>
            </a:r>
            <a:r>
              <a:rPr lang="en-US" b="1" dirty="0"/>
              <a:t>Fulfilled</a:t>
            </a:r>
            <a:r>
              <a:rPr lang="en-US" dirty="0"/>
              <a:t> on the </a:t>
            </a:r>
            <a:r>
              <a:rPr lang="en-US" b="1" dirty="0">
                <a:hlinkClick r:id="rId3"/>
              </a:rPr>
              <a:t>Orders</a:t>
            </a:r>
            <a:r>
              <a:rPr lang="en-US" dirty="0"/>
              <a:t> page.</a:t>
            </a:r>
          </a:p>
          <a:p>
            <a:endParaRPr lang="en-SG" dirty="0"/>
          </a:p>
        </p:txBody>
      </p:sp>
      <p:sp>
        <p:nvSpPr>
          <p:cNvPr id="21" name="TextBox 20">
            <a:extLst>
              <a:ext uri="{FF2B5EF4-FFF2-40B4-BE49-F238E27FC236}">
                <a16:creationId xmlns:a16="http://schemas.microsoft.com/office/drawing/2014/main" id="{FBE0DA49-69B9-4637-9F5F-DA33C1E1ECEA}"/>
              </a:ext>
            </a:extLst>
          </p:cNvPr>
          <p:cNvSpPr txBox="1"/>
          <p:nvPr/>
        </p:nvSpPr>
        <p:spPr>
          <a:xfrm>
            <a:off x="1028700" y="3219450"/>
            <a:ext cx="2371725" cy="2308324"/>
          </a:xfrm>
          <a:prstGeom prst="rect">
            <a:avLst/>
          </a:prstGeom>
          <a:solidFill>
            <a:schemeClr val="accent4">
              <a:lumMod val="60000"/>
              <a:lumOff val="40000"/>
            </a:schemeClr>
          </a:solidFill>
        </p:spPr>
        <p:txBody>
          <a:bodyPr wrap="square" rtlCol="0">
            <a:spAutoFit/>
          </a:bodyPr>
          <a:lstStyle/>
          <a:p>
            <a:r>
              <a:rPr lang="en-US" dirty="0"/>
              <a:t>You can set up automatic or manual fulfillment for orders and order archiving from the checkout settings page in Shopify.</a:t>
            </a:r>
          </a:p>
          <a:p>
            <a:r>
              <a:rPr lang="en-US" dirty="0"/>
              <a:t>When you</a:t>
            </a:r>
            <a:endParaRPr lang="en-SG" dirty="0"/>
          </a:p>
        </p:txBody>
      </p:sp>
    </p:spTree>
    <p:extLst>
      <p:ext uri="{BB962C8B-B14F-4D97-AF65-F5344CB8AC3E}">
        <p14:creationId xmlns:p14="http://schemas.microsoft.com/office/powerpoint/2010/main" val="4521492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sz="5300" dirty="0">
                <a:solidFill>
                  <a:schemeClr val="accent5">
                    <a:lumMod val="75000"/>
                  </a:schemeClr>
                </a:solidFill>
              </a:rPr>
              <a:t>3</a:t>
            </a:r>
            <a:r>
              <a:rPr lang="en-SG" sz="4000" dirty="0">
                <a:solidFill>
                  <a:schemeClr val="accent5">
                    <a:lumMod val="75000"/>
                  </a:schemeClr>
                </a:solidFill>
              </a:rPr>
              <a:t> – Checkout (Order Testing and Checkout)</a:t>
            </a:r>
            <a:endParaRPr lang="en-SG" sz="5400" dirty="0">
              <a:solidFill>
                <a:schemeClr val="accent5">
                  <a:lumMod val="75000"/>
                </a:schemeClr>
              </a:solidFill>
            </a:endParaRPr>
          </a:p>
        </p:txBody>
      </p:sp>
      <p:pic>
        <p:nvPicPr>
          <p:cNvPr id="6" name="Picture 5">
            <a:extLst>
              <a:ext uri="{FF2B5EF4-FFF2-40B4-BE49-F238E27FC236}">
                <a16:creationId xmlns:a16="http://schemas.microsoft.com/office/drawing/2014/main" id="{0E596D64-ED07-41AE-A092-AB546770B2DA}"/>
              </a:ext>
            </a:extLst>
          </p:cNvPr>
          <p:cNvPicPr>
            <a:picLocks noChangeAspect="1"/>
          </p:cNvPicPr>
          <p:nvPr/>
        </p:nvPicPr>
        <p:blipFill rotWithShape="1">
          <a:blip r:embed="rId2"/>
          <a:srcRect l="18084" t="15111" r="15417" b="8741"/>
          <a:stretch/>
        </p:blipFill>
        <p:spPr>
          <a:xfrm>
            <a:off x="937895" y="1405826"/>
            <a:ext cx="10515600" cy="5222240"/>
          </a:xfrm>
          <a:prstGeom prst="rect">
            <a:avLst/>
          </a:prstGeom>
        </p:spPr>
      </p:pic>
      <p:sp>
        <p:nvSpPr>
          <p:cNvPr id="8" name="TextBox 7">
            <a:extLst>
              <a:ext uri="{FF2B5EF4-FFF2-40B4-BE49-F238E27FC236}">
                <a16:creationId xmlns:a16="http://schemas.microsoft.com/office/drawing/2014/main" id="{ED81DDC0-6EFE-4CC3-9F20-B3F670336EAB}"/>
              </a:ext>
            </a:extLst>
          </p:cNvPr>
          <p:cNvSpPr txBox="1"/>
          <p:nvPr/>
        </p:nvSpPr>
        <p:spPr>
          <a:xfrm>
            <a:off x="6896100" y="4319742"/>
            <a:ext cx="4695825" cy="2308324"/>
          </a:xfrm>
          <a:prstGeom prst="rect">
            <a:avLst/>
          </a:prstGeom>
          <a:solidFill>
            <a:schemeClr val="accent4">
              <a:lumMod val="60000"/>
              <a:lumOff val="40000"/>
            </a:schemeClr>
          </a:solidFill>
        </p:spPr>
        <p:txBody>
          <a:bodyPr wrap="square" rtlCol="0">
            <a:spAutoFit/>
          </a:bodyPr>
          <a:lstStyle/>
          <a:p>
            <a:r>
              <a:rPr lang="en-US" sz="2400" dirty="0"/>
              <a:t>Take note that this will only be available when you </a:t>
            </a:r>
            <a:r>
              <a:rPr lang="en-US" sz="2400" b="1" u="sng" dirty="0"/>
              <a:t>selected a plan </a:t>
            </a:r>
            <a:r>
              <a:rPr lang="en-US" sz="2400" dirty="0"/>
              <a:t>and </a:t>
            </a:r>
            <a:r>
              <a:rPr lang="en-US" sz="2400" b="1" u="sng" dirty="0"/>
              <a:t>enabled the test mode</a:t>
            </a:r>
            <a:r>
              <a:rPr lang="en-US" sz="2400" dirty="0"/>
              <a:t>. Whatever you see on this page is because of the configure checkout setting.</a:t>
            </a:r>
          </a:p>
        </p:txBody>
      </p:sp>
    </p:spTree>
    <p:extLst>
      <p:ext uri="{BB962C8B-B14F-4D97-AF65-F5344CB8AC3E}">
        <p14:creationId xmlns:p14="http://schemas.microsoft.com/office/powerpoint/2010/main" val="11819823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83058" y="80263"/>
            <a:ext cx="10515600" cy="1325563"/>
          </a:xfrm>
        </p:spPr>
        <p:txBody>
          <a:bodyPr>
            <a:normAutofit fontScale="90000"/>
          </a:bodyPr>
          <a:lstStyle/>
          <a:p>
            <a:r>
              <a:rPr lang="en-SG" sz="5400" dirty="0"/>
              <a:t>Other Shopify Settings</a:t>
            </a:r>
            <a:br>
              <a:rPr lang="en-SG" sz="5400" dirty="0"/>
            </a:br>
            <a:r>
              <a:rPr lang="en-SG" sz="5300" dirty="0">
                <a:solidFill>
                  <a:schemeClr val="accent5">
                    <a:lumMod val="75000"/>
                  </a:schemeClr>
                </a:solidFill>
              </a:rPr>
              <a:t>3</a:t>
            </a:r>
            <a:r>
              <a:rPr lang="en-SG" sz="4000" dirty="0">
                <a:solidFill>
                  <a:schemeClr val="accent5">
                    <a:lumMod val="75000"/>
                  </a:schemeClr>
                </a:solidFill>
              </a:rPr>
              <a:t> – Checkout (Order Testing and Checkout)</a:t>
            </a:r>
            <a:endParaRPr lang="en-SG" sz="5400" dirty="0">
              <a:solidFill>
                <a:schemeClr val="accent5">
                  <a:lumMod val="75000"/>
                </a:schemeClr>
              </a:solidFill>
            </a:endParaRPr>
          </a:p>
        </p:txBody>
      </p:sp>
      <p:pic>
        <p:nvPicPr>
          <p:cNvPr id="5" name="Picture 4">
            <a:extLst>
              <a:ext uri="{FF2B5EF4-FFF2-40B4-BE49-F238E27FC236}">
                <a16:creationId xmlns:a16="http://schemas.microsoft.com/office/drawing/2014/main" id="{640A966D-C9B5-489B-850B-2667C9514101}"/>
              </a:ext>
            </a:extLst>
          </p:cNvPr>
          <p:cNvPicPr>
            <a:picLocks noChangeAspect="1"/>
          </p:cNvPicPr>
          <p:nvPr/>
        </p:nvPicPr>
        <p:blipFill rotWithShape="1">
          <a:blip r:embed="rId2"/>
          <a:srcRect l="18500" t="14370" r="17916" b="36889"/>
          <a:stretch/>
        </p:blipFill>
        <p:spPr>
          <a:xfrm>
            <a:off x="695615" y="1521077"/>
            <a:ext cx="11044377" cy="4555873"/>
          </a:xfrm>
          <a:prstGeom prst="rect">
            <a:avLst/>
          </a:prstGeom>
        </p:spPr>
      </p:pic>
    </p:spTree>
    <p:extLst>
      <p:ext uri="{BB962C8B-B14F-4D97-AF65-F5344CB8AC3E}">
        <p14:creationId xmlns:p14="http://schemas.microsoft.com/office/powerpoint/2010/main" val="7354200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54483" y="86677"/>
            <a:ext cx="10515600" cy="1325563"/>
          </a:xfrm>
        </p:spPr>
        <p:txBody>
          <a:bodyPr>
            <a:normAutofit fontScale="90000"/>
          </a:bodyPr>
          <a:lstStyle/>
          <a:p>
            <a:r>
              <a:rPr lang="en-SG" sz="5400" dirty="0"/>
              <a:t>Other Shopify Settings</a:t>
            </a:r>
            <a:br>
              <a:rPr lang="en-SG" sz="5400" dirty="0"/>
            </a:br>
            <a:r>
              <a:rPr lang="en-SG" sz="5300" dirty="0">
                <a:solidFill>
                  <a:schemeClr val="accent5">
                    <a:lumMod val="75000"/>
                  </a:schemeClr>
                </a:solidFill>
              </a:rPr>
              <a:t>3</a:t>
            </a:r>
            <a:r>
              <a:rPr lang="en-SG" sz="4000" dirty="0">
                <a:solidFill>
                  <a:schemeClr val="accent5">
                    <a:lumMod val="75000"/>
                  </a:schemeClr>
                </a:solidFill>
              </a:rPr>
              <a:t> – Checkout (Order Testing and Checkout)</a:t>
            </a:r>
            <a:endParaRPr lang="en-SG" sz="5400" dirty="0">
              <a:solidFill>
                <a:schemeClr val="accent5">
                  <a:lumMod val="75000"/>
                </a:schemeClr>
              </a:solidFill>
            </a:endParaRPr>
          </a:p>
        </p:txBody>
      </p:sp>
      <p:pic>
        <p:nvPicPr>
          <p:cNvPr id="6" name="Picture 5">
            <a:extLst>
              <a:ext uri="{FF2B5EF4-FFF2-40B4-BE49-F238E27FC236}">
                <a16:creationId xmlns:a16="http://schemas.microsoft.com/office/drawing/2014/main" id="{68EC7788-395E-48B5-B3F1-2CB5361F8577}"/>
              </a:ext>
            </a:extLst>
          </p:cNvPr>
          <p:cNvPicPr>
            <a:picLocks noChangeAspect="1"/>
          </p:cNvPicPr>
          <p:nvPr/>
        </p:nvPicPr>
        <p:blipFill rotWithShape="1">
          <a:blip r:embed="rId2"/>
          <a:srcRect l="21484" t="11805" r="22110" b="7778"/>
          <a:stretch/>
        </p:blipFill>
        <p:spPr>
          <a:xfrm>
            <a:off x="685800" y="1412240"/>
            <a:ext cx="6619876" cy="5308738"/>
          </a:xfrm>
          <a:prstGeom prst="rect">
            <a:avLst/>
          </a:prstGeom>
        </p:spPr>
      </p:pic>
      <p:sp>
        <p:nvSpPr>
          <p:cNvPr id="7" name="Rectangle 6">
            <a:extLst>
              <a:ext uri="{FF2B5EF4-FFF2-40B4-BE49-F238E27FC236}">
                <a16:creationId xmlns:a16="http://schemas.microsoft.com/office/drawing/2014/main" id="{3FDA08BB-324C-43E5-BC1A-F67FA225F0FE}"/>
              </a:ext>
            </a:extLst>
          </p:cNvPr>
          <p:cNvSpPr/>
          <p:nvPr/>
        </p:nvSpPr>
        <p:spPr>
          <a:xfrm>
            <a:off x="685800" y="3102863"/>
            <a:ext cx="3609975" cy="1993011"/>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 name="Straight Arrow Connector 7">
            <a:extLst>
              <a:ext uri="{FF2B5EF4-FFF2-40B4-BE49-F238E27FC236}">
                <a16:creationId xmlns:a16="http://schemas.microsoft.com/office/drawing/2014/main" id="{4C591DE7-ACE4-469A-AFB5-026640EC4C94}"/>
              </a:ext>
            </a:extLst>
          </p:cNvPr>
          <p:cNvCxnSpPr>
            <a:cxnSpLocks/>
          </p:cNvCxnSpPr>
          <p:nvPr/>
        </p:nvCxnSpPr>
        <p:spPr>
          <a:xfrm>
            <a:off x="4295775" y="4123878"/>
            <a:ext cx="3400425" cy="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C366DE8-1D89-4E80-937A-4C70B22B7CCB}"/>
              </a:ext>
            </a:extLst>
          </p:cNvPr>
          <p:cNvSpPr txBox="1"/>
          <p:nvPr/>
        </p:nvSpPr>
        <p:spPr>
          <a:xfrm>
            <a:off x="7724775" y="3243417"/>
            <a:ext cx="3781425" cy="1938992"/>
          </a:xfrm>
          <a:prstGeom prst="rect">
            <a:avLst/>
          </a:prstGeom>
          <a:solidFill>
            <a:schemeClr val="accent4">
              <a:lumMod val="60000"/>
              <a:lumOff val="40000"/>
            </a:schemeClr>
          </a:solidFill>
        </p:spPr>
        <p:txBody>
          <a:bodyPr wrap="square" rtlCol="0">
            <a:spAutoFit/>
          </a:bodyPr>
          <a:lstStyle/>
          <a:p>
            <a:r>
              <a:rPr lang="en-US" sz="2400" dirty="0"/>
              <a:t>Dummy credit card account information provided by Shopify to simulate successful and failed transactions.</a:t>
            </a:r>
          </a:p>
        </p:txBody>
      </p:sp>
    </p:spTree>
    <p:extLst>
      <p:ext uri="{BB962C8B-B14F-4D97-AF65-F5344CB8AC3E}">
        <p14:creationId xmlns:p14="http://schemas.microsoft.com/office/powerpoint/2010/main" val="42470864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54483" y="86677"/>
            <a:ext cx="10515600" cy="1325563"/>
          </a:xfrm>
        </p:spPr>
        <p:txBody>
          <a:bodyPr>
            <a:normAutofit fontScale="90000"/>
          </a:bodyPr>
          <a:lstStyle/>
          <a:p>
            <a:r>
              <a:rPr lang="en-SG" sz="5400" dirty="0"/>
              <a:t>Other Shopify Settings</a:t>
            </a:r>
            <a:br>
              <a:rPr lang="en-SG" sz="5400" dirty="0"/>
            </a:br>
            <a:r>
              <a:rPr lang="en-SG" sz="5300" dirty="0">
                <a:solidFill>
                  <a:schemeClr val="accent5">
                    <a:lumMod val="75000"/>
                  </a:schemeClr>
                </a:solidFill>
              </a:rPr>
              <a:t>3</a:t>
            </a:r>
            <a:r>
              <a:rPr lang="en-SG" sz="4000" dirty="0">
                <a:solidFill>
                  <a:schemeClr val="accent5">
                    <a:lumMod val="75000"/>
                  </a:schemeClr>
                </a:solidFill>
              </a:rPr>
              <a:t> – Checkout (Order Testing and Checkout)</a:t>
            </a:r>
            <a:endParaRPr lang="en-SG" sz="5400" dirty="0">
              <a:solidFill>
                <a:schemeClr val="accent5">
                  <a:lumMod val="75000"/>
                </a:schemeClr>
              </a:solidFill>
            </a:endParaRPr>
          </a:p>
        </p:txBody>
      </p:sp>
      <p:pic>
        <p:nvPicPr>
          <p:cNvPr id="4" name="Picture 3">
            <a:extLst>
              <a:ext uri="{FF2B5EF4-FFF2-40B4-BE49-F238E27FC236}">
                <a16:creationId xmlns:a16="http://schemas.microsoft.com/office/drawing/2014/main" id="{348693B9-C37D-4973-97C1-366D1ACE58F7}"/>
              </a:ext>
            </a:extLst>
          </p:cNvPr>
          <p:cNvPicPr>
            <a:picLocks noChangeAspect="1"/>
          </p:cNvPicPr>
          <p:nvPr/>
        </p:nvPicPr>
        <p:blipFill rotWithShape="1">
          <a:blip r:embed="rId2"/>
          <a:srcRect l="12583" t="15112" r="46500" b="24148"/>
          <a:stretch/>
        </p:blipFill>
        <p:spPr>
          <a:xfrm>
            <a:off x="648334" y="1412240"/>
            <a:ext cx="6190833" cy="5169535"/>
          </a:xfrm>
          <a:prstGeom prst="rect">
            <a:avLst/>
          </a:prstGeom>
        </p:spPr>
      </p:pic>
      <p:pic>
        <p:nvPicPr>
          <p:cNvPr id="5" name="Picture 4">
            <a:extLst>
              <a:ext uri="{FF2B5EF4-FFF2-40B4-BE49-F238E27FC236}">
                <a16:creationId xmlns:a16="http://schemas.microsoft.com/office/drawing/2014/main" id="{E57DEF37-AB5A-4D50-A04D-C208CFC7CE1A}"/>
              </a:ext>
            </a:extLst>
          </p:cNvPr>
          <p:cNvPicPr>
            <a:picLocks noChangeAspect="1"/>
          </p:cNvPicPr>
          <p:nvPr/>
        </p:nvPicPr>
        <p:blipFill rotWithShape="1">
          <a:blip r:embed="rId3"/>
          <a:srcRect l="16484" t="34027" r="48750" b="15833"/>
          <a:stretch/>
        </p:blipFill>
        <p:spPr>
          <a:xfrm>
            <a:off x="6496049" y="1574164"/>
            <a:ext cx="5386145" cy="4369435"/>
          </a:xfrm>
          <a:prstGeom prst="rect">
            <a:avLst/>
          </a:prstGeom>
        </p:spPr>
      </p:pic>
      <p:sp>
        <p:nvSpPr>
          <p:cNvPr id="11" name="TextBox 10">
            <a:extLst>
              <a:ext uri="{FF2B5EF4-FFF2-40B4-BE49-F238E27FC236}">
                <a16:creationId xmlns:a16="http://schemas.microsoft.com/office/drawing/2014/main" id="{DD8A198C-6F8F-40B6-8B1E-CEEBE6478598}"/>
              </a:ext>
            </a:extLst>
          </p:cNvPr>
          <p:cNvSpPr txBox="1"/>
          <p:nvPr/>
        </p:nvSpPr>
        <p:spPr>
          <a:xfrm>
            <a:off x="6496049" y="5308580"/>
            <a:ext cx="5553075" cy="954107"/>
          </a:xfrm>
          <a:prstGeom prst="rect">
            <a:avLst/>
          </a:prstGeom>
          <a:solidFill>
            <a:schemeClr val="accent4">
              <a:lumMod val="60000"/>
              <a:lumOff val="40000"/>
            </a:schemeClr>
          </a:solidFill>
        </p:spPr>
        <p:txBody>
          <a:bodyPr wrap="square" rtlCol="0">
            <a:spAutoFit/>
          </a:bodyPr>
          <a:lstStyle/>
          <a:p>
            <a:r>
              <a:rPr lang="en-US" sz="2800" dirty="0"/>
              <a:t>Order confirmation and notification letter of the transaction</a:t>
            </a:r>
          </a:p>
        </p:txBody>
      </p:sp>
    </p:spTree>
    <p:extLst>
      <p:ext uri="{BB962C8B-B14F-4D97-AF65-F5344CB8AC3E}">
        <p14:creationId xmlns:p14="http://schemas.microsoft.com/office/powerpoint/2010/main" val="38624843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54483" y="86677"/>
            <a:ext cx="10515600" cy="1325563"/>
          </a:xfrm>
        </p:spPr>
        <p:txBody>
          <a:bodyPr>
            <a:normAutofit fontScale="90000"/>
          </a:bodyPr>
          <a:lstStyle/>
          <a:p>
            <a:r>
              <a:rPr lang="en-SG" sz="5400" dirty="0"/>
              <a:t>Other Shopify Settings</a:t>
            </a:r>
            <a:br>
              <a:rPr lang="en-SG" sz="5400" dirty="0"/>
            </a:br>
            <a:r>
              <a:rPr lang="en-SG" sz="5300" dirty="0">
                <a:solidFill>
                  <a:schemeClr val="accent5">
                    <a:lumMod val="75000"/>
                  </a:schemeClr>
                </a:solidFill>
              </a:rPr>
              <a:t>4</a:t>
            </a:r>
            <a:r>
              <a:rPr lang="en-SG" sz="4000" dirty="0">
                <a:solidFill>
                  <a:schemeClr val="accent5">
                    <a:lumMod val="75000"/>
                  </a:schemeClr>
                </a:solidFill>
              </a:rPr>
              <a:t> – Taxes</a:t>
            </a:r>
            <a:endParaRPr lang="en-SG" sz="5400" dirty="0">
              <a:solidFill>
                <a:schemeClr val="accent5">
                  <a:lumMod val="75000"/>
                </a:schemeClr>
              </a:solidFill>
            </a:endParaRPr>
          </a:p>
        </p:txBody>
      </p:sp>
      <p:pic>
        <p:nvPicPr>
          <p:cNvPr id="6" name="Picture 5">
            <a:extLst>
              <a:ext uri="{FF2B5EF4-FFF2-40B4-BE49-F238E27FC236}">
                <a16:creationId xmlns:a16="http://schemas.microsoft.com/office/drawing/2014/main" id="{69C4D8A4-D1D2-4E5A-AA39-6D8CF956B7C4}"/>
              </a:ext>
            </a:extLst>
          </p:cNvPr>
          <p:cNvPicPr>
            <a:picLocks noChangeAspect="1"/>
          </p:cNvPicPr>
          <p:nvPr/>
        </p:nvPicPr>
        <p:blipFill rotWithShape="1">
          <a:blip r:embed="rId2"/>
          <a:srcRect t="10222" r="13000" b="5037"/>
          <a:stretch/>
        </p:blipFill>
        <p:spPr>
          <a:xfrm>
            <a:off x="1262887" y="1405826"/>
            <a:ext cx="9666226" cy="5296056"/>
          </a:xfrm>
          <a:prstGeom prst="rect">
            <a:avLst/>
          </a:prstGeom>
        </p:spPr>
      </p:pic>
      <p:sp>
        <p:nvSpPr>
          <p:cNvPr id="7" name="Rectangle 6">
            <a:extLst>
              <a:ext uri="{FF2B5EF4-FFF2-40B4-BE49-F238E27FC236}">
                <a16:creationId xmlns:a16="http://schemas.microsoft.com/office/drawing/2014/main" id="{D6234E73-5691-427E-94EF-5D29D5D3E563}"/>
              </a:ext>
            </a:extLst>
          </p:cNvPr>
          <p:cNvSpPr/>
          <p:nvPr/>
        </p:nvSpPr>
        <p:spPr>
          <a:xfrm>
            <a:off x="1262886" y="6238875"/>
            <a:ext cx="1727963" cy="482504"/>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 name="Straight Arrow Connector 7">
            <a:extLst>
              <a:ext uri="{FF2B5EF4-FFF2-40B4-BE49-F238E27FC236}">
                <a16:creationId xmlns:a16="http://schemas.microsoft.com/office/drawing/2014/main" id="{06451214-85FF-480C-88AE-C45B087576CA}"/>
              </a:ext>
            </a:extLst>
          </p:cNvPr>
          <p:cNvCxnSpPr>
            <a:cxnSpLocks/>
          </p:cNvCxnSpPr>
          <p:nvPr/>
        </p:nvCxnSpPr>
        <p:spPr>
          <a:xfrm flipV="1">
            <a:off x="2990849" y="5452174"/>
            <a:ext cx="1497481" cy="767204"/>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2D284537-34AC-41EE-973B-0EE21BC84450}"/>
              </a:ext>
            </a:extLst>
          </p:cNvPr>
          <p:cNvSpPr/>
          <p:nvPr/>
        </p:nvSpPr>
        <p:spPr>
          <a:xfrm>
            <a:off x="4488330" y="5200202"/>
            <a:ext cx="1992631" cy="638175"/>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TextBox 9">
            <a:extLst>
              <a:ext uri="{FF2B5EF4-FFF2-40B4-BE49-F238E27FC236}">
                <a16:creationId xmlns:a16="http://schemas.microsoft.com/office/drawing/2014/main" id="{25AAF68F-8700-4CD5-B697-927EC933D735}"/>
              </a:ext>
            </a:extLst>
          </p:cNvPr>
          <p:cNvSpPr txBox="1"/>
          <p:nvPr/>
        </p:nvSpPr>
        <p:spPr>
          <a:xfrm>
            <a:off x="6722689" y="4635447"/>
            <a:ext cx="4914828" cy="1200329"/>
          </a:xfrm>
          <a:prstGeom prst="rect">
            <a:avLst/>
          </a:prstGeom>
          <a:solidFill>
            <a:schemeClr val="accent4">
              <a:lumMod val="60000"/>
              <a:lumOff val="40000"/>
            </a:schemeClr>
          </a:solidFill>
        </p:spPr>
        <p:txBody>
          <a:bodyPr wrap="square" rtlCol="0">
            <a:spAutoFit/>
          </a:bodyPr>
          <a:lstStyle/>
          <a:p>
            <a:r>
              <a:rPr lang="en-SG" sz="2400" dirty="0"/>
              <a:t>In this section, you can configure the taxes for both domestic or Rest of the world</a:t>
            </a:r>
          </a:p>
        </p:txBody>
      </p:sp>
      <p:pic>
        <p:nvPicPr>
          <p:cNvPr id="12" name="Picture 11">
            <a:extLst>
              <a:ext uri="{FF2B5EF4-FFF2-40B4-BE49-F238E27FC236}">
                <a16:creationId xmlns:a16="http://schemas.microsoft.com/office/drawing/2014/main" id="{7E0532A0-324C-4BDA-B1B7-7547D92073F3}"/>
              </a:ext>
            </a:extLst>
          </p:cNvPr>
          <p:cNvPicPr>
            <a:picLocks noChangeAspect="1"/>
          </p:cNvPicPr>
          <p:nvPr/>
        </p:nvPicPr>
        <p:blipFill rotWithShape="1">
          <a:blip r:embed="rId3"/>
          <a:srcRect l="30342" t="17361" r="19063" b="52222"/>
          <a:stretch/>
        </p:blipFill>
        <p:spPr>
          <a:xfrm>
            <a:off x="3497246" y="1012051"/>
            <a:ext cx="7997652" cy="3549715"/>
          </a:xfrm>
          <a:prstGeom prst="rect">
            <a:avLst/>
          </a:prstGeom>
        </p:spPr>
      </p:pic>
      <p:cxnSp>
        <p:nvCxnSpPr>
          <p:cNvPr id="13" name="Straight Arrow Connector 12">
            <a:extLst>
              <a:ext uri="{FF2B5EF4-FFF2-40B4-BE49-F238E27FC236}">
                <a16:creationId xmlns:a16="http://schemas.microsoft.com/office/drawing/2014/main" id="{3E59C2B1-289F-4E05-9D46-C9EAB3698142}"/>
              </a:ext>
            </a:extLst>
          </p:cNvPr>
          <p:cNvCxnSpPr>
            <a:cxnSpLocks/>
          </p:cNvCxnSpPr>
          <p:nvPr/>
        </p:nvCxnSpPr>
        <p:spPr>
          <a:xfrm flipV="1">
            <a:off x="5581650" y="2731389"/>
            <a:ext cx="819150" cy="2449316"/>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15132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54483" y="86677"/>
            <a:ext cx="10515600" cy="1325563"/>
          </a:xfrm>
        </p:spPr>
        <p:txBody>
          <a:bodyPr>
            <a:normAutofit fontScale="90000"/>
          </a:bodyPr>
          <a:lstStyle/>
          <a:p>
            <a:r>
              <a:rPr lang="en-SG" sz="5400" dirty="0"/>
              <a:t>Other Shopify Settings</a:t>
            </a:r>
            <a:br>
              <a:rPr lang="en-SG" sz="5400" dirty="0"/>
            </a:br>
            <a:r>
              <a:rPr lang="en-SG" sz="4000" dirty="0">
                <a:solidFill>
                  <a:schemeClr val="accent5">
                    <a:lumMod val="75000"/>
                  </a:schemeClr>
                </a:solidFill>
              </a:rPr>
              <a:t>5 – Locations</a:t>
            </a:r>
            <a:endParaRPr lang="en-SG" sz="5400" dirty="0">
              <a:solidFill>
                <a:schemeClr val="accent5">
                  <a:lumMod val="75000"/>
                </a:schemeClr>
              </a:solidFill>
            </a:endParaRPr>
          </a:p>
        </p:txBody>
      </p:sp>
      <p:pic>
        <p:nvPicPr>
          <p:cNvPr id="6" name="Picture 5">
            <a:extLst>
              <a:ext uri="{FF2B5EF4-FFF2-40B4-BE49-F238E27FC236}">
                <a16:creationId xmlns:a16="http://schemas.microsoft.com/office/drawing/2014/main" id="{69C4D8A4-D1D2-4E5A-AA39-6D8CF956B7C4}"/>
              </a:ext>
            </a:extLst>
          </p:cNvPr>
          <p:cNvPicPr>
            <a:picLocks noChangeAspect="1"/>
          </p:cNvPicPr>
          <p:nvPr/>
        </p:nvPicPr>
        <p:blipFill rotWithShape="1">
          <a:blip r:embed="rId2"/>
          <a:srcRect t="10222" r="13000" b="5037"/>
          <a:stretch/>
        </p:blipFill>
        <p:spPr>
          <a:xfrm>
            <a:off x="1262887" y="1405826"/>
            <a:ext cx="9666226" cy="5296056"/>
          </a:xfrm>
          <a:prstGeom prst="rect">
            <a:avLst/>
          </a:prstGeom>
        </p:spPr>
      </p:pic>
      <p:sp>
        <p:nvSpPr>
          <p:cNvPr id="7" name="Rectangle 6">
            <a:extLst>
              <a:ext uri="{FF2B5EF4-FFF2-40B4-BE49-F238E27FC236}">
                <a16:creationId xmlns:a16="http://schemas.microsoft.com/office/drawing/2014/main" id="{D6234E73-5691-427E-94EF-5D29D5D3E563}"/>
              </a:ext>
            </a:extLst>
          </p:cNvPr>
          <p:cNvSpPr/>
          <p:nvPr/>
        </p:nvSpPr>
        <p:spPr>
          <a:xfrm>
            <a:off x="1262886" y="6238875"/>
            <a:ext cx="1727963" cy="482504"/>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 name="Rectangle 8">
            <a:extLst>
              <a:ext uri="{FF2B5EF4-FFF2-40B4-BE49-F238E27FC236}">
                <a16:creationId xmlns:a16="http://schemas.microsoft.com/office/drawing/2014/main" id="{2D284537-34AC-41EE-973B-0EE21BC84450}"/>
              </a:ext>
            </a:extLst>
          </p:cNvPr>
          <p:cNvSpPr/>
          <p:nvPr/>
        </p:nvSpPr>
        <p:spPr>
          <a:xfrm>
            <a:off x="6431430" y="2731389"/>
            <a:ext cx="2160120" cy="697611"/>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TextBox 9">
            <a:extLst>
              <a:ext uri="{FF2B5EF4-FFF2-40B4-BE49-F238E27FC236}">
                <a16:creationId xmlns:a16="http://schemas.microsoft.com/office/drawing/2014/main" id="{25AAF68F-8700-4CD5-B697-927EC933D735}"/>
              </a:ext>
            </a:extLst>
          </p:cNvPr>
          <p:cNvSpPr txBox="1"/>
          <p:nvPr/>
        </p:nvSpPr>
        <p:spPr>
          <a:xfrm>
            <a:off x="6380159" y="1405826"/>
            <a:ext cx="4914828" cy="1200329"/>
          </a:xfrm>
          <a:prstGeom prst="rect">
            <a:avLst/>
          </a:prstGeom>
          <a:solidFill>
            <a:schemeClr val="accent4">
              <a:lumMod val="60000"/>
              <a:lumOff val="40000"/>
            </a:schemeClr>
          </a:solidFill>
        </p:spPr>
        <p:txBody>
          <a:bodyPr wrap="square" rtlCol="0">
            <a:spAutoFit/>
          </a:bodyPr>
          <a:lstStyle/>
          <a:p>
            <a:r>
              <a:rPr lang="en-SG" sz="2400" dirty="0"/>
              <a:t>In this section, you can configure and add location to stock inventory, fulfil orders and sell products.</a:t>
            </a:r>
          </a:p>
        </p:txBody>
      </p:sp>
      <p:pic>
        <p:nvPicPr>
          <p:cNvPr id="4" name="Picture 3">
            <a:extLst>
              <a:ext uri="{FF2B5EF4-FFF2-40B4-BE49-F238E27FC236}">
                <a16:creationId xmlns:a16="http://schemas.microsoft.com/office/drawing/2014/main" id="{0DF89453-589C-4875-B86E-936967088172}"/>
              </a:ext>
            </a:extLst>
          </p:cNvPr>
          <p:cNvPicPr>
            <a:picLocks noChangeAspect="1"/>
          </p:cNvPicPr>
          <p:nvPr/>
        </p:nvPicPr>
        <p:blipFill rotWithShape="1">
          <a:blip r:embed="rId3"/>
          <a:srcRect l="31172" t="16945" r="18437" b="57083"/>
          <a:stretch/>
        </p:blipFill>
        <p:spPr>
          <a:xfrm>
            <a:off x="4052706" y="3903040"/>
            <a:ext cx="7584811" cy="2199007"/>
          </a:xfrm>
          <a:prstGeom prst="rect">
            <a:avLst/>
          </a:prstGeom>
        </p:spPr>
      </p:pic>
      <p:cxnSp>
        <p:nvCxnSpPr>
          <p:cNvPr id="14" name="Straight Arrow Connector 13">
            <a:extLst>
              <a:ext uri="{FF2B5EF4-FFF2-40B4-BE49-F238E27FC236}">
                <a16:creationId xmlns:a16="http://schemas.microsoft.com/office/drawing/2014/main" id="{A571D327-787E-449C-8D75-E395BF09E3A0}"/>
              </a:ext>
            </a:extLst>
          </p:cNvPr>
          <p:cNvCxnSpPr>
            <a:cxnSpLocks/>
          </p:cNvCxnSpPr>
          <p:nvPr/>
        </p:nvCxnSpPr>
        <p:spPr>
          <a:xfrm>
            <a:off x="8591550" y="3102493"/>
            <a:ext cx="1752600" cy="1192613"/>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6451214-85FF-480C-88AE-C45B087576CA}"/>
              </a:ext>
            </a:extLst>
          </p:cNvPr>
          <p:cNvCxnSpPr>
            <a:cxnSpLocks/>
            <a:endCxn id="9" idx="1"/>
          </p:cNvCxnSpPr>
          <p:nvPr/>
        </p:nvCxnSpPr>
        <p:spPr>
          <a:xfrm flipV="1">
            <a:off x="1516602" y="3080195"/>
            <a:ext cx="4914828" cy="3139183"/>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E9909D1-DEC8-42AD-8A25-B95587486BBC}"/>
              </a:ext>
            </a:extLst>
          </p:cNvPr>
          <p:cNvSpPr/>
          <p:nvPr/>
        </p:nvSpPr>
        <p:spPr>
          <a:xfrm>
            <a:off x="10357613" y="4053853"/>
            <a:ext cx="1396237" cy="546721"/>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Tree>
    <p:extLst>
      <p:ext uri="{BB962C8B-B14F-4D97-AF65-F5344CB8AC3E}">
        <p14:creationId xmlns:p14="http://schemas.microsoft.com/office/powerpoint/2010/main" val="12573692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54483" y="86677"/>
            <a:ext cx="10515600" cy="1325563"/>
          </a:xfrm>
        </p:spPr>
        <p:txBody>
          <a:bodyPr>
            <a:normAutofit fontScale="90000"/>
          </a:bodyPr>
          <a:lstStyle/>
          <a:p>
            <a:r>
              <a:rPr lang="en-SG" sz="5400" dirty="0"/>
              <a:t>Other Shopify Settings</a:t>
            </a:r>
            <a:br>
              <a:rPr lang="en-SG" sz="5400" dirty="0"/>
            </a:br>
            <a:r>
              <a:rPr lang="en-SG" sz="4000" dirty="0">
                <a:solidFill>
                  <a:schemeClr val="accent5">
                    <a:lumMod val="75000"/>
                  </a:schemeClr>
                </a:solidFill>
              </a:rPr>
              <a:t>6 – Gift Cards</a:t>
            </a:r>
            <a:endParaRPr lang="en-SG" sz="5400" dirty="0">
              <a:solidFill>
                <a:schemeClr val="accent5">
                  <a:lumMod val="75000"/>
                </a:schemeClr>
              </a:solidFill>
            </a:endParaRPr>
          </a:p>
        </p:txBody>
      </p:sp>
      <p:pic>
        <p:nvPicPr>
          <p:cNvPr id="6" name="Picture 5">
            <a:extLst>
              <a:ext uri="{FF2B5EF4-FFF2-40B4-BE49-F238E27FC236}">
                <a16:creationId xmlns:a16="http://schemas.microsoft.com/office/drawing/2014/main" id="{69C4D8A4-D1D2-4E5A-AA39-6D8CF956B7C4}"/>
              </a:ext>
            </a:extLst>
          </p:cNvPr>
          <p:cNvPicPr>
            <a:picLocks noChangeAspect="1"/>
          </p:cNvPicPr>
          <p:nvPr/>
        </p:nvPicPr>
        <p:blipFill rotWithShape="1">
          <a:blip r:embed="rId2"/>
          <a:srcRect t="10222" r="13000" b="5037"/>
          <a:stretch/>
        </p:blipFill>
        <p:spPr>
          <a:xfrm>
            <a:off x="1262887" y="1405826"/>
            <a:ext cx="9666226" cy="5296056"/>
          </a:xfrm>
          <a:prstGeom prst="rect">
            <a:avLst/>
          </a:prstGeom>
        </p:spPr>
      </p:pic>
      <p:sp>
        <p:nvSpPr>
          <p:cNvPr id="7" name="Rectangle 6">
            <a:extLst>
              <a:ext uri="{FF2B5EF4-FFF2-40B4-BE49-F238E27FC236}">
                <a16:creationId xmlns:a16="http://schemas.microsoft.com/office/drawing/2014/main" id="{D6234E73-5691-427E-94EF-5D29D5D3E563}"/>
              </a:ext>
            </a:extLst>
          </p:cNvPr>
          <p:cNvSpPr/>
          <p:nvPr/>
        </p:nvSpPr>
        <p:spPr>
          <a:xfrm>
            <a:off x="1262886" y="6238875"/>
            <a:ext cx="1727963" cy="482504"/>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 name="Rectangle 8">
            <a:extLst>
              <a:ext uri="{FF2B5EF4-FFF2-40B4-BE49-F238E27FC236}">
                <a16:creationId xmlns:a16="http://schemas.microsoft.com/office/drawing/2014/main" id="{2D284537-34AC-41EE-973B-0EE21BC84450}"/>
              </a:ext>
            </a:extLst>
          </p:cNvPr>
          <p:cNvSpPr/>
          <p:nvPr/>
        </p:nvSpPr>
        <p:spPr>
          <a:xfrm>
            <a:off x="6604061" y="3389062"/>
            <a:ext cx="2160120" cy="664792"/>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TextBox 9">
            <a:extLst>
              <a:ext uri="{FF2B5EF4-FFF2-40B4-BE49-F238E27FC236}">
                <a16:creationId xmlns:a16="http://schemas.microsoft.com/office/drawing/2014/main" id="{25AAF68F-8700-4CD5-B697-927EC933D735}"/>
              </a:ext>
            </a:extLst>
          </p:cNvPr>
          <p:cNvSpPr txBox="1"/>
          <p:nvPr/>
        </p:nvSpPr>
        <p:spPr>
          <a:xfrm>
            <a:off x="6604061" y="2391867"/>
            <a:ext cx="4914828" cy="830997"/>
          </a:xfrm>
          <a:prstGeom prst="rect">
            <a:avLst/>
          </a:prstGeom>
          <a:solidFill>
            <a:schemeClr val="accent4">
              <a:lumMod val="60000"/>
              <a:lumOff val="40000"/>
            </a:schemeClr>
          </a:solidFill>
        </p:spPr>
        <p:txBody>
          <a:bodyPr wrap="square" rtlCol="0">
            <a:spAutoFit/>
          </a:bodyPr>
          <a:lstStyle/>
          <a:p>
            <a:r>
              <a:rPr lang="en-SG" sz="2400" dirty="0"/>
              <a:t>In this section, you can set the expiry of a gift and enable Apple wallet</a:t>
            </a:r>
          </a:p>
        </p:txBody>
      </p:sp>
      <p:cxnSp>
        <p:nvCxnSpPr>
          <p:cNvPr id="8" name="Straight Arrow Connector 7">
            <a:extLst>
              <a:ext uri="{FF2B5EF4-FFF2-40B4-BE49-F238E27FC236}">
                <a16:creationId xmlns:a16="http://schemas.microsoft.com/office/drawing/2014/main" id="{06451214-85FF-480C-88AE-C45B087576CA}"/>
              </a:ext>
            </a:extLst>
          </p:cNvPr>
          <p:cNvCxnSpPr>
            <a:cxnSpLocks/>
            <a:stCxn id="7" idx="0"/>
            <a:endCxn id="9" idx="1"/>
          </p:cNvCxnSpPr>
          <p:nvPr/>
        </p:nvCxnSpPr>
        <p:spPr>
          <a:xfrm flipV="1">
            <a:off x="2126868" y="3721458"/>
            <a:ext cx="4477193" cy="2517417"/>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28333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54483" y="86677"/>
            <a:ext cx="10515600" cy="1325563"/>
          </a:xfrm>
        </p:spPr>
        <p:txBody>
          <a:bodyPr>
            <a:normAutofit fontScale="90000"/>
          </a:bodyPr>
          <a:lstStyle/>
          <a:p>
            <a:r>
              <a:rPr lang="en-SG" sz="5400" dirty="0"/>
              <a:t>Other Shopify Settings</a:t>
            </a:r>
            <a:br>
              <a:rPr lang="en-SG" sz="5400" dirty="0"/>
            </a:br>
            <a:r>
              <a:rPr lang="en-SG" sz="4000" dirty="0">
                <a:solidFill>
                  <a:schemeClr val="accent5">
                    <a:lumMod val="75000"/>
                  </a:schemeClr>
                </a:solidFill>
              </a:rPr>
              <a:t>7 – Notifications</a:t>
            </a:r>
            <a:endParaRPr lang="en-SG" sz="5400" dirty="0">
              <a:solidFill>
                <a:schemeClr val="accent5">
                  <a:lumMod val="75000"/>
                </a:schemeClr>
              </a:solidFill>
            </a:endParaRPr>
          </a:p>
        </p:txBody>
      </p:sp>
      <p:pic>
        <p:nvPicPr>
          <p:cNvPr id="6" name="Picture 5">
            <a:extLst>
              <a:ext uri="{FF2B5EF4-FFF2-40B4-BE49-F238E27FC236}">
                <a16:creationId xmlns:a16="http://schemas.microsoft.com/office/drawing/2014/main" id="{69C4D8A4-D1D2-4E5A-AA39-6D8CF956B7C4}"/>
              </a:ext>
            </a:extLst>
          </p:cNvPr>
          <p:cNvPicPr>
            <a:picLocks noChangeAspect="1"/>
          </p:cNvPicPr>
          <p:nvPr/>
        </p:nvPicPr>
        <p:blipFill rotWithShape="1">
          <a:blip r:embed="rId2"/>
          <a:srcRect t="10222" r="13000" b="5037"/>
          <a:stretch/>
        </p:blipFill>
        <p:spPr>
          <a:xfrm>
            <a:off x="1262887" y="1405826"/>
            <a:ext cx="9666226" cy="5296056"/>
          </a:xfrm>
          <a:prstGeom prst="rect">
            <a:avLst/>
          </a:prstGeom>
        </p:spPr>
      </p:pic>
      <p:sp>
        <p:nvSpPr>
          <p:cNvPr id="7" name="Rectangle 6">
            <a:extLst>
              <a:ext uri="{FF2B5EF4-FFF2-40B4-BE49-F238E27FC236}">
                <a16:creationId xmlns:a16="http://schemas.microsoft.com/office/drawing/2014/main" id="{D6234E73-5691-427E-94EF-5D29D5D3E563}"/>
              </a:ext>
            </a:extLst>
          </p:cNvPr>
          <p:cNvSpPr/>
          <p:nvPr/>
        </p:nvSpPr>
        <p:spPr>
          <a:xfrm>
            <a:off x="1262886" y="6238875"/>
            <a:ext cx="1727963" cy="482504"/>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 name="Rectangle 8">
            <a:extLst>
              <a:ext uri="{FF2B5EF4-FFF2-40B4-BE49-F238E27FC236}">
                <a16:creationId xmlns:a16="http://schemas.microsoft.com/office/drawing/2014/main" id="{2D284537-34AC-41EE-973B-0EE21BC84450}"/>
              </a:ext>
            </a:extLst>
          </p:cNvPr>
          <p:cNvSpPr/>
          <p:nvPr/>
        </p:nvSpPr>
        <p:spPr>
          <a:xfrm>
            <a:off x="6604061" y="4053855"/>
            <a:ext cx="2006539" cy="556246"/>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TextBox 9">
            <a:extLst>
              <a:ext uri="{FF2B5EF4-FFF2-40B4-BE49-F238E27FC236}">
                <a16:creationId xmlns:a16="http://schemas.microsoft.com/office/drawing/2014/main" id="{25AAF68F-8700-4CD5-B697-927EC933D735}"/>
              </a:ext>
            </a:extLst>
          </p:cNvPr>
          <p:cNvSpPr txBox="1"/>
          <p:nvPr/>
        </p:nvSpPr>
        <p:spPr>
          <a:xfrm>
            <a:off x="6604061" y="1886565"/>
            <a:ext cx="4873564" cy="1938992"/>
          </a:xfrm>
          <a:prstGeom prst="rect">
            <a:avLst/>
          </a:prstGeom>
          <a:solidFill>
            <a:schemeClr val="accent4">
              <a:lumMod val="60000"/>
              <a:lumOff val="40000"/>
            </a:schemeClr>
          </a:solidFill>
        </p:spPr>
        <p:txBody>
          <a:bodyPr wrap="square" rtlCol="0">
            <a:spAutoFit/>
          </a:bodyPr>
          <a:lstStyle/>
          <a:p>
            <a:r>
              <a:rPr lang="en-SG" sz="2400" dirty="0"/>
              <a:t>In this section, you can customize notifications to customers like Order Confirmation, Order cancelled, order refund, shipping confirmation, and etc.</a:t>
            </a:r>
          </a:p>
        </p:txBody>
      </p:sp>
      <p:cxnSp>
        <p:nvCxnSpPr>
          <p:cNvPr id="8" name="Straight Arrow Connector 7">
            <a:extLst>
              <a:ext uri="{FF2B5EF4-FFF2-40B4-BE49-F238E27FC236}">
                <a16:creationId xmlns:a16="http://schemas.microsoft.com/office/drawing/2014/main" id="{06451214-85FF-480C-88AE-C45B087576CA}"/>
              </a:ext>
            </a:extLst>
          </p:cNvPr>
          <p:cNvCxnSpPr>
            <a:cxnSpLocks/>
            <a:stCxn id="7" idx="0"/>
            <a:endCxn id="9" idx="1"/>
          </p:cNvCxnSpPr>
          <p:nvPr/>
        </p:nvCxnSpPr>
        <p:spPr>
          <a:xfrm flipV="1">
            <a:off x="2126868" y="4331978"/>
            <a:ext cx="4477193" cy="1906897"/>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22625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54483" y="86677"/>
            <a:ext cx="10515600" cy="1325563"/>
          </a:xfrm>
        </p:spPr>
        <p:txBody>
          <a:bodyPr>
            <a:normAutofit fontScale="90000"/>
          </a:bodyPr>
          <a:lstStyle/>
          <a:p>
            <a:r>
              <a:rPr lang="en-SG" sz="5400" dirty="0"/>
              <a:t>Other Shopify Settings</a:t>
            </a:r>
            <a:br>
              <a:rPr lang="en-SG" sz="5400" dirty="0"/>
            </a:br>
            <a:r>
              <a:rPr lang="en-SG" sz="4000" dirty="0">
                <a:solidFill>
                  <a:schemeClr val="accent5">
                    <a:lumMod val="75000"/>
                  </a:schemeClr>
                </a:solidFill>
              </a:rPr>
              <a:t>8 – Sales Channel</a:t>
            </a:r>
            <a:endParaRPr lang="en-SG" sz="5400" dirty="0">
              <a:solidFill>
                <a:schemeClr val="accent5">
                  <a:lumMod val="75000"/>
                </a:schemeClr>
              </a:solidFill>
            </a:endParaRPr>
          </a:p>
        </p:txBody>
      </p:sp>
      <p:pic>
        <p:nvPicPr>
          <p:cNvPr id="6" name="Picture 5">
            <a:extLst>
              <a:ext uri="{FF2B5EF4-FFF2-40B4-BE49-F238E27FC236}">
                <a16:creationId xmlns:a16="http://schemas.microsoft.com/office/drawing/2014/main" id="{69C4D8A4-D1D2-4E5A-AA39-6D8CF956B7C4}"/>
              </a:ext>
            </a:extLst>
          </p:cNvPr>
          <p:cNvPicPr>
            <a:picLocks noChangeAspect="1"/>
          </p:cNvPicPr>
          <p:nvPr/>
        </p:nvPicPr>
        <p:blipFill rotWithShape="1">
          <a:blip r:embed="rId2"/>
          <a:srcRect t="10222" r="13000" b="5037"/>
          <a:stretch/>
        </p:blipFill>
        <p:spPr>
          <a:xfrm>
            <a:off x="1262887" y="1405826"/>
            <a:ext cx="9666226" cy="5296056"/>
          </a:xfrm>
          <a:prstGeom prst="rect">
            <a:avLst/>
          </a:prstGeom>
        </p:spPr>
      </p:pic>
      <p:sp>
        <p:nvSpPr>
          <p:cNvPr id="7" name="Rectangle 6">
            <a:extLst>
              <a:ext uri="{FF2B5EF4-FFF2-40B4-BE49-F238E27FC236}">
                <a16:creationId xmlns:a16="http://schemas.microsoft.com/office/drawing/2014/main" id="{D6234E73-5691-427E-94EF-5D29D5D3E563}"/>
              </a:ext>
            </a:extLst>
          </p:cNvPr>
          <p:cNvSpPr/>
          <p:nvPr/>
        </p:nvSpPr>
        <p:spPr>
          <a:xfrm>
            <a:off x="1262886" y="6238875"/>
            <a:ext cx="1727963" cy="482504"/>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 name="Rectangle 8">
            <a:extLst>
              <a:ext uri="{FF2B5EF4-FFF2-40B4-BE49-F238E27FC236}">
                <a16:creationId xmlns:a16="http://schemas.microsoft.com/office/drawing/2014/main" id="{2D284537-34AC-41EE-973B-0EE21BC84450}"/>
              </a:ext>
            </a:extLst>
          </p:cNvPr>
          <p:cNvSpPr/>
          <p:nvPr/>
        </p:nvSpPr>
        <p:spPr>
          <a:xfrm>
            <a:off x="6604061" y="5174051"/>
            <a:ext cx="2006539" cy="556246"/>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TextBox 9">
            <a:extLst>
              <a:ext uri="{FF2B5EF4-FFF2-40B4-BE49-F238E27FC236}">
                <a16:creationId xmlns:a16="http://schemas.microsoft.com/office/drawing/2014/main" id="{25AAF68F-8700-4CD5-B697-927EC933D735}"/>
              </a:ext>
            </a:extLst>
          </p:cNvPr>
          <p:cNvSpPr txBox="1"/>
          <p:nvPr/>
        </p:nvSpPr>
        <p:spPr>
          <a:xfrm>
            <a:off x="1730497" y="3491035"/>
            <a:ext cx="4873564" cy="1569660"/>
          </a:xfrm>
          <a:prstGeom prst="rect">
            <a:avLst/>
          </a:prstGeom>
          <a:solidFill>
            <a:schemeClr val="accent4">
              <a:lumMod val="60000"/>
              <a:lumOff val="40000"/>
            </a:schemeClr>
          </a:solidFill>
        </p:spPr>
        <p:txBody>
          <a:bodyPr wrap="square" rtlCol="0">
            <a:spAutoFit/>
          </a:bodyPr>
          <a:lstStyle/>
          <a:p>
            <a:r>
              <a:rPr lang="en-SG" sz="2400" dirty="0"/>
              <a:t>In this section, you can configure and add different sales channels like Facebook shop, Instagram, Messenger, and etc.</a:t>
            </a:r>
          </a:p>
        </p:txBody>
      </p:sp>
      <p:cxnSp>
        <p:nvCxnSpPr>
          <p:cNvPr id="8" name="Straight Arrow Connector 7">
            <a:extLst>
              <a:ext uri="{FF2B5EF4-FFF2-40B4-BE49-F238E27FC236}">
                <a16:creationId xmlns:a16="http://schemas.microsoft.com/office/drawing/2014/main" id="{06451214-85FF-480C-88AE-C45B087576CA}"/>
              </a:ext>
            </a:extLst>
          </p:cNvPr>
          <p:cNvCxnSpPr>
            <a:cxnSpLocks/>
            <a:stCxn id="7" idx="0"/>
            <a:endCxn id="9" idx="1"/>
          </p:cNvCxnSpPr>
          <p:nvPr/>
        </p:nvCxnSpPr>
        <p:spPr>
          <a:xfrm flipV="1">
            <a:off x="2126868" y="5452174"/>
            <a:ext cx="4477193" cy="786701"/>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87825D44-EC3B-4DDB-97DD-BB47CC2F43B9}"/>
              </a:ext>
            </a:extLst>
          </p:cNvPr>
          <p:cNvPicPr>
            <a:picLocks noChangeAspect="1"/>
          </p:cNvPicPr>
          <p:nvPr/>
        </p:nvPicPr>
        <p:blipFill rotWithShape="1">
          <a:blip r:embed="rId3"/>
          <a:srcRect l="32813" t="23889" r="34141" b="18194"/>
          <a:stretch/>
        </p:blipFill>
        <p:spPr>
          <a:xfrm>
            <a:off x="6900038" y="904875"/>
            <a:ext cx="4029075" cy="3971925"/>
          </a:xfrm>
          <a:prstGeom prst="rect">
            <a:avLst/>
          </a:prstGeom>
        </p:spPr>
      </p:pic>
      <p:cxnSp>
        <p:nvCxnSpPr>
          <p:cNvPr id="11" name="Straight Arrow Connector 10">
            <a:extLst>
              <a:ext uri="{FF2B5EF4-FFF2-40B4-BE49-F238E27FC236}">
                <a16:creationId xmlns:a16="http://schemas.microsoft.com/office/drawing/2014/main" id="{A59276BB-D13F-4F7F-AF2D-EA568217C6F2}"/>
              </a:ext>
            </a:extLst>
          </p:cNvPr>
          <p:cNvCxnSpPr>
            <a:cxnSpLocks/>
          </p:cNvCxnSpPr>
          <p:nvPr/>
        </p:nvCxnSpPr>
        <p:spPr>
          <a:xfrm flipV="1">
            <a:off x="6900038" y="4027853"/>
            <a:ext cx="412427" cy="1126701"/>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89096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54483" y="86677"/>
            <a:ext cx="10515600" cy="1325563"/>
          </a:xfrm>
        </p:spPr>
        <p:txBody>
          <a:bodyPr>
            <a:normAutofit fontScale="90000"/>
          </a:bodyPr>
          <a:lstStyle/>
          <a:p>
            <a:r>
              <a:rPr lang="en-SG" sz="5400" dirty="0"/>
              <a:t>Other Shopify Settings</a:t>
            </a:r>
            <a:br>
              <a:rPr lang="en-SG" sz="5400" dirty="0"/>
            </a:br>
            <a:r>
              <a:rPr lang="en-SG" sz="4000" dirty="0">
                <a:solidFill>
                  <a:schemeClr val="accent5">
                    <a:lumMod val="75000"/>
                  </a:schemeClr>
                </a:solidFill>
              </a:rPr>
              <a:t>9 – Plan and Permission</a:t>
            </a:r>
            <a:endParaRPr lang="en-SG" sz="5400" dirty="0">
              <a:solidFill>
                <a:schemeClr val="accent5">
                  <a:lumMod val="75000"/>
                </a:schemeClr>
              </a:solidFill>
            </a:endParaRPr>
          </a:p>
        </p:txBody>
      </p:sp>
      <p:pic>
        <p:nvPicPr>
          <p:cNvPr id="6" name="Picture 5">
            <a:extLst>
              <a:ext uri="{FF2B5EF4-FFF2-40B4-BE49-F238E27FC236}">
                <a16:creationId xmlns:a16="http://schemas.microsoft.com/office/drawing/2014/main" id="{69C4D8A4-D1D2-4E5A-AA39-6D8CF956B7C4}"/>
              </a:ext>
            </a:extLst>
          </p:cNvPr>
          <p:cNvPicPr>
            <a:picLocks noChangeAspect="1"/>
          </p:cNvPicPr>
          <p:nvPr/>
        </p:nvPicPr>
        <p:blipFill rotWithShape="1">
          <a:blip r:embed="rId2"/>
          <a:srcRect t="10222" r="13000" b="5037"/>
          <a:stretch/>
        </p:blipFill>
        <p:spPr>
          <a:xfrm>
            <a:off x="1262887" y="1405826"/>
            <a:ext cx="9666226" cy="5296056"/>
          </a:xfrm>
          <a:prstGeom prst="rect">
            <a:avLst/>
          </a:prstGeom>
        </p:spPr>
      </p:pic>
      <p:sp>
        <p:nvSpPr>
          <p:cNvPr id="7" name="Rectangle 6">
            <a:extLst>
              <a:ext uri="{FF2B5EF4-FFF2-40B4-BE49-F238E27FC236}">
                <a16:creationId xmlns:a16="http://schemas.microsoft.com/office/drawing/2014/main" id="{D6234E73-5691-427E-94EF-5D29D5D3E563}"/>
              </a:ext>
            </a:extLst>
          </p:cNvPr>
          <p:cNvSpPr/>
          <p:nvPr/>
        </p:nvSpPr>
        <p:spPr>
          <a:xfrm>
            <a:off x="1262886" y="6238875"/>
            <a:ext cx="1727963" cy="482504"/>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 name="Rectangle 8">
            <a:extLst>
              <a:ext uri="{FF2B5EF4-FFF2-40B4-BE49-F238E27FC236}">
                <a16:creationId xmlns:a16="http://schemas.microsoft.com/office/drawing/2014/main" id="{2D284537-34AC-41EE-973B-0EE21BC84450}"/>
              </a:ext>
            </a:extLst>
          </p:cNvPr>
          <p:cNvSpPr/>
          <p:nvPr/>
        </p:nvSpPr>
        <p:spPr>
          <a:xfrm>
            <a:off x="8813861" y="2731388"/>
            <a:ext cx="2006539" cy="697611"/>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TextBox 9">
            <a:extLst>
              <a:ext uri="{FF2B5EF4-FFF2-40B4-BE49-F238E27FC236}">
                <a16:creationId xmlns:a16="http://schemas.microsoft.com/office/drawing/2014/main" id="{25AAF68F-8700-4CD5-B697-927EC933D735}"/>
              </a:ext>
            </a:extLst>
          </p:cNvPr>
          <p:cNvSpPr txBox="1"/>
          <p:nvPr/>
        </p:nvSpPr>
        <p:spPr>
          <a:xfrm>
            <a:off x="6327613" y="1030112"/>
            <a:ext cx="4972496" cy="1569660"/>
          </a:xfrm>
          <a:prstGeom prst="rect">
            <a:avLst/>
          </a:prstGeom>
          <a:solidFill>
            <a:schemeClr val="accent4">
              <a:lumMod val="60000"/>
              <a:lumOff val="40000"/>
            </a:schemeClr>
          </a:solidFill>
        </p:spPr>
        <p:txBody>
          <a:bodyPr wrap="square" rtlCol="0">
            <a:spAutoFit/>
          </a:bodyPr>
          <a:lstStyle/>
          <a:p>
            <a:r>
              <a:rPr lang="en-SG" sz="2400" dirty="0"/>
              <a:t>In this section, you can view the plan details, set-up staff account and change the store status like </a:t>
            </a:r>
            <a:r>
              <a:rPr lang="en-SG" sz="2400" b="1" u="sng" dirty="0"/>
              <a:t>pause your store</a:t>
            </a:r>
            <a:r>
              <a:rPr lang="en-SG" sz="2400" dirty="0"/>
              <a:t> or </a:t>
            </a:r>
            <a:r>
              <a:rPr lang="en-SG" sz="2400" b="1" u="sng" dirty="0"/>
              <a:t>close your store</a:t>
            </a:r>
            <a:r>
              <a:rPr lang="en-SG" sz="2400" dirty="0"/>
              <a:t>.</a:t>
            </a:r>
          </a:p>
        </p:txBody>
      </p:sp>
      <p:cxnSp>
        <p:nvCxnSpPr>
          <p:cNvPr id="8" name="Straight Arrow Connector 7">
            <a:extLst>
              <a:ext uri="{FF2B5EF4-FFF2-40B4-BE49-F238E27FC236}">
                <a16:creationId xmlns:a16="http://schemas.microsoft.com/office/drawing/2014/main" id="{06451214-85FF-480C-88AE-C45B087576CA}"/>
              </a:ext>
            </a:extLst>
          </p:cNvPr>
          <p:cNvCxnSpPr>
            <a:cxnSpLocks/>
            <a:stCxn id="7" idx="0"/>
            <a:endCxn id="9" idx="1"/>
          </p:cNvCxnSpPr>
          <p:nvPr/>
        </p:nvCxnSpPr>
        <p:spPr>
          <a:xfrm flipV="1">
            <a:off x="2126868" y="3080194"/>
            <a:ext cx="6686993" cy="3158681"/>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82445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54483" y="86677"/>
            <a:ext cx="10515600" cy="1325563"/>
          </a:xfrm>
        </p:spPr>
        <p:txBody>
          <a:bodyPr>
            <a:normAutofit fontScale="90000"/>
          </a:bodyPr>
          <a:lstStyle/>
          <a:p>
            <a:r>
              <a:rPr lang="en-SG" sz="5400" dirty="0"/>
              <a:t>Other Shopify Settings</a:t>
            </a:r>
            <a:br>
              <a:rPr lang="en-SG" sz="5400" dirty="0"/>
            </a:br>
            <a:r>
              <a:rPr lang="en-SG" sz="4000" dirty="0">
                <a:solidFill>
                  <a:schemeClr val="accent5">
                    <a:lumMod val="75000"/>
                  </a:schemeClr>
                </a:solidFill>
              </a:rPr>
              <a:t>9 – Plan and Permission</a:t>
            </a:r>
            <a:endParaRPr lang="en-SG" sz="5400" dirty="0">
              <a:solidFill>
                <a:schemeClr val="accent5">
                  <a:lumMod val="75000"/>
                </a:schemeClr>
              </a:solidFill>
            </a:endParaRPr>
          </a:p>
        </p:txBody>
      </p:sp>
      <p:pic>
        <p:nvPicPr>
          <p:cNvPr id="3" name="Picture 2">
            <a:extLst>
              <a:ext uri="{FF2B5EF4-FFF2-40B4-BE49-F238E27FC236}">
                <a16:creationId xmlns:a16="http://schemas.microsoft.com/office/drawing/2014/main" id="{5491CA71-A682-448D-9A8F-2DEB2401CB8F}"/>
              </a:ext>
            </a:extLst>
          </p:cNvPr>
          <p:cNvPicPr>
            <a:picLocks noChangeAspect="1"/>
          </p:cNvPicPr>
          <p:nvPr/>
        </p:nvPicPr>
        <p:blipFill rotWithShape="1">
          <a:blip r:embed="rId2"/>
          <a:srcRect l="25917" t="65037" r="20250" b="9926"/>
          <a:stretch/>
        </p:blipFill>
        <p:spPr>
          <a:xfrm>
            <a:off x="957103" y="1845310"/>
            <a:ext cx="10422732" cy="2726690"/>
          </a:xfrm>
          <a:prstGeom prst="rect">
            <a:avLst/>
          </a:prstGeom>
        </p:spPr>
      </p:pic>
      <p:sp>
        <p:nvSpPr>
          <p:cNvPr id="11" name="TextBox 10">
            <a:extLst>
              <a:ext uri="{FF2B5EF4-FFF2-40B4-BE49-F238E27FC236}">
                <a16:creationId xmlns:a16="http://schemas.microsoft.com/office/drawing/2014/main" id="{6EB2949C-5718-474E-9021-71209629B184}"/>
              </a:ext>
            </a:extLst>
          </p:cNvPr>
          <p:cNvSpPr txBox="1"/>
          <p:nvPr/>
        </p:nvSpPr>
        <p:spPr>
          <a:xfrm>
            <a:off x="1101091" y="4935506"/>
            <a:ext cx="10278744" cy="1815882"/>
          </a:xfrm>
          <a:prstGeom prst="rect">
            <a:avLst/>
          </a:prstGeom>
          <a:solidFill>
            <a:schemeClr val="accent4">
              <a:lumMod val="60000"/>
              <a:lumOff val="40000"/>
            </a:schemeClr>
          </a:solidFill>
        </p:spPr>
        <p:txBody>
          <a:bodyPr wrap="square" rtlCol="0">
            <a:spAutoFit/>
          </a:bodyPr>
          <a:lstStyle/>
          <a:p>
            <a:r>
              <a:rPr lang="en-US" sz="2800" dirty="0"/>
              <a:t>This section is very important since in this lesson we are using a free trial plan so if you don’t want your credit card to be charged with selected plan for testing the checkout purposes then you need to “Close the store” to not incur further charges.</a:t>
            </a:r>
          </a:p>
        </p:txBody>
      </p:sp>
    </p:spTree>
    <p:extLst>
      <p:ext uri="{BB962C8B-B14F-4D97-AF65-F5344CB8AC3E}">
        <p14:creationId xmlns:p14="http://schemas.microsoft.com/office/powerpoint/2010/main" val="19374673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9.5</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9.5</a:t>
            </a:r>
          </a:p>
        </p:txBody>
      </p:sp>
    </p:spTree>
    <p:extLst>
      <p:ext uri="{BB962C8B-B14F-4D97-AF65-F5344CB8AC3E}">
        <p14:creationId xmlns:p14="http://schemas.microsoft.com/office/powerpoint/2010/main" val="31821431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729-1E62-475D-8DCD-3E587A5AB69E}"/>
              </a:ext>
            </a:extLst>
          </p:cNvPr>
          <p:cNvSpPr>
            <a:spLocks noGrp="1"/>
          </p:cNvSpPr>
          <p:nvPr>
            <p:ph type="title"/>
          </p:nvPr>
        </p:nvSpPr>
        <p:spPr>
          <a:xfrm>
            <a:off x="554483" y="86677"/>
            <a:ext cx="10515600" cy="1325563"/>
          </a:xfrm>
        </p:spPr>
        <p:txBody>
          <a:bodyPr>
            <a:normAutofit/>
          </a:bodyPr>
          <a:lstStyle/>
          <a:p>
            <a:r>
              <a:rPr lang="en-SG" sz="5400" dirty="0"/>
              <a:t>Manage Orders</a:t>
            </a:r>
            <a:endParaRPr lang="en-SG" sz="5400" dirty="0">
              <a:solidFill>
                <a:schemeClr val="accent5">
                  <a:lumMod val="75000"/>
                </a:schemeClr>
              </a:solidFill>
            </a:endParaRPr>
          </a:p>
        </p:txBody>
      </p:sp>
      <p:pic>
        <p:nvPicPr>
          <p:cNvPr id="3" name="Picture 2">
            <a:extLst>
              <a:ext uri="{FF2B5EF4-FFF2-40B4-BE49-F238E27FC236}">
                <a16:creationId xmlns:a16="http://schemas.microsoft.com/office/drawing/2014/main" id="{DE6658DA-EB36-48C2-B85B-9998A185FA21}"/>
              </a:ext>
            </a:extLst>
          </p:cNvPr>
          <p:cNvPicPr>
            <a:picLocks noChangeAspect="1"/>
          </p:cNvPicPr>
          <p:nvPr/>
        </p:nvPicPr>
        <p:blipFill rotWithShape="1">
          <a:blip r:embed="rId2"/>
          <a:srcRect l="-666" t="15852" r="1583" b="37333"/>
          <a:stretch/>
        </p:blipFill>
        <p:spPr>
          <a:xfrm>
            <a:off x="-95250" y="1563370"/>
            <a:ext cx="12175490" cy="3789680"/>
          </a:xfrm>
          <a:prstGeom prst="rect">
            <a:avLst/>
          </a:prstGeom>
        </p:spPr>
      </p:pic>
      <p:sp>
        <p:nvSpPr>
          <p:cNvPr id="7" name="Rectangle 6">
            <a:extLst>
              <a:ext uri="{FF2B5EF4-FFF2-40B4-BE49-F238E27FC236}">
                <a16:creationId xmlns:a16="http://schemas.microsoft.com/office/drawing/2014/main" id="{6910D2CE-54EF-4ADC-A3E4-DD467BAED8E0}"/>
              </a:ext>
            </a:extLst>
          </p:cNvPr>
          <p:cNvSpPr/>
          <p:nvPr/>
        </p:nvSpPr>
        <p:spPr>
          <a:xfrm>
            <a:off x="111761" y="2171699"/>
            <a:ext cx="1602740" cy="381001"/>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 name="Straight Arrow Connector 7">
            <a:extLst>
              <a:ext uri="{FF2B5EF4-FFF2-40B4-BE49-F238E27FC236}">
                <a16:creationId xmlns:a16="http://schemas.microsoft.com/office/drawing/2014/main" id="{E1A7035A-FADA-44AA-A3AA-24939AE600F0}"/>
              </a:ext>
            </a:extLst>
          </p:cNvPr>
          <p:cNvCxnSpPr>
            <a:cxnSpLocks/>
          </p:cNvCxnSpPr>
          <p:nvPr/>
        </p:nvCxnSpPr>
        <p:spPr>
          <a:xfrm>
            <a:off x="1714501" y="2552700"/>
            <a:ext cx="581024" cy="156210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D9C95F1-E3C0-444C-829E-1DDA1517388A}"/>
              </a:ext>
            </a:extLst>
          </p:cNvPr>
          <p:cNvSpPr txBox="1"/>
          <p:nvPr/>
        </p:nvSpPr>
        <p:spPr>
          <a:xfrm>
            <a:off x="1503681" y="5268881"/>
            <a:ext cx="10278744" cy="1384995"/>
          </a:xfrm>
          <a:prstGeom prst="rect">
            <a:avLst/>
          </a:prstGeom>
          <a:solidFill>
            <a:schemeClr val="accent4">
              <a:lumMod val="60000"/>
              <a:lumOff val="40000"/>
            </a:schemeClr>
          </a:solidFill>
        </p:spPr>
        <p:txBody>
          <a:bodyPr wrap="square" rtlCol="0">
            <a:spAutoFit/>
          </a:bodyPr>
          <a:lstStyle/>
          <a:p>
            <a:r>
              <a:rPr lang="en-US" sz="2800" dirty="0"/>
              <a:t>In this section, you can manage the orders received from the customers and you will receive an e-mail notification from Shopify on your configured e-mail.</a:t>
            </a:r>
          </a:p>
        </p:txBody>
      </p:sp>
    </p:spTree>
    <p:extLst>
      <p:ext uri="{BB962C8B-B14F-4D97-AF65-F5344CB8AC3E}">
        <p14:creationId xmlns:p14="http://schemas.microsoft.com/office/powerpoint/2010/main" val="9641139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BE93753-CA28-48DE-A733-9D3452CEE23B}"/>
              </a:ext>
            </a:extLst>
          </p:cNvPr>
          <p:cNvPicPr>
            <a:picLocks noChangeAspect="1"/>
          </p:cNvPicPr>
          <p:nvPr/>
        </p:nvPicPr>
        <p:blipFill rotWithShape="1">
          <a:blip r:embed="rId2"/>
          <a:srcRect l="17108" t="23194" r="38516" b="9028"/>
          <a:stretch/>
        </p:blipFill>
        <p:spPr>
          <a:xfrm>
            <a:off x="779017" y="1415851"/>
            <a:ext cx="6233416" cy="5355472"/>
          </a:xfrm>
          <a:prstGeom prst="rect">
            <a:avLst/>
          </a:prstGeom>
        </p:spPr>
      </p:pic>
      <p:sp>
        <p:nvSpPr>
          <p:cNvPr id="9" name="TextBox 8">
            <a:extLst>
              <a:ext uri="{FF2B5EF4-FFF2-40B4-BE49-F238E27FC236}">
                <a16:creationId xmlns:a16="http://schemas.microsoft.com/office/drawing/2014/main" id="{C8D68085-E4F0-4897-A072-7A01CE7A8A7B}"/>
              </a:ext>
            </a:extLst>
          </p:cNvPr>
          <p:cNvSpPr txBox="1"/>
          <p:nvPr/>
        </p:nvSpPr>
        <p:spPr>
          <a:xfrm>
            <a:off x="7536308" y="3026697"/>
            <a:ext cx="3781425" cy="1200329"/>
          </a:xfrm>
          <a:prstGeom prst="rect">
            <a:avLst/>
          </a:prstGeom>
          <a:solidFill>
            <a:schemeClr val="accent4">
              <a:lumMod val="60000"/>
              <a:lumOff val="40000"/>
            </a:schemeClr>
          </a:solidFill>
        </p:spPr>
        <p:txBody>
          <a:bodyPr wrap="square" rtlCol="0">
            <a:spAutoFit/>
          </a:bodyPr>
          <a:lstStyle/>
          <a:p>
            <a:r>
              <a:rPr lang="en-US" sz="2400" dirty="0"/>
              <a:t>E-mail notification for any orders received from the customers.</a:t>
            </a:r>
          </a:p>
        </p:txBody>
      </p:sp>
      <p:sp>
        <p:nvSpPr>
          <p:cNvPr id="11" name="Title 1">
            <a:extLst>
              <a:ext uri="{FF2B5EF4-FFF2-40B4-BE49-F238E27FC236}">
                <a16:creationId xmlns:a16="http://schemas.microsoft.com/office/drawing/2014/main" id="{264D8830-5322-4D83-A9AA-CC862BBDABA7}"/>
              </a:ext>
            </a:extLst>
          </p:cNvPr>
          <p:cNvSpPr txBox="1">
            <a:spLocks/>
          </p:cNvSpPr>
          <p:nvPr/>
        </p:nvSpPr>
        <p:spPr>
          <a:xfrm>
            <a:off x="554483" y="8667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sz="5400"/>
              <a:t>Manage Orders</a:t>
            </a:r>
            <a:endParaRPr lang="en-SG" sz="5400" dirty="0">
              <a:solidFill>
                <a:schemeClr val="accent5">
                  <a:lumMod val="75000"/>
                </a:schemeClr>
              </a:solidFill>
            </a:endParaRPr>
          </a:p>
        </p:txBody>
      </p:sp>
    </p:spTree>
    <p:extLst>
      <p:ext uri="{BB962C8B-B14F-4D97-AF65-F5344CB8AC3E}">
        <p14:creationId xmlns:p14="http://schemas.microsoft.com/office/powerpoint/2010/main" val="10715151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8D68085-E4F0-4897-A072-7A01CE7A8A7B}"/>
              </a:ext>
            </a:extLst>
          </p:cNvPr>
          <p:cNvSpPr txBox="1"/>
          <p:nvPr/>
        </p:nvSpPr>
        <p:spPr>
          <a:xfrm>
            <a:off x="6723508" y="3317149"/>
            <a:ext cx="3781425" cy="1569660"/>
          </a:xfrm>
          <a:prstGeom prst="rect">
            <a:avLst/>
          </a:prstGeom>
          <a:solidFill>
            <a:schemeClr val="accent4">
              <a:lumMod val="60000"/>
              <a:lumOff val="40000"/>
            </a:schemeClr>
          </a:solidFill>
        </p:spPr>
        <p:txBody>
          <a:bodyPr wrap="square" rtlCol="0">
            <a:spAutoFit/>
          </a:bodyPr>
          <a:lstStyle/>
          <a:p>
            <a:r>
              <a:rPr lang="en-US" sz="2400" dirty="0"/>
              <a:t>Text Notification to the Customers after purchasing the products/services from the Shopify site.</a:t>
            </a:r>
          </a:p>
        </p:txBody>
      </p:sp>
      <p:pic>
        <p:nvPicPr>
          <p:cNvPr id="5" name="Picture 4" descr="A screenshot of a social media post&#10;&#10;Description automatically generated">
            <a:extLst>
              <a:ext uri="{FF2B5EF4-FFF2-40B4-BE49-F238E27FC236}">
                <a16:creationId xmlns:a16="http://schemas.microsoft.com/office/drawing/2014/main" id="{5638D774-DF88-4DA8-AFC7-E18996FEE54A}"/>
              </a:ext>
            </a:extLst>
          </p:cNvPr>
          <p:cNvPicPr>
            <a:picLocks noChangeAspect="1"/>
          </p:cNvPicPr>
          <p:nvPr/>
        </p:nvPicPr>
        <p:blipFill rotWithShape="1">
          <a:blip r:embed="rId2">
            <a:extLst>
              <a:ext uri="{28A0092B-C50C-407E-A947-70E740481C1C}">
                <a14:useLocalDpi xmlns:a14="http://schemas.microsoft.com/office/drawing/2010/main" val="0"/>
              </a:ext>
            </a:extLst>
          </a:blip>
          <a:srcRect t="-2519" b="50000"/>
          <a:stretch/>
        </p:blipFill>
        <p:spPr>
          <a:xfrm>
            <a:off x="1236217" y="1395697"/>
            <a:ext cx="5059808" cy="5462303"/>
          </a:xfrm>
          <a:prstGeom prst="rect">
            <a:avLst/>
          </a:prstGeom>
        </p:spPr>
      </p:pic>
      <p:sp>
        <p:nvSpPr>
          <p:cNvPr id="10" name="Title 1">
            <a:extLst>
              <a:ext uri="{FF2B5EF4-FFF2-40B4-BE49-F238E27FC236}">
                <a16:creationId xmlns:a16="http://schemas.microsoft.com/office/drawing/2014/main" id="{6FDF1513-94C3-41FB-884B-D51B4CFC2854}"/>
              </a:ext>
            </a:extLst>
          </p:cNvPr>
          <p:cNvSpPr txBox="1">
            <a:spLocks/>
          </p:cNvSpPr>
          <p:nvPr/>
        </p:nvSpPr>
        <p:spPr>
          <a:xfrm>
            <a:off x="554483" y="8667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sz="5400"/>
              <a:t>Manage Orders</a:t>
            </a:r>
            <a:endParaRPr lang="en-SG" sz="5400" dirty="0">
              <a:solidFill>
                <a:schemeClr val="accent5">
                  <a:lumMod val="75000"/>
                </a:schemeClr>
              </a:solidFill>
            </a:endParaRPr>
          </a:p>
        </p:txBody>
      </p:sp>
    </p:spTree>
    <p:extLst>
      <p:ext uri="{BB962C8B-B14F-4D97-AF65-F5344CB8AC3E}">
        <p14:creationId xmlns:p14="http://schemas.microsoft.com/office/powerpoint/2010/main" val="9110420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2C898B-E900-4420-91B8-624FFCD52B63}"/>
              </a:ext>
            </a:extLst>
          </p:cNvPr>
          <p:cNvPicPr>
            <a:picLocks noChangeAspect="1"/>
          </p:cNvPicPr>
          <p:nvPr/>
        </p:nvPicPr>
        <p:blipFill rotWithShape="1">
          <a:blip r:embed="rId2"/>
          <a:srcRect l="16166" t="28445" r="1749" b="41333"/>
          <a:stretch/>
        </p:blipFill>
        <p:spPr>
          <a:xfrm>
            <a:off x="0" y="1531619"/>
            <a:ext cx="12192000" cy="2840355"/>
          </a:xfrm>
          <a:prstGeom prst="rect">
            <a:avLst/>
          </a:prstGeom>
        </p:spPr>
      </p:pic>
      <p:cxnSp>
        <p:nvCxnSpPr>
          <p:cNvPr id="6" name="Straight Arrow Connector 5">
            <a:extLst>
              <a:ext uri="{FF2B5EF4-FFF2-40B4-BE49-F238E27FC236}">
                <a16:creationId xmlns:a16="http://schemas.microsoft.com/office/drawing/2014/main" id="{95DA69E7-938C-4865-AC90-4E561B4A29A9}"/>
              </a:ext>
            </a:extLst>
          </p:cNvPr>
          <p:cNvCxnSpPr>
            <a:cxnSpLocks/>
          </p:cNvCxnSpPr>
          <p:nvPr/>
        </p:nvCxnSpPr>
        <p:spPr>
          <a:xfrm flipH="1">
            <a:off x="1395414" y="2495550"/>
            <a:ext cx="5057773" cy="240030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AC8BDCCD-7383-427A-B945-4088F7974285}"/>
              </a:ext>
            </a:extLst>
          </p:cNvPr>
          <p:cNvPicPr>
            <a:picLocks noChangeAspect="1"/>
          </p:cNvPicPr>
          <p:nvPr/>
        </p:nvPicPr>
        <p:blipFill rotWithShape="1">
          <a:blip r:embed="rId3"/>
          <a:srcRect l="55781" t="40139" r="37891" b="48641"/>
          <a:stretch/>
        </p:blipFill>
        <p:spPr>
          <a:xfrm>
            <a:off x="762000" y="4995004"/>
            <a:ext cx="1495426" cy="1491521"/>
          </a:xfrm>
          <a:prstGeom prst="rect">
            <a:avLst/>
          </a:prstGeom>
        </p:spPr>
      </p:pic>
      <p:pic>
        <p:nvPicPr>
          <p:cNvPr id="11" name="Picture 10">
            <a:extLst>
              <a:ext uri="{FF2B5EF4-FFF2-40B4-BE49-F238E27FC236}">
                <a16:creationId xmlns:a16="http://schemas.microsoft.com/office/drawing/2014/main" id="{41D33F5F-8775-4DBC-9684-8B8B2BE190A1}"/>
              </a:ext>
            </a:extLst>
          </p:cNvPr>
          <p:cNvPicPr>
            <a:picLocks noChangeAspect="1"/>
          </p:cNvPicPr>
          <p:nvPr/>
        </p:nvPicPr>
        <p:blipFill rotWithShape="1">
          <a:blip r:embed="rId4"/>
          <a:srcRect l="60417" t="41185" r="29916" b="34509"/>
          <a:stretch/>
        </p:blipFill>
        <p:spPr>
          <a:xfrm>
            <a:off x="3462875" y="4556605"/>
            <a:ext cx="1565912" cy="2214718"/>
          </a:xfrm>
          <a:prstGeom prst="rect">
            <a:avLst/>
          </a:prstGeom>
        </p:spPr>
      </p:pic>
      <p:cxnSp>
        <p:nvCxnSpPr>
          <p:cNvPr id="12" name="Straight Arrow Connector 11">
            <a:extLst>
              <a:ext uri="{FF2B5EF4-FFF2-40B4-BE49-F238E27FC236}">
                <a16:creationId xmlns:a16="http://schemas.microsoft.com/office/drawing/2014/main" id="{1CF2E114-6AFA-408F-A04B-8DFCD3DC309A}"/>
              </a:ext>
            </a:extLst>
          </p:cNvPr>
          <p:cNvCxnSpPr>
            <a:cxnSpLocks/>
          </p:cNvCxnSpPr>
          <p:nvPr/>
        </p:nvCxnSpPr>
        <p:spPr>
          <a:xfrm flipH="1">
            <a:off x="5210175" y="2495550"/>
            <a:ext cx="2486025" cy="232410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EB636433-AC84-4B26-88C2-67AD6B10D4AD}"/>
              </a:ext>
            </a:extLst>
          </p:cNvPr>
          <p:cNvPicPr>
            <a:picLocks noChangeAspect="1"/>
          </p:cNvPicPr>
          <p:nvPr/>
        </p:nvPicPr>
        <p:blipFill rotWithShape="1">
          <a:blip r:embed="rId5"/>
          <a:srcRect l="69680" t="40741" r="22416" b="48148"/>
          <a:stretch/>
        </p:blipFill>
        <p:spPr>
          <a:xfrm>
            <a:off x="7057073" y="4948483"/>
            <a:ext cx="2003808" cy="1584561"/>
          </a:xfrm>
          <a:prstGeom prst="rect">
            <a:avLst/>
          </a:prstGeom>
        </p:spPr>
      </p:pic>
      <p:cxnSp>
        <p:nvCxnSpPr>
          <p:cNvPr id="17" name="Straight Arrow Connector 16">
            <a:extLst>
              <a:ext uri="{FF2B5EF4-FFF2-40B4-BE49-F238E27FC236}">
                <a16:creationId xmlns:a16="http://schemas.microsoft.com/office/drawing/2014/main" id="{2C3D0956-EC8C-44B2-B2A7-8DAE0A9A4134}"/>
              </a:ext>
            </a:extLst>
          </p:cNvPr>
          <p:cNvCxnSpPr>
            <a:cxnSpLocks/>
            <a:endCxn id="16" idx="0"/>
          </p:cNvCxnSpPr>
          <p:nvPr/>
        </p:nvCxnSpPr>
        <p:spPr>
          <a:xfrm flipH="1">
            <a:off x="8058977" y="2445667"/>
            <a:ext cx="895476" cy="2502816"/>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itle 1">
            <a:extLst>
              <a:ext uri="{FF2B5EF4-FFF2-40B4-BE49-F238E27FC236}">
                <a16:creationId xmlns:a16="http://schemas.microsoft.com/office/drawing/2014/main" id="{CBA1FFD6-DDA1-4277-A128-9BF3D674C6B0}"/>
              </a:ext>
            </a:extLst>
          </p:cNvPr>
          <p:cNvSpPr>
            <a:spLocks noGrp="1"/>
          </p:cNvSpPr>
          <p:nvPr>
            <p:ph type="title"/>
          </p:nvPr>
        </p:nvSpPr>
        <p:spPr>
          <a:xfrm>
            <a:off x="554483" y="86677"/>
            <a:ext cx="10515600" cy="1325563"/>
          </a:xfrm>
        </p:spPr>
        <p:txBody>
          <a:bodyPr>
            <a:normAutofit/>
          </a:bodyPr>
          <a:lstStyle/>
          <a:p>
            <a:r>
              <a:rPr lang="en-SG" sz="5400" dirty="0"/>
              <a:t>Manage Orders</a:t>
            </a:r>
            <a:endParaRPr lang="en-SG" sz="5400" dirty="0">
              <a:solidFill>
                <a:schemeClr val="accent5">
                  <a:lumMod val="75000"/>
                </a:schemeClr>
              </a:solidFill>
            </a:endParaRPr>
          </a:p>
        </p:txBody>
      </p:sp>
    </p:spTree>
    <p:extLst>
      <p:ext uri="{BB962C8B-B14F-4D97-AF65-F5344CB8AC3E}">
        <p14:creationId xmlns:p14="http://schemas.microsoft.com/office/powerpoint/2010/main" val="13468680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9F1BB6-8F7F-4877-89DB-5DE1EE1FA5E4}"/>
              </a:ext>
            </a:extLst>
          </p:cNvPr>
          <p:cNvPicPr>
            <a:picLocks noChangeAspect="1"/>
          </p:cNvPicPr>
          <p:nvPr/>
        </p:nvPicPr>
        <p:blipFill rotWithShape="1">
          <a:blip r:embed="rId2"/>
          <a:srcRect l="28333" t="18222" r="15834" b="21185"/>
          <a:stretch/>
        </p:blipFill>
        <p:spPr>
          <a:xfrm>
            <a:off x="730249" y="1659255"/>
            <a:ext cx="8001373" cy="4884420"/>
          </a:xfrm>
          <a:prstGeom prst="rect">
            <a:avLst/>
          </a:prstGeom>
        </p:spPr>
      </p:pic>
      <p:sp>
        <p:nvSpPr>
          <p:cNvPr id="13" name="Rectangle 12">
            <a:extLst>
              <a:ext uri="{FF2B5EF4-FFF2-40B4-BE49-F238E27FC236}">
                <a16:creationId xmlns:a16="http://schemas.microsoft.com/office/drawing/2014/main" id="{907168A6-3EE4-450B-9C9D-2F3E23DB032B}"/>
              </a:ext>
            </a:extLst>
          </p:cNvPr>
          <p:cNvSpPr/>
          <p:nvPr/>
        </p:nvSpPr>
        <p:spPr>
          <a:xfrm>
            <a:off x="4493260" y="6162674"/>
            <a:ext cx="1602740" cy="485776"/>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4" name="Straight Arrow Connector 13">
            <a:extLst>
              <a:ext uri="{FF2B5EF4-FFF2-40B4-BE49-F238E27FC236}">
                <a16:creationId xmlns:a16="http://schemas.microsoft.com/office/drawing/2014/main" id="{C84CC141-F31A-47C3-AA07-C7727AD65836}"/>
              </a:ext>
            </a:extLst>
          </p:cNvPr>
          <p:cNvCxnSpPr>
            <a:cxnSpLocks/>
          </p:cNvCxnSpPr>
          <p:nvPr/>
        </p:nvCxnSpPr>
        <p:spPr>
          <a:xfrm flipV="1">
            <a:off x="6096000" y="4101465"/>
            <a:ext cx="2635622" cy="206121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C61E9ED-35BD-4B65-9DEB-5E52E8E1420A}"/>
              </a:ext>
            </a:extLst>
          </p:cNvPr>
          <p:cNvSpPr txBox="1"/>
          <p:nvPr/>
        </p:nvSpPr>
        <p:spPr>
          <a:xfrm>
            <a:off x="8742285" y="2711480"/>
            <a:ext cx="3184153" cy="1938992"/>
          </a:xfrm>
          <a:prstGeom prst="rect">
            <a:avLst/>
          </a:prstGeom>
          <a:solidFill>
            <a:schemeClr val="accent4">
              <a:lumMod val="60000"/>
              <a:lumOff val="40000"/>
            </a:schemeClr>
          </a:solidFill>
        </p:spPr>
        <p:txBody>
          <a:bodyPr wrap="square" rtlCol="0">
            <a:spAutoFit/>
          </a:bodyPr>
          <a:lstStyle/>
          <a:p>
            <a:r>
              <a:rPr lang="en-US" sz="2400" dirty="0"/>
              <a:t>Mark it as fulfilled if the items ordered by the customer is already delivered and/or fulfilled.</a:t>
            </a:r>
          </a:p>
        </p:txBody>
      </p:sp>
      <p:sp>
        <p:nvSpPr>
          <p:cNvPr id="20" name="Title 1">
            <a:extLst>
              <a:ext uri="{FF2B5EF4-FFF2-40B4-BE49-F238E27FC236}">
                <a16:creationId xmlns:a16="http://schemas.microsoft.com/office/drawing/2014/main" id="{2426B95B-4B70-418D-9446-EF4E7A1A5CDA}"/>
              </a:ext>
            </a:extLst>
          </p:cNvPr>
          <p:cNvSpPr>
            <a:spLocks noGrp="1"/>
          </p:cNvSpPr>
          <p:nvPr>
            <p:ph type="title"/>
          </p:nvPr>
        </p:nvSpPr>
        <p:spPr>
          <a:xfrm>
            <a:off x="554483" y="86677"/>
            <a:ext cx="10515600" cy="1325563"/>
          </a:xfrm>
        </p:spPr>
        <p:txBody>
          <a:bodyPr>
            <a:normAutofit/>
          </a:bodyPr>
          <a:lstStyle/>
          <a:p>
            <a:r>
              <a:rPr lang="en-SG" sz="5400" dirty="0"/>
              <a:t>Manage Orders</a:t>
            </a:r>
            <a:endParaRPr lang="en-SG" sz="5400" dirty="0">
              <a:solidFill>
                <a:schemeClr val="accent5">
                  <a:lumMod val="75000"/>
                </a:schemeClr>
              </a:solidFill>
            </a:endParaRPr>
          </a:p>
        </p:txBody>
      </p:sp>
    </p:spTree>
    <p:extLst>
      <p:ext uri="{BB962C8B-B14F-4D97-AF65-F5344CB8AC3E}">
        <p14:creationId xmlns:p14="http://schemas.microsoft.com/office/powerpoint/2010/main" val="7623185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4FFB9FCA-8AC9-43A8-901F-41EE518E0555}"/>
              </a:ext>
            </a:extLst>
          </p:cNvPr>
          <p:cNvGrpSpPr/>
          <p:nvPr/>
        </p:nvGrpSpPr>
        <p:grpSpPr>
          <a:xfrm>
            <a:off x="775335" y="1430131"/>
            <a:ext cx="6701790" cy="5341192"/>
            <a:chOff x="775335" y="1430131"/>
            <a:chExt cx="6701790" cy="5341192"/>
          </a:xfrm>
        </p:grpSpPr>
        <p:pic>
          <p:nvPicPr>
            <p:cNvPr id="3" name="Picture 2">
              <a:extLst>
                <a:ext uri="{FF2B5EF4-FFF2-40B4-BE49-F238E27FC236}">
                  <a16:creationId xmlns:a16="http://schemas.microsoft.com/office/drawing/2014/main" id="{9F32FE44-7BE8-4812-8C04-1505365492B7}"/>
                </a:ext>
              </a:extLst>
            </p:cNvPr>
            <p:cNvPicPr>
              <a:picLocks noChangeAspect="1"/>
            </p:cNvPicPr>
            <p:nvPr/>
          </p:nvPicPr>
          <p:blipFill rotWithShape="1">
            <a:blip r:embed="rId2"/>
            <a:srcRect l="30500" t="17037" r="19833" b="12593"/>
            <a:stretch/>
          </p:blipFill>
          <p:spPr>
            <a:xfrm>
              <a:off x="775335" y="1430131"/>
              <a:ext cx="6701790" cy="5341192"/>
            </a:xfrm>
            <a:prstGeom prst="rect">
              <a:avLst/>
            </a:prstGeom>
          </p:spPr>
        </p:pic>
        <p:sp>
          <p:nvSpPr>
            <p:cNvPr id="5" name="Rectangle 4">
              <a:extLst>
                <a:ext uri="{FF2B5EF4-FFF2-40B4-BE49-F238E27FC236}">
                  <a16:creationId xmlns:a16="http://schemas.microsoft.com/office/drawing/2014/main" id="{31A9C4C7-43AA-45D4-AC1E-8A9DB18851D2}"/>
                </a:ext>
              </a:extLst>
            </p:cNvPr>
            <p:cNvSpPr/>
            <p:nvPr/>
          </p:nvSpPr>
          <p:spPr>
            <a:xfrm>
              <a:off x="5543550" y="2676525"/>
              <a:ext cx="1219200" cy="933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10" name="Rectangle 9">
            <a:extLst>
              <a:ext uri="{FF2B5EF4-FFF2-40B4-BE49-F238E27FC236}">
                <a16:creationId xmlns:a16="http://schemas.microsoft.com/office/drawing/2014/main" id="{74411B14-BAC6-46D7-AC6A-65535DD3ECBC}"/>
              </a:ext>
            </a:extLst>
          </p:cNvPr>
          <p:cNvSpPr/>
          <p:nvPr/>
        </p:nvSpPr>
        <p:spPr>
          <a:xfrm>
            <a:off x="5543550" y="6372224"/>
            <a:ext cx="1866900" cy="485776"/>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1" name="Straight Arrow Connector 10">
            <a:extLst>
              <a:ext uri="{FF2B5EF4-FFF2-40B4-BE49-F238E27FC236}">
                <a16:creationId xmlns:a16="http://schemas.microsoft.com/office/drawing/2014/main" id="{7B5EA228-0654-4B46-8C0A-2FAF5A1DF065}"/>
              </a:ext>
            </a:extLst>
          </p:cNvPr>
          <p:cNvCxnSpPr>
            <a:cxnSpLocks/>
          </p:cNvCxnSpPr>
          <p:nvPr/>
        </p:nvCxnSpPr>
        <p:spPr>
          <a:xfrm flipV="1">
            <a:off x="5191125" y="1752600"/>
            <a:ext cx="3371080" cy="2993122"/>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180B8DE-F717-4E83-833E-AC9D6F6F30C7}"/>
              </a:ext>
            </a:extLst>
          </p:cNvPr>
          <p:cNvSpPr txBox="1"/>
          <p:nvPr/>
        </p:nvSpPr>
        <p:spPr>
          <a:xfrm>
            <a:off x="8562205" y="1430131"/>
            <a:ext cx="3184153" cy="2246769"/>
          </a:xfrm>
          <a:prstGeom prst="rect">
            <a:avLst/>
          </a:prstGeom>
          <a:solidFill>
            <a:schemeClr val="accent4">
              <a:lumMod val="60000"/>
              <a:lumOff val="40000"/>
            </a:schemeClr>
          </a:solidFill>
        </p:spPr>
        <p:txBody>
          <a:bodyPr wrap="square" rtlCol="0">
            <a:spAutoFit/>
          </a:bodyPr>
          <a:lstStyle/>
          <a:p>
            <a:r>
              <a:rPr lang="en-US" sz="2000" dirty="0"/>
              <a:t>In this section, you need to fill the shipping carrier and the tracking number. Click the “Fulfill Items” to fulfill the orders of the customer. Customer will be notified via SMS or email</a:t>
            </a:r>
          </a:p>
        </p:txBody>
      </p:sp>
      <p:sp>
        <p:nvSpPr>
          <p:cNvPr id="17" name="Rectangle 16">
            <a:extLst>
              <a:ext uri="{FF2B5EF4-FFF2-40B4-BE49-F238E27FC236}">
                <a16:creationId xmlns:a16="http://schemas.microsoft.com/office/drawing/2014/main" id="{DB8B431E-0E4D-4671-8E0A-9C5DEFD86CE4}"/>
              </a:ext>
            </a:extLst>
          </p:cNvPr>
          <p:cNvSpPr/>
          <p:nvPr/>
        </p:nvSpPr>
        <p:spPr>
          <a:xfrm>
            <a:off x="885825" y="4502833"/>
            <a:ext cx="4305300" cy="840691"/>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8" name="Straight Arrow Connector 17">
            <a:extLst>
              <a:ext uri="{FF2B5EF4-FFF2-40B4-BE49-F238E27FC236}">
                <a16:creationId xmlns:a16="http://schemas.microsoft.com/office/drawing/2014/main" id="{D1650A15-C9ED-43DB-8FEC-E859FA5CEDD7}"/>
              </a:ext>
            </a:extLst>
          </p:cNvPr>
          <p:cNvCxnSpPr>
            <a:cxnSpLocks/>
          </p:cNvCxnSpPr>
          <p:nvPr/>
        </p:nvCxnSpPr>
        <p:spPr>
          <a:xfrm flipV="1">
            <a:off x="5812283" y="3038742"/>
            <a:ext cx="2749922" cy="3246806"/>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5" name="Picture 24" descr="A screenshot of a social media post&#10;&#10;Description automatically generated">
            <a:extLst>
              <a:ext uri="{FF2B5EF4-FFF2-40B4-BE49-F238E27FC236}">
                <a16:creationId xmlns:a16="http://schemas.microsoft.com/office/drawing/2014/main" id="{A414869A-2567-4917-B97C-819816250460}"/>
              </a:ext>
            </a:extLst>
          </p:cNvPr>
          <p:cNvPicPr>
            <a:picLocks noChangeAspect="1"/>
          </p:cNvPicPr>
          <p:nvPr/>
        </p:nvPicPr>
        <p:blipFill rotWithShape="1">
          <a:blip r:embed="rId3">
            <a:extLst>
              <a:ext uri="{28A0092B-C50C-407E-A947-70E740481C1C}">
                <a14:useLocalDpi xmlns:a14="http://schemas.microsoft.com/office/drawing/2010/main" val="0"/>
              </a:ext>
            </a:extLst>
          </a:blip>
          <a:srcRect b="44272"/>
          <a:stretch/>
        </p:blipFill>
        <p:spPr>
          <a:xfrm>
            <a:off x="8901821" y="3819525"/>
            <a:ext cx="2652504" cy="3038475"/>
          </a:xfrm>
          <a:prstGeom prst="rect">
            <a:avLst/>
          </a:prstGeom>
        </p:spPr>
      </p:pic>
      <p:sp>
        <p:nvSpPr>
          <p:cNvPr id="27" name="Rectangle 26">
            <a:extLst>
              <a:ext uri="{FF2B5EF4-FFF2-40B4-BE49-F238E27FC236}">
                <a16:creationId xmlns:a16="http://schemas.microsoft.com/office/drawing/2014/main" id="{FEF716E2-630E-4D63-A349-B7A6ACD4B43F}"/>
              </a:ext>
            </a:extLst>
          </p:cNvPr>
          <p:cNvSpPr/>
          <p:nvPr/>
        </p:nvSpPr>
        <p:spPr>
          <a:xfrm>
            <a:off x="8968495" y="6285548"/>
            <a:ext cx="2448169" cy="572452"/>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0" name="Title 1">
            <a:extLst>
              <a:ext uri="{FF2B5EF4-FFF2-40B4-BE49-F238E27FC236}">
                <a16:creationId xmlns:a16="http://schemas.microsoft.com/office/drawing/2014/main" id="{AD1EC572-74C9-481C-AD6B-475A69B245C8}"/>
              </a:ext>
            </a:extLst>
          </p:cNvPr>
          <p:cNvSpPr>
            <a:spLocks noGrp="1"/>
          </p:cNvSpPr>
          <p:nvPr>
            <p:ph type="title"/>
          </p:nvPr>
        </p:nvSpPr>
        <p:spPr>
          <a:xfrm>
            <a:off x="554483" y="86677"/>
            <a:ext cx="10515600" cy="1325563"/>
          </a:xfrm>
        </p:spPr>
        <p:txBody>
          <a:bodyPr>
            <a:normAutofit/>
          </a:bodyPr>
          <a:lstStyle/>
          <a:p>
            <a:r>
              <a:rPr lang="en-SG" sz="5400" dirty="0"/>
              <a:t>Manage Orders</a:t>
            </a:r>
            <a:endParaRPr lang="en-SG" sz="5400" dirty="0">
              <a:solidFill>
                <a:schemeClr val="accent5">
                  <a:lumMod val="75000"/>
                </a:schemeClr>
              </a:solidFill>
            </a:endParaRPr>
          </a:p>
        </p:txBody>
      </p:sp>
    </p:spTree>
    <p:extLst>
      <p:ext uri="{BB962C8B-B14F-4D97-AF65-F5344CB8AC3E}">
        <p14:creationId xmlns:p14="http://schemas.microsoft.com/office/powerpoint/2010/main" val="9049406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9.6</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9.6</a:t>
            </a:r>
          </a:p>
        </p:txBody>
      </p:sp>
    </p:spTree>
    <p:extLst>
      <p:ext uri="{BB962C8B-B14F-4D97-AF65-F5344CB8AC3E}">
        <p14:creationId xmlns:p14="http://schemas.microsoft.com/office/powerpoint/2010/main" val="25932572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AD1EC572-74C9-481C-AD6B-475A69B245C8}"/>
              </a:ext>
            </a:extLst>
          </p:cNvPr>
          <p:cNvSpPr>
            <a:spLocks noGrp="1"/>
          </p:cNvSpPr>
          <p:nvPr>
            <p:ph type="title"/>
          </p:nvPr>
        </p:nvSpPr>
        <p:spPr>
          <a:xfrm>
            <a:off x="554483" y="86677"/>
            <a:ext cx="10515600" cy="1325563"/>
          </a:xfrm>
        </p:spPr>
        <p:txBody>
          <a:bodyPr>
            <a:normAutofit/>
          </a:bodyPr>
          <a:lstStyle/>
          <a:p>
            <a:r>
              <a:rPr lang="en-SG" sz="5400" dirty="0"/>
              <a:t>Manage Customers</a:t>
            </a:r>
            <a:endParaRPr lang="en-SG" sz="5400" dirty="0">
              <a:solidFill>
                <a:schemeClr val="accent5">
                  <a:lumMod val="75000"/>
                </a:schemeClr>
              </a:solidFill>
            </a:endParaRPr>
          </a:p>
        </p:txBody>
      </p:sp>
      <p:pic>
        <p:nvPicPr>
          <p:cNvPr id="2" name="Picture 1">
            <a:extLst>
              <a:ext uri="{FF2B5EF4-FFF2-40B4-BE49-F238E27FC236}">
                <a16:creationId xmlns:a16="http://schemas.microsoft.com/office/drawing/2014/main" id="{03ED4F64-EBE3-42D4-B03E-7C082DED2912}"/>
              </a:ext>
            </a:extLst>
          </p:cNvPr>
          <p:cNvPicPr>
            <a:picLocks noChangeAspect="1"/>
          </p:cNvPicPr>
          <p:nvPr/>
        </p:nvPicPr>
        <p:blipFill rotWithShape="1">
          <a:blip r:embed="rId2"/>
          <a:srcRect t="16111" r="1172" b="43750"/>
          <a:stretch/>
        </p:blipFill>
        <p:spPr>
          <a:xfrm>
            <a:off x="0" y="1375728"/>
            <a:ext cx="12049125" cy="3891598"/>
          </a:xfrm>
          <a:prstGeom prst="rect">
            <a:avLst/>
          </a:prstGeom>
        </p:spPr>
      </p:pic>
      <p:sp>
        <p:nvSpPr>
          <p:cNvPr id="14" name="Rectangle 13">
            <a:extLst>
              <a:ext uri="{FF2B5EF4-FFF2-40B4-BE49-F238E27FC236}">
                <a16:creationId xmlns:a16="http://schemas.microsoft.com/office/drawing/2014/main" id="{10093BF9-798B-4E46-BD16-2EB4CAC47016}"/>
              </a:ext>
            </a:extLst>
          </p:cNvPr>
          <p:cNvSpPr/>
          <p:nvPr/>
        </p:nvSpPr>
        <p:spPr>
          <a:xfrm>
            <a:off x="10887074" y="1619247"/>
            <a:ext cx="1304925" cy="504747"/>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5" name="Straight Arrow Connector 14">
            <a:extLst>
              <a:ext uri="{FF2B5EF4-FFF2-40B4-BE49-F238E27FC236}">
                <a16:creationId xmlns:a16="http://schemas.microsoft.com/office/drawing/2014/main" id="{999DA886-30BF-46EF-9C0E-31AEE5A4E923}"/>
              </a:ext>
            </a:extLst>
          </p:cNvPr>
          <p:cNvCxnSpPr>
            <a:cxnSpLocks/>
          </p:cNvCxnSpPr>
          <p:nvPr/>
        </p:nvCxnSpPr>
        <p:spPr>
          <a:xfrm flipH="1">
            <a:off x="10039350" y="1856423"/>
            <a:ext cx="847725" cy="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B3CA8F9-DA34-4806-A9FD-B01F2B34178F}"/>
              </a:ext>
            </a:extLst>
          </p:cNvPr>
          <p:cNvSpPr txBox="1"/>
          <p:nvPr/>
        </p:nvSpPr>
        <p:spPr>
          <a:xfrm>
            <a:off x="6855196" y="1440924"/>
            <a:ext cx="3184153" cy="830997"/>
          </a:xfrm>
          <a:prstGeom prst="rect">
            <a:avLst/>
          </a:prstGeom>
          <a:solidFill>
            <a:schemeClr val="accent4">
              <a:lumMod val="60000"/>
              <a:lumOff val="40000"/>
            </a:schemeClr>
          </a:solidFill>
        </p:spPr>
        <p:txBody>
          <a:bodyPr wrap="square" rtlCol="0">
            <a:spAutoFit/>
          </a:bodyPr>
          <a:lstStyle/>
          <a:p>
            <a:r>
              <a:rPr lang="en-US" sz="2400" dirty="0"/>
              <a:t>To add a new customer click on “Add customer”</a:t>
            </a:r>
          </a:p>
        </p:txBody>
      </p:sp>
      <p:pic>
        <p:nvPicPr>
          <p:cNvPr id="13" name="Picture 12">
            <a:extLst>
              <a:ext uri="{FF2B5EF4-FFF2-40B4-BE49-F238E27FC236}">
                <a16:creationId xmlns:a16="http://schemas.microsoft.com/office/drawing/2014/main" id="{1DEAEC8E-F4E6-4333-9EA4-88047D62ED7F}"/>
              </a:ext>
            </a:extLst>
          </p:cNvPr>
          <p:cNvPicPr>
            <a:picLocks noChangeAspect="1"/>
          </p:cNvPicPr>
          <p:nvPr/>
        </p:nvPicPr>
        <p:blipFill rotWithShape="1">
          <a:blip r:embed="rId3"/>
          <a:srcRect l="75078" t="36754" r="13360" b="50001"/>
          <a:stretch/>
        </p:blipFill>
        <p:spPr>
          <a:xfrm>
            <a:off x="4207245" y="4656611"/>
            <a:ext cx="2790826" cy="1798323"/>
          </a:xfrm>
          <a:prstGeom prst="rect">
            <a:avLst/>
          </a:prstGeom>
        </p:spPr>
      </p:pic>
      <p:cxnSp>
        <p:nvCxnSpPr>
          <p:cNvPr id="20" name="Straight Arrow Connector 19">
            <a:extLst>
              <a:ext uri="{FF2B5EF4-FFF2-40B4-BE49-F238E27FC236}">
                <a16:creationId xmlns:a16="http://schemas.microsoft.com/office/drawing/2014/main" id="{42288BCF-B112-4AAC-B63B-8A9F186EE86B}"/>
              </a:ext>
            </a:extLst>
          </p:cNvPr>
          <p:cNvCxnSpPr>
            <a:cxnSpLocks/>
          </p:cNvCxnSpPr>
          <p:nvPr/>
        </p:nvCxnSpPr>
        <p:spPr>
          <a:xfrm flipH="1">
            <a:off x="6248401" y="3321527"/>
            <a:ext cx="3124199" cy="1669572"/>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80742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AD1EC572-74C9-481C-AD6B-475A69B245C8}"/>
              </a:ext>
            </a:extLst>
          </p:cNvPr>
          <p:cNvSpPr>
            <a:spLocks noGrp="1"/>
          </p:cNvSpPr>
          <p:nvPr>
            <p:ph type="title"/>
          </p:nvPr>
        </p:nvSpPr>
        <p:spPr>
          <a:xfrm>
            <a:off x="554483" y="86677"/>
            <a:ext cx="10515600" cy="1325563"/>
          </a:xfrm>
        </p:spPr>
        <p:txBody>
          <a:bodyPr>
            <a:normAutofit/>
          </a:bodyPr>
          <a:lstStyle/>
          <a:p>
            <a:r>
              <a:rPr lang="en-SG" sz="5400" dirty="0"/>
              <a:t>Shopify Analytics</a:t>
            </a:r>
            <a:endParaRPr lang="en-SG" sz="5400" dirty="0">
              <a:solidFill>
                <a:schemeClr val="accent5">
                  <a:lumMod val="75000"/>
                </a:schemeClr>
              </a:solidFill>
            </a:endParaRPr>
          </a:p>
        </p:txBody>
      </p:sp>
      <p:sp>
        <p:nvSpPr>
          <p:cNvPr id="3" name="TextBox 2">
            <a:extLst>
              <a:ext uri="{FF2B5EF4-FFF2-40B4-BE49-F238E27FC236}">
                <a16:creationId xmlns:a16="http://schemas.microsoft.com/office/drawing/2014/main" id="{A864D846-A604-406D-A0A5-670E492E48B7}"/>
              </a:ext>
            </a:extLst>
          </p:cNvPr>
          <p:cNvSpPr txBox="1"/>
          <p:nvPr/>
        </p:nvSpPr>
        <p:spPr>
          <a:xfrm>
            <a:off x="554483" y="1149985"/>
            <a:ext cx="11020425" cy="830997"/>
          </a:xfrm>
          <a:prstGeom prst="rect">
            <a:avLst/>
          </a:prstGeom>
          <a:noFill/>
        </p:spPr>
        <p:txBody>
          <a:bodyPr wrap="square" rtlCol="0">
            <a:spAutoFit/>
          </a:bodyPr>
          <a:lstStyle/>
          <a:p>
            <a:r>
              <a:rPr lang="en-US" sz="2400" dirty="0"/>
              <a:t>Shopify's analytics and reports give you the means to review your store's recent activity, get insight into your visitors, and analyze your store's transactions.</a:t>
            </a:r>
            <a:endParaRPr lang="en-SG" sz="2400" dirty="0"/>
          </a:p>
        </p:txBody>
      </p:sp>
      <p:pic>
        <p:nvPicPr>
          <p:cNvPr id="6" name="Picture 5">
            <a:extLst>
              <a:ext uri="{FF2B5EF4-FFF2-40B4-BE49-F238E27FC236}">
                <a16:creationId xmlns:a16="http://schemas.microsoft.com/office/drawing/2014/main" id="{1F2DE8F8-F0E0-438A-A0C7-8D1802231D88}"/>
              </a:ext>
            </a:extLst>
          </p:cNvPr>
          <p:cNvPicPr>
            <a:picLocks noChangeAspect="1"/>
          </p:cNvPicPr>
          <p:nvPr/>
        </p:nvPicPr>
        <p:blipFill rotWithShape="1">
          <a:blip r:embed="rId2"/>
          <a:srcRect l="18583" t="20593" r="2167" b="13925"/>
          <a:stretch/>
        </p:blipFill>
        <p:spPr>
          <a:xfrm>
            <a:off x="684530" y="2026798"/>
            <a:ext cx="9662160" cy="4490720"/>
          </a:xfrm>
          <a:prstGeom prst="rect">
            <a:avLst/>
          </a:prstGeom>
        </p:spPr>
      </p:pic>
      <p:sp>
        <p:nvSpPr>
          <p:cNvPr id="4" name="TextBox 3">
            <a:extLst>
              <a:ext uri="{FF2B5EF4-FFF2-40B4-BE49-F238E27FC236}">
                <a16:creationId xmlns:a16="http://schemas.microsoft.com/office/drawing/2014/main" id="{61CF2706-22F1-4EAB-95EC-F2F62E470A9C}"/>
              </a:ext>
            </a:extLst>
          </p:cNvPr>
          <p:cNvSpPr txBox="1"/>
          <p:nvPr/>
        </p:nvSpPr>
        <p:spPr>
          <a:xfrm>
            <a:off x="9151619" y="2551878"/>
            <a:ext cx="2694483" cy="3985706"/>
          </a:xfrm>
          <a:prstGeom prst="rect">
            <a:avLst/>
          </a:prstGeom>
          <a:solidFill>
            <a:schemeClr val="accent4">
              <a:lumMod val="60000"/>
              <a:lumOff val="40000"/>
            </a:schemeClr>
          </a:solidFill>
        </p:spPr>
        <p:txBody>
          <a:bodyPr wrap="square" rtlCol="0">
            <a:spAutoFit/>
          </a:bodyPr>
          <a:lstStyle/>
          <a:p>
            <a:r>
              <a:rPr lang="en-US" sz="2300" dirty="0"/>
              <a:t>Everyone can access the </a:t>
            </a:r>
            <a:r>
              <a:rPr lang="en-US" sz="2300" b="1" dirty="0"/>
              <a:t>Overview dashboard</a:t>
            </a:r>
            <a:r>
              <a:rPr lang="en-US" sz="2300" dirty="0"/>
              <a:t> and key financial reports. If you have an online store, then you can access </a:t>
            </a:r>
            <a:r>
              <a:rPr lang="en-US" sz="2300" b="1" dirty="0"/>
              <a:t>Live View</a:t>
            </a:r>
            <a:r>
              <a:rPr lang="en-US" sz="2300" dirty="0"/>
              <a:t>. If you're on the Basic Shopify plan or higher, then you can access more reports.</a:t>
            </a:r>
            <a:endParaRPr lang="en-SG" sz="2300" dirty="0"/>
          </a:p>
        </p:txBody>
      </p:sp>
    </p:spTree>
    <p:extLst>
      <p:ext uri="{BB962C8B-B14F-4D97-AF65-F5344CB8AC3E}">
        <p14:creationId xmlns:p14="http://schemas.microsoft.com/office/powerpoint/2010/main" val="27321815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AD1EC572-74C9-481C-AD6B-475A69B245C8}"/>
              </a:ext>
            </a:extLst>
          </p:cNvPr>
          <p:cNvSpPr>
            <a:spLocks noGrp="1"/>
          </p:cNvSpPr>
          <p:nvPr>
            <p:ph type="title"/>
          </p:nvPr>
        </p:nvSpPr>
        <p:spPr>
          <a:xfrm>
            <a:off x="554483" y="86677"/>
            <a:ext cx="10515600" cy="1325563"/>
          </a:xfrm>
        </p:spPr>
        <p:txBody>
          <a:bodyPr>
            <a:normAutofit/>
          </a:bodyPr>
          <a:lstStyle/>
          <a:p>
            <a:r>
              <a:rPr lang="en-SG" sz="5400" dirty="0"/>
              <a:t>Marketing</a:t>
            </a:r>
            <a:endParaRPr lang="en-SG" sz="5400" dirty="0">
              <a:solidFill>
                <a:schemeClr val="accent5">
                  <a:lumMod val="75000"/>
                </a:schemeClr>
              </a:solidFill>
            </a:endParaRPr>
          </a:p>
        </p:txBody>
      </p:sp>
      <p:pic>
        <p:nvPicPr>
          <p:cNvPr id="2" name="Picture 1">
            <a:extLst>
              <a:ext uri="{FF2B5EF4-FFF2-40B4-BE49-F238E27FC236}">
                <a16:creationId xmlns:a16="http://schemas.microsoft.com/office/drawing/2014/main" id="{6FAEB951-257D-4CF6-A3ED-85557DCF597B}"/>
              </a:ext>
            </a:extLst>
          </p:cNvPr>
          <p:cNvPicPr>
            <a:picLocks noChangeAspect="1"/>
          </p:cNvPicPr>
          <p:nvPr/>
        </p:nvPicPr>
        <p:blipFill rotWithShape="1">
          <a:blip r:embed="rId2"/>
          <a:srcRect t="10815" r="8584" b="13630"/>
          <a:stretch/>
        </p:blipFill>
        <p:spPr>
          <a:xfrm>
            <a:off x="0" y="1322705"/>
            <a:ext cx="12039600" cy="5597262"/>
          </a:xfrm>
          <a:prstGeom prst="rect">
            <a:avLst/>
          </a:prstGeom>
        </p:spPr>
      </p:pic>
      <p:sp>
        <p:nvSpPr>
          <p:cNvPr id="7" name="TextBox 6">
            <a:extLst>
              <a:ext uri="{FF2B5EF4-FFF2-40B4-BE49-F238E27FC236}">
                <a16:creationId xmlns:a16="http://schemas.microsoft.com/office/drawing/2014/main" id="{7AD5EA21-23B3-46E0-A59F-3B6CDC845904}"/>
              </a:ext>
            </a:extLst>
          </p:cNvPr>
          <p:cNvSpPr txBox="1"/>
          <p:nvPr/>
        </p:nvSpPr>
        <p:spPr>
          <a:xfrm>
            <a:off x="3273336" y="2605536"/>
            <a:ext cx="8712377" cy="3031599"/>
          </a:xfrm>
          <a:prstGeom prst="rect">
            <a:avLst/>
          </a:prstGeom>
          <a:solidFill>
            <a:schemeClr val="accent4">
              <a:lumMod val="60000"/>
              <a:lumOff val="40000"/>
            </a:schemeClr>
          </a:solidFill>
        </p:spPr>
        <p:txBody>
          <a:bodyPr wrap="square" rtlCol="0">
            <a:spAutoFit/>
          </a:bodyPr>
          <a:lstStyle/>
          <a:p>
            <a:r>
              <a:rPr lang="en-US" sz="2400" dirty="0"/>
              <a:t>You can create and manage marketing activities like Facebook ads and marketing automations like Google Smart Shopping campaigns from the </a:t>
            </a:r>
            <a:r>
              <a:rPr lang="en-US" sz="2400" b="1" dirty="0">
                <a:hlinkClick r:id="rId3"/>
              </a:rPr>
              <a:t>Marketing</a:t>
            </a:r>
            <a:r>
              <a:rPr lang="en-US" sz="2400" dirty="0"/>
              <a:t> page in Shopify. The </a:t>
            </a:r>
            <a:r>
              <a:rPr lang="en-US" sz="2400" b="1" dirty="0"/>
              <a:t>Marketing</a:t>
            </a:r>
            <a:r>
              <a:rPr lang="en-US" sz="2400" dirty="0"/>
              <a:t> page also includes recommendations to improve your marketing strategy</a:t>
            </a:r>
            <a:r>
              <a:rPr lang="en-US" dirty="0"/>
              <a:t>.</a:t>
            </a:r>
          </a:p>
          <a:p>
            <a:endParaRPr lang="en-US" sz="2300" dirty="0"/>
          </a:p>
          <a:p>
            <a:r>
              <a:rPr lang="en-US" sz="2400" dirty="0"/>
              <a:t>You can also create marketing outside of Shopify using third-party services or apps, and view data about these activities in the service where you create them.</a:t>
            </a:r>
            <a:endParaRPr lang="en-US" sz="2800" dirty="0"/>
          </a:p>
        </p:txBody>
      </p:sp>
      <p:sp>
        <p:nvSpPr>
          <p:cNvPr id="8" name="Rectangle 7">
            <a:extLst>
              <a:ext uri="{FF2B5EF4-FFF2-40B4-BE49-F238E27FC236}">
                <a16:creationId xmlns:a16="http://schemas.microsoft.com/office/drawing/2014/main" id="{0A1A364F-04C2-47FA-A62A-FA9D52469D8E}"/>
              </a:ext>
            </a:extLst>
          </p:cNvPr>
          <p:cNvSpPr/>
          <p:nvPr/>
        </p:nvSpPr>
        <p:spPr>
          <a:xfrm>
            <a:off x="0" y="3429000"/>
            <a:ext cx="2200275" cy="1057275"/>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9" name="Straight Arrow Connector 8">
            <a:extLst>
              <a:ext uri="{FF2B5EF4-FFF2-40B4-BE49-F238E27FC236}">
                <a16:creationId xmlns:a16="http://schemas.microsoft.com/office/drawing/2014/main" id="{D853B816-D683-4503-AF94-87AB1E5B26A6}"/>
              </a:ext>
            </a:extLst>
          </p:cNvPr>
          <p:cNvCxnSpPr>
            <a:cxnSpLocks/>
          </p:cNvCxnSpPr>
          <p:nvPr/>
        </p:nvCxnSpPr>
        <p:spPr>
          <a:xfrm flipV="1">
            <a:off x="2200275" y="3429000"/>
            <a:ext cx="1000125" cy="409575"/>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46301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AD1EC572-74C9-481C-AD6B-475A69B245C8}"/>
              </a:ext>
            </a:extLst>
          </p:cNvPr>
          <p:cNvSpPr>
            <a:spLocks noGrp="1"/>
          </p:cNvSpPr>
          <p:nvPr>
            <p:ph type="title"/>
          </p:nvPr>
        </p:nvSpPr>
        <p:spPr>
          <a:xfrm>
            <a:off x="554483" y="86677"/>
            <a:ext cx="10515600" cy="1325563"/>
          </a:xfrm>
        </p:spPr>
        <p:txBody>
          <a:bodyPr>
            <a:normAutofit/>
          </a:bodyPr>
          <a:lstStyle/>
          <a:p>
            <a:r>
              <a:rPr lang="en-SG" sz="5400" dirty="0"/>
              <a:t>Discounts</a:t>
            </a:r>
            <a:endParaRPr lang="en-SG" sz="5400" dirty="0">
              <a:solidFill>
                <a:schemeClr val="accent5">
                  <a:lumMod val="75000"/>
                </a:schemeClr>
              </a:solidFill>
            </a:endParaRPr>
          </a:p>
        </p:txBody>
      </p:sp>
      <p:pic>
        <p:nvPicPr>
          <p:cNvPr id="3" name="Picture 2">
            <a:extLst>
              <a:ext uri="{FF2B5EF4-FFF2-40B4-BE49-F238E27FC236}">
                <a16:creationId xmlns:a16="http://schemas.microsoft.com/office/drawing/2014/main" id="{5B673219-EF85-4BD9-8A17-F5E6B9D8123B}"/>
              </a:ext>
            </a:extLst>
          </p:cNvPr>
          <p:cNvPicPr>
            <a:picLocks noChangeAspect="1"/>
          </p:cNvPicPr>
          <p:nvPr/>
        </p:nvPicPr>
        <p:blipFill rotWithShape="1">
          <a:blip r:embed="rId2"/>
          <a:srcRect l="18083" t="19111" r="1750" b="13926"/>
          <a:stretch/>
        </p:blipFill>
        <p:spPr>
          <a:xfrm>
            <a:off x="785494" y="1412240"/>
            <a:ext cx="10617245" cy="4988560"/>
          </a:xfrm>
          <a:prstGeom prst="rect">
            <a:avLst/>
          </a:prstGeom>
        </p:spPr>
      </p:pic>
      <p:sp>
        <p:nvSpPr>
          <p:cNvPr id="10" name="TextBox 9">
            <a:extLst>
              <a:ext uri="{FF2B5EF4-FFF2-40B4-BE49-F238E27FC236}">
                <a16:creationId xmlns:a16="http://schemas.microsoft.com/office/drawing/2014/main" id="{7D818969-05BB-4AC9-BF52-BCEA72542DB1}"/>
              </a:ext>
            </a:extLst>
          </p:cNvPr>
          <p:cNvSpPr txBox="1"/>
          <p:nvPr/>
        </p:nvSpPr>
        <p:spPr>
          <a:xfrm>
            <a:off x="4733926" y="3329439"/>
            <a:ext cx="5750102" cy="1154162"/>
          </a:xfrm>
          <a:prstGeom prst="rect">
            <a:avLst/>
          </a:prstGeom>
          <a:solidFill>
            <a:schemeClr val="accent4">
              <a:lumMod val="60000"/>
              <a:lumOff val="40000"/>
            </a:schemeClr>
          </a:solidFill>
        </p:spPr>
        <p:txBody>
          <a:bodyPr wrap="square" rtlCol="0">
            <a:spAutoFit/>
          </a:bodyPr>
          <a:lstStyle/>
          <a:p>
            <a:r>
              <a:rPr lang="en-US" sz="2300" dirty="0"/>
              <a:t>In Shopify site, discounts are used to improve customer relationship. Discounts can be manually created or automatically generated</a:t>
            </a:r>
            <a:endParaRPr lang="en-SG" sz="2300" dirty="0"/>
          </a:p>
        </p:txBody>
      </p:sp>
    </p:spTree>
    <p:extLst>
      <p:ext uri="{BB962C8B-B14F-4D97-AF65-F5344CB8AC3E}">
        <p14:creationId xmlns:p14="http://schemas.microsoft.com/office/powerpoint/2010/main" val="41340624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AD1EC572-74C9-481C-AD6B-475A69B245C8}"/>
              </a:ext>
            </a:extLst>
          </p:cNvPr>
          <p:cNvSpPr>
            <a:spLocks noGrp="1"/>
          </p:cNvSpPr>
          <p:nvPr>
            <p:ph type="title"/>
          </p:nvPr>
        </p:nvSpPr>
        <p:spPr>
          <a:xfrm>
            <a:off x="554483" y="86677"/>
            <a:ext cx="10515600" cy="1325563"/>
          </a:xfrm>
        </p:spPr>
        <p:txBody>
          <a:bodyPr>
            <a:normAutofit fontScale="90000"/>
          </a:bodyPr>
          <a:lstStyle/>
          <a:p>
            <a:r>
              <a:rPr lang="en-SG" sz="5400" dirty="0"/>
              <a:t>Discounts </a:t>
            </a:r>
            <a:br>
              <a:rPr lang="en-SG" sz="5400" dirty="0"/>
            </a:br>
            <a:r>
              <a:rPr lang="en-SG" sz="4000" dirty="0">
                <a:solidFill>
                  <a:schemeClr val="accent5">
                    <a:lumMod val="75000"/>
                  </a:schemeClr>
                </a:solidFill>
              </a:rPr>
              <a:t>(Sample Automatic Discount)</a:t>
            </a:r>
            <a:endParaRPr lang="en-SG" sz="5400" dirty="0">
              <a:solidFill>
                <a:schemeClr val="accent5">
                  <a:lumMod val="75000"/>
                </a:schemeClr>
              </a:solidFill>
            </a:endParaRPr>
          </a:p>
        </p:txBody>
      </p:sp>
      <p:pic>
        <p:nvPicPr>
          <p:cNvPr id="2" name="Picture 1">
            <a:extLst>
              <a:ext uri="{FF2B5EF4-FFF2-40B4-BE49-F238E27FC236}">
                <a16:creationId xmlns:a16="http://schemas.microsoft.com/office/drawing/2014/main" id="{7DF67BB4-10E3-4DE9-A81A-41A0CE844B7B}"/>
              </a:ext>
            </a:extLst>
          </p:cNvPr>
          <p:cNvPicPr>
            <a:picLocks noChangeAspect="1"/>
          </p:cNvPicPr>
          <p:nvPr/>
        </p:nvPicPr>
        <p:blipFill rotWithShape="1">
          <a:blip r:embed="rId2"/>
          <a:srcRect l="24500" t="20592" r="9202" b="22963"/>
          <a:stretch/>
        </p:blipFill>
        <p:spPr>
          <a:xfrm>
            <a:off x="990728" y="1636395"/>
            <a:ext cx="9643110" cy="4618074"/>
          </a:xfrm>
          <a:prstGeom prst="rect">
            <a:avLst/>
          </a:prstGeom>
        </p:spPr>
      </p:pic>
      <p:sp>
        <p:nvSpPr>
          <p:cNvPr id="6" name="TextBox 5">
            <a:extLst>
              <a:ext uri="{FF2B5EF4-FFF2-40B4-BE49-F238E27FC236}">
                <a16:creationId xmlns:a16="http://schemas.microsoft.com/office/drawing/2014/main" id="{5D982783-D76E-42FD-A50D-6E8C83F9BD79}"/>
              </a:ext>
            </a:extLst>
          </p:cNvPr>
          <p:cNvSpPr txBox="1"/>
          <p:nvPr/>
        </p:nvSpPr>
        <p:spPr>
          <a:xfrm>
            <a:off x="5500956" y="1500638"/>
            <a:ext cx="5986194" cy="1154162"/>
          </a:xfrm>
          <a:prstGeom prst="rect">
            <a:avLst/>
          </a:prstGeom>
          <a:solidFill>
            <a:schemeClr val="accent4">
              <a:lumMod val="60000"/>
              <a:lumOff val="40000"/>
            </a:schemeClr>
          </a:solidFill>
        </p:spPr>
        <p:txBody>
          <a:bodyPr wrap="square" rtlCol="0">
            <a:spAutoFit/>
          </a:bodyPr>
          <a:lstStyle/>
          <a:p>
            <a:r>
              <a:rPr lang="en-US" sz="2300" dirty="0"/>
              <a:t>This discount is automatic and applied to all purchases from the customers upon checkout and payment.</a:t>
            </a:r>
            <a:endParaRPr lang="en-SG" sz="2300" dirty="0"/>
          </a:p>
        </p:txBody>
      </p:sp>
    </p:spTree>
    <p:extLst>
      <p:ext uri="{BB962C8B-B14F-4D97-AF65-F5344CB8AC3E}">
        <p14:creationId xmlns:p14="http://schemas.microsoft.com/office/powerpoint/2010/main" val="10044999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AD1EC572-74C9-481C-AD6B-475A69B245C8}"/>
              </a:ext>
            </a:extLst>
          </p:cNvPr>
          <p:cNvSpPr>
            <a:spLocks noGrp="1"/>
          </p:cNvSpPr>
          <p:nvPr>
            <p:ph type="title"/>
          </p:nvPr>
        </p:nvSpPr>
        <p:spPr>
          <a:xfrm>
            <a:off x="554483" y="86677"/>
            <a:ext cx="10515600" cy="1325563"/>
          </a:xfrm>
        </p:spPr>
        <p:txBody>
          <a:bodyPr>
            <a:normAutofit fontScale="90000"/>
          </a:bodyPr>
          <a:lstStyle/>
          <a:p>
            <a:r>
              <a:rPr lang="en-SG" sz="5400" dirty="0"/>
              <a:t>Discounts </a:t>
            </a:r>
            <a:br>
              <a:rPr lang="en-SG" sz="5400" dirty="0"/>
            </a:br>
            <a:r>
              <a:rPr lang="en-SG" sz="4000" dirty="0">
                <a:solidFill>
                  <a:schemeClr val="accent5">
                    <a:lumMod val="75000"/>
                  </a:schemeClr>
                </a:solidFill>
              </a:rPr>
              <a:t>(Sample Automatic Discount)</a:t>
            </a:r>
            <a:endParaRPr lang="en-SG" sz="5400" dirty="0">
              <a:solidFill>
                <a:schemeClr val="accent5">
                  <a:lumMod val="75000"/>
                </a:schemeClr>
              </a:solidFill>
            </a:endParaRPr>
          </a:p>
        </p:txBody>
      </p:sp>
      <p:pic>
        <p:nvPicPr>
          <p:cNvPr id="3" name="Picture 2">
            <a:extLst>
              <a:ext uri="{FF2B5EF4-FFF2-40B4-BE49-F238E27FC236}">
                <a16:creationId xmlns:a16="http://schemas.microsoft.com/office/drawing/2014/main" id="{79A1CB5F-60DC-4E63-9D8E-5F256167CA01}"/>
              </a:ext>
            </a:extLst>
          </p:cNvPr>
          <p:cNvPicPr>
            <a:picLocks noChangeAspect="1"/>
          </p:cNvPicPr>
          <p:nvPr/>
        </p:nvPicPr>
        <p:blipFill rotWithShape="1">
          <a:blip r:embed="rId2"/>
          <a:srcRect l="24667" t="23407" r="8083" b="9481"/>
          <a:stretch/>
        </p:blipFill>
        <p:spPr>
          <a:xfrm>
            <a:off x="711834" y="1529079"/>
            <a:ext cx="9213216" cy="5171731"/>
          </a:xfrm>
          <a:prstGeom prst="rect">
            <a:avLst/>
          </a:prstGeom>
        </p:spPr>
      </p:pic>
    </p:spTree>
    <p:extLst>
      <p:ext uri="{BB962C8B-B14F-4D97-AF65-F5344CB8AC3E}">
        <p14:creationId xmlns:p14="http://schemas.microsoft.com/office/powerpoint/2010/main" val="42519341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AD1EC572-74C9-481C-AD6B-475A69B245C8}"/>
              </a:ext>
            </a:extLst>
          </p:cNvPr>
          <p:cNvSpPr>
            <a:spLocks noGrp="1"/>
          </p:cNvSpPr>
          <p:nvPr>
            <p:ph type="title"/>
          </p:nvPr>
        </p:nvSpPr>
        <p:spPr>
          <a:xfrm>
            <a:off x="554483" y="86677"/>
            <a:ext cx="10515600" cy="1325563"/>
          </a:xfrm>
        </p:spPr>
        <p:txBody>
          <a:bodyPr>
            <a:normAutofit fontScale="90000"/>
          </a:bodyPr>
          <a:lstStyle/>
          <a:p>
            <a:r>
              <a:rPr lang="en-SG" sz="5400" dirty="0"/>
              <a:t>Discounts </a:t>
            </a:r>
            <a:br>
              <a:rPr lang="en-SG" sz="5400" dirty="0"/>
            </a:br>
            <a:r>
              <a:rPr lang="en-SG" sz="4000" dirty="0">
                <a:solidFill>
                  <a:schemeClr val="accent5">
                    <a:lumMod val="75000"/>
                  </a:schemeClr>
                </a:solidFill>
              </a:rPr>
              <a:t>(Sample Automatic Discount)</a:t>
            </a:r>
            <a:endParaRPr lang="en-SG" sz="5400" dirty="0">
              <a:solidFill>
                <a:schemeClr val="accent5">
                  <a:lumMod val="75000"/>
                </a:schemeClr>
              </a:solidFill>
            </a:endParaRPr>
          </a:p>
        </p:txBody>
      </p:sp>
      <p:pic>
        <p:nvPicPr>
          <p:cNvPr id="2" name="Picture 1">
            <a:extLst>
              <a:ext uri="{FF2B5EF4-FFF2-40B4-BE49-F238E27FC236}">
                <a16:creationId xmlns:a16="http://schemas.microsoft.com/office/drawing/2014/main" id="{D89E68CC-E441-4712-8703-0669C6B34DE6}"/>
              </a:ext>
            </a:extLst>
          </p:cNvPr>
          <p:cNvPicPr>
            <a:picLocks noChangeAspect="1"/>
          </p:cNvPicPr>
          <p:nvPr/>
        </p:nvPicPr>
        <p:blipFill rotWithShape="1">
          <a:blip r:embed="rId2"/>
          <a:srcRect l="24140" t="26944" r="8282" b="18472"/>
          <a:stretch/>
        </p:blipFill>
        <p:spPr>
          <a:xfrm>
            <a:off x="638175" y="1557337"/>
            <a:ext cx="10681513" cy="4852988"/>
          </a:xfrm>
          <a:prstGeom prst="rect">
            <a:avLst/>
          </a:prstGeom>
        </p:spPr>
      </p:pic>
    </p:spTree>
    <p:extLst>
      <p:ext uri="{BB962C8B-B14F-4D97-AF65-F5344CB8AC3E}">
        <p14:creationId xmlns:p14="http://schemas.microsoft.com/office/powerpoint/2010/main" val="4273182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AD1EC572-74C9-481C-AD6B-475A69B245C8}"/>
              </a:ext>
            </a:extLst>
          </p:cNvPr>
          <p:cNvSpPr>
            <a:spLocks noGrp="1"/>
          </p:cNvSpPr>
          <p:nvPr>
            <p:ph type="title"/>
          </p:nvPr>
        </p:nvSpPr>
        <p:spPr>
          <a:xfrm>
            <a:off x="554483" y="86677"/>
            <a:ext cx="10515600" cy="1325563"/>
          </a:xfrm>
        </p:spPr>
        <p:txBody>
          <a:bodyPr>
            <a:normAutofit fontScale="90000"/>
          </a:bodyPr>
          <a:lstStyle/>
          <a:p>
            <a:r>
              <a:rPr lang="en-SG" sz="5400" dirty="0"/>
              <a:t>Discounts </a:t>
            </a:r>
            <a:br>
              <a:rPr lang="en-SG" sz="5400" dirty="0"/>
            </a:br>
            <a:r>
              <a:rPr lang="en-SG" sz="4000" dirty="0">
                <a:solidFill>
                  <a:schemeClr val="accent5">
                    <a:lumMod val="75000"/>
                  </a:schemeClr>
                </a:solidFill>
              </a:rPr>
              <a:t>(Sample Automatic Discount)</a:t>
            </a:r>
            <a:endParaRPr lang="en-SG" sz="5400" dirty="0">
              <a:solidFill>
                <a:schemeClr val="accent5">
                  <a:lumMod val="75000"/>
                </a:schemeClr>
              </a:solidFill>
            </a:endParaRPr>
          </a:p>
        </p:txBody>
      </p:sp>
      <p:pic>
        <p:nvPicPr>
          <p:cNvPr id="3" name="Picture 2">
            <a:extLst>
              <a:ext uri="{FF2B5EF4-FFF2-40B4-BE49-F238E27FC236}">
                <a16:creationId xmlns:a16="http://schemas.microsoft.com/office/drawing/2014/main" id="{AF761F5E-3EA4-4A9C-9346-DE65883B0CA4}"/>
              </a:ext>
            </a:extLst>
          </p:cNvPr>
          <p:cNvPicPr>
            <a:picLocks noChangeAspect="1"/>
          </p:cNvPicPr>
          <p:nvPr/>
        </p:nvPicPr>
        <p:blipFill rotWithShape="1">
          <a:blip r:embed="rId2"/>
          <a:srcRect l="3829" t="13750" r="3906" b="9167"/>
          <a:stretch/>
        </p:blipFill>
        <p:spPr>
          <a:xfrm>
            <a:off x="781050" y="1412240"/>
            <a:ext cx="11249025" cy="5286376"/>
          </a:xfrm>
          <a:prstGeom prst="rect">
            <a:avLst/>
          </a:prstGeom>
        </p:spPr>
      </p:pic>
      <p:sp>
        <p:nvSpPr>
          <p:cNvPr id="5" name="Rectangle 4">
            <a:extLst>
              <a:ext uri="{FF2B5EF4-FFF2-40B4-BE49-F238E27FC236}">
                <a16:creationId xmlns:a16="http://schemas.microsoft.com/office/drawing/2014/main" id="{DF85E31A-2524-42AB-87BB-81DA6A7095B9}"/>
              </a:ext>
            </a:extLst>
          </p:cNvPr>
          <p:cNvSpPr/>
          <p:nvPr/>
        </p:nvSpPr>
        <p:spPr>
          <a:xfrm>
            <a:off x="7429500" y="4972051"/>
            <a:ext cx="2943225" cy="857250"/>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6" name="Straight Arrow Connector 5">
            <a:extLst>
              <a:ext uri="{FF2B5EF4-FFF2-40B4-BE49-F238E27FC236}">
                <a16:creationId xmlns:a16="http://schemas.microsoft.com/office/drawing/2014/main" id="{96F7FCF2-EB5E-4F83-9F3E-DE5A206C67EE}"/>
              </a:ext>
            </a:extLst>
          </p:cNvPr>
          <p:cNvCxnSpPr>
            <a:cxnSpLocks/>
          </p:cNvCxnSpPr>
          <p:nvPr/>
        </p:nvCxnSpPr>
        <p:spPr>
          <a:xfrm flipV="1">
            <a:off x="8096250" y="2737803"/>
            <a:ext cx="0" cy="2234248"/>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9F761C3-EFDB-439C-A756-98643C9E448D}"/>
              </a:ext>
            </a:extLst>
          </p:cNvPr>
          <p:cNvSpPr txBox="1"/>
          <p:nvPr/>
        </p:nvSpPr>
        <p:spPr>
          <a:xfrm>
            <a:off x="7429500" y="1583641"/>
            <a:ext cx="3914776" cy="1154162"/>
          </a:xfrm>
          <a:prstGeom prst="rect">
            <a:avLst/>
          </a:prstGeom>
          <a:solidFill>
            <a:schemeClr val="accent4">
              <a:lumMod val="60000"/>
              <a:lumOff val="40000"/>
            </a:schemeClr>
          </a:solidFill>
        </p:spPr>
        <p:txBody>
          <a:bodyPr wrap="square" rtlCol="0">
            <a:spAutoFit/>
          </a:bodyPr>
          <a:lstStyle/>
          <a:p>
            <a:r>
              <a:rPr lang="en-US" sz="2300" dirty="0"/>
              <a:t>The automatic discount is applied in the total amount of the order before checking out.</a:t>
            </a:r>
            <a:endParaRPr lang="en-SG" sz="2300" dirty="0"/>
          </a:p>
        </p:txBody>
      </p:sp>
    </p:spTree>
    <p:extLst>
      <p:ext uri="{BB962C8B-B14F-4D97-AF65-F5344CB8AC3E}">
        <p14:creationId xmlns:p14="http://schemas.microsoft.com/office/powerpoint/2010/main" val="14410347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AD1EC572-74C9-481C-AD6B-475A69B245C8}"/>
              </a:ext>
            </a:extLst>
          </p:cNvPr>
          <p:cNvSpPr>
            <a:spLocks noGrp="1"/>
          </p:cNvSpPr>
          <p:nvPr>
            <p:ph type="title"/>
          </p:nvPr>
        </p:nvSpPr>
        <p:spPr>
          <a:xfrm>
            <a:off x="554483" y="86677"/>
            <a:ext cx="10515600" cy="1325563"/>
          </a:xfrm>
        </p:spPr>
        <p:txBody>
          <a:bodyPr>
            <a:normAutofit/>
          </a:bodyPr>
          <a:lstStyle/>
          <a:p>
            <a:r>
              <a:rPr lang="en-SG" sz="5400" dirty="0"/>
              <a:t>Shopify Apps</a:t>
            </a:r>
            <a:endParaRPr lang="en-SG" sz="5400" dirty="0">
              <a:solidFill>
                <a:schemeClr val="accent5">
                  <a:lumMod val="75000"/>
                </a:schemeClr>
              </a:solidFill>
            </a:endParaRPr>
          </a:p>
        </p:txBody>
      </p:sp>
      <p:pic>
        <p:nvPicPr>
          <p:cNvPr id="3" name="Picture 2">
            <a:extLst>
              <a:ext uri="{FF2B5EF4-FFF2-40B4-BE49-F238E27FC236}">
                <a16:creationId xmlns:a16="http://schemas.microsoft.com/office/drawing/2014/main" id="{7C20A734-7266-4831-821E-349A9FBDC0D2}"/>
              </a:ext>
            </a:extLst>
          </p:cNvPr>
          <p:cNvPicPr>
            <a:picLocks noChangeAspect="1"/>
          </p:cNvPicPr>
          <p:nvPr/>
        </p:nvPicPr>
        <p:blipFill rotWithShape="1">
          <a:blip r:embed="rId2"/>
          <a:srcRect l="24667" t="19556" r="8167" b="34370"/>
          <a:stretch/>
        </p:blipFill>
        <p:spPr>
          <a:xfrm>
            <a:off x="706883" y="1412240"/>
            <a:ext cx="11101834" cy="4283710"/>
          </a:xfrm>
          <a:prstGeom prst="rect">
            <a:avLst/>
          </a:prstGeom>
        </p:spPr>
      </p:pic>
      <p:sp>
        <p:nvSpPr>
          <p:cNvPr id="5" name="TextBox 4">
            <a:extLst>
              <a:ext uri="{FF2B5EF4-FFF2-40B4-BE49-F238E27FC236}">
                <a16:creationId xmlns:a16="http://schemas.microsoft.com/office/drawing/2014/main" id="{6A1F1BB0-B1E2-458C-BB41-FB996AA2014B}"/>
              </a:ext>
            </a:extLst>
          </p:cNvPr>
          <p:cNvSpPr txBox="1"/>
          <p:nvPr/>
        </p:nvSpPr>
        <p:spPr>
          <a:xfrm>
            <a:off x="1148031" y="5853563"/>
            <a:ext cx="10413286" cy="800219"/>
          </a:xfrm>
          <a:prstGeom prst="rect">
            <a:avLst/>
          </a:prstGeom>
          <a:solidFill>
            <a:schemeClr val="accent4">
              <a:lumMod val="60000"/>
              <a:lumOff val="40000"/>
            </a:schemeClr>
          </a:solidFill>
        </p:spPr>
        <p:txBody>
          <a:bodyPr wrap="square" rtlCol="0">
            <a:spAutoFit/>
          </a:bodyPr>
          <a:lstStyle/>
          <a:p>
            <a:r>
              <a:rPr lang="en-US" sz="2300" dirty="0"/>
              <a:t>Available apps in Shopify that you can install for productivity purposes and your business products offerings and services. </a:t>
            </a:r>
            <a:endParaRPr lang="en-SG" sz="2300" dirty="0"/>
          </a:p>
        </p:txBody>
      </p:sp>
    </p:spTree>
    <p:extLst>
      <p:ext uri="{BB962C8B-B14F-4D97-AF65-F5344CB8AC3E}">
        <p14:creationId xmlns:p14="http://schemas.microsoft.com/office/powerpoint/2010/main" val="58947546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AD1EC572-74C9-481C-AD6B-475A69B245C8}"/>
              </a:ext>
            </a:extLst>
          </p:cNvPr>
          <p:cNvSpPr>
            <a:spLocks noGrp="1"/>
          </p:cNvSpPr>
          <p:nvPr>
            <p:ph type="title"/>
          </p:nvPr>
        </p:nvSpPr>
        <p:spPr>
          <a:xfrm>
            <a:off x="554483" y="86677"/>
            <a:ext cx="10515600" cy="1325563"/>
          </a:xfrm>
        </p:spPr>
        <p:txBody>
          <a:bodyPr>
            <a:normAutofit fontScale="90000"/>
          </a:bodyPr>
          <a:lstStyle/>
          <a:p>
            <a:r>
              <a:rPr lang="en-SG" sz="5400" dirty="0"/>
              <a:t>Shopify Apps </a:t>
            </a:r>
            <a:br>
              <a:rPr lang="en-SG" sz="5400" dirty="0"/>
            </a:br>
            <a:r>
              <a:rPr lang="en-SG" sz="4000" dirty="0">
                <a:solidFill>
                  <a:schemeClr val="accent5">
                    <a:lumMod val="75000"/>
                  </a:schemeClr>
                </a:solidFill>
              </a:rPr>
              <a:t>(Product Review App Installed)</a:t>
            </a:r>
          </a:p>
        </p:txBody>
      </p:sp>
      <p:pic>
        <p:nvPicPr>
          <p:cNvPr id="2" name="Picture 1">
            <a:extLst>
              <a:ext uri="{FF2B5EF4-FFF2-40B4-BE49-F238E27FC236}">
                <a16:creationId xmlns:a16="http://schemas.microsoft.com/office/drawing/2014/main" id="{66E7E2E9-A4A3-435E-82D7-089E460CE578}"/>
              </a:ext>
            </a:extLst>
          </p:cNvPr>
          <p:cNvPicPr>
            <a:picLocks noChangeAspect="1"/>
          </p:cNvPicPr>
          <p:nvPr/>
        </p:nvPicPr>
        <p:blipFill rotWithShape="1">
          <a:blip r:embed="rId2"/>
          <a:srcRect l="1417" t="17334" r="42333" b="18667"/>
          <a:stretch/>
        </p:blipFill>
        <p:spPr>
          <a:xfrm>
            <a:off x="1001395" y="1798320"/>
            <a:ext cx="6858000" cy="4389120"/>
          </a:xfrm>
          <a:prstGeom prst="rect">
            <a:avLst/>
          </a:prstGeom>
        </p:spPr>
      </p:pic>
      <p:sp>
        <p:nvSpPr>
          <p:cNvPr id="6" name="TextBox 5">
            <a:extLst>
              <a:ext uri="{FF2B5EF4-FFF2-40B4-BE49-F238E27FC236}">
                <a16:creationId xmlns:a16="http://schemas.microsoft.com/office/drawing/2014/main" id="{91846891-7812-49C9-91FC-302D522779D4}"/>
              </a:ext>
            </a:extLst>
          </p:cNvPr>
          <p:cNvSpPr txBox="1"/>
          <p:nvPr/>
        </p:nvSpPr>
        <p:spPr>
          <a:xfrm>
            <a:off x="8086725" y="3621991"/>
            <a:ext cx="3409950" cy="1508105"/>
          </a:xfrm>
          <a:prstGeom prst="rect">
            <a:avLst/>
          </a:prstGeom>
          <a:solidFill>
            <a:schemeClr val="accent4">
              <a:lumMod val="60000"/>
              <a:lumOff val="40000"/>
            </a:schemeClr>
          </a:solidFill>
        </p:spPr>
        <p:txBody>
          <a:bodyPr wrap="square" rtlCol="0">
            <a:spAutoFit/>
          </a:bodyPr>
          <a:lstStyle/>
          <a:p>
            <a:r>
              <a:rPr lang="en-US" sz="2300" dirty="0"/>
              <a:t>This app allows the customer to give reviews and feedback about the products and services.</a:t>
            </a:r>
            <a:endParaRPr lang="en-SG" sz="2300" dirty="0"/>
          </a:p>
        </p:txBody>
      </p:sp>
    </p:spTree>
    <p:extLst>
      <p:ext uri="{BB962C8B-B14F-4D97-AF65-F5344CB8AC3E}">
        <p14:creationId xmlns:p14="http://schemas.microsoft.com/office/powerpoint/2010/main" val="11244523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AD1EC572-74C9-481C-AD6B-475A69B245C8}"/>
              </a:ext>
            </a:extLst>
          </p:cNvPr>
          <p:cNvSpPr>
            <a:spLocks noGrp="1"/>
          </p:cNvSpPr>
          <p:nvPr>
            <p:ph type="title"/>
          </p:nvPr>
        </p:nvSpPr>
        <p:spPr>
          <a:xfrm>
            <a:off x="554483" y="86677"/>
            <a:ext cx="10515600" cy="1325563"/>
          </a:xfrm>
        </p:spPr>
        <p:txBody>
          <a:bodyPr>
            <a:normAutofit fontScale="90000"/>
          </a:bodyPr>
          <a:lstStyle/>
          <a:p>
            <a:r>
              <a:rPr lang="en-SG" sz="5400" dirty="0"/>
              <a:t>Shopify Apps </a:t>
            </a:r>
            <a:br>
              <a:rPr lang="en-SG" sz="5400" dirty="0"/>
            </a:br>
            <a:r>
              <a:rPr lang="en-SG" sz="4000" dirty="0">
                <a:solidFill>
                  <a:schemeClr val="accent5">
                    <a:lumMod val="75000"/>
                  </a:schemeClr>
                </a:solidFill>
              </a:rPr>
              <a:t>(Product Review App Installed)</a:t>
            </a:r>
          </a:p>
        </p:txBody>
      </p:sp>
      <p:sp>
        <p:nvSpPr>
          <p:cNvPr id="6" name="TextBox 5">
            <a:extLst>
              <a:ext uri="{FF2B5EF4-FFF2-40B4-BE49-F238E27FC236}">
                <a16:creationId xmlns:a16="http://schemas.microsoft.com/office/drawing/2014/main" id="{91846891-7812-49C9-91FC-302D522779D4}"/>
              </a:ext>
            </a:extLst>
          </p:cNvPr>
          <p:cNvSpPr txBox="1"/>
          <p:nvPr/>
        </p:nvSpPr>
        <p:spPr>
          <a:xfrm>
            <a:off x="8086725" y="3619440"/>
            <a:ext cx="3409950" cy="800219"/>
          </a:xfrm>
          <a:prstGeom prst="rect">
            <a:avLst/>
          </a:prstGeom>
          <a:solidFill>
            <a:schemeClr val="accent4">
              <a:lumMod val="60000"/>
              <a:lumOff val="40000"/>
            </a:schemeClr>
          </a:solidFill>
        </p:spPr>
        <p:txBody>
          <a:bodyPr wrap="square" rtlCol="0">
            <a:spAutoFit/>
          </a:bodyPr>
          <a:lstStyle/>
          <a:p>
            <a:r>
              <a:rPr lang="en-US" sz="2300" dirty="0"/>
              <a:t>Install the App to add it in your Shopify site.</a:t>
            </a:r>
            <a:endParaRPr lang="en-SG" sz="2300" dirty="0"/>
          </a:p>
        </p:txBody>
      </p:sp>
      <p:pic>
        <p:nvPicPr>
          <p:cNvPr id="3" name="Picture 2">
            <a:extLst>
              <a:ext uri="{FF2B5EF4-FFF2-40B4-BE49-F238E27FC236}">
                <a16:creationId xmlns:a16="http://schemas.microsoft.com/office/drawing/2014/main" id="{5CF58F3A-12CD-461B-8EEC-A99438F4E482}"/>
              </a:ext>
            </a:extLst>
          </p:cNvPr>
          <p:cNvPicPr>
            <a:picLocks noChangeAspect="1"/>
          </p:cNvPicPr>
          <p:nvPr/>
        </p:nvPicPr>
        <p:blipFill rotWithShape="1">
          <a:blip r:embed="rId2"/>
          <a:srcRect l="32813" t="22223" r="16406" b="6944"/>
          <a:stretch/>
        </p:blipFill>
        <p:spPr>
          <a:xfrm>
            <a:off x="933450" y="1590675"/>
            <a:ext cx="6191250" cy="4857750"/>
          </a:xfrm>
          <a:prstGeom prst="rect">
            <a:avLst/>
          </a:prstGeom>
        </p:spPr>
      </p:pic>
      <p:sp>
        <p:nvSpPr>
          <p:cNvPr id="7" name="Rectangle 6">
            <a:extLst>
              <a:ext uri="{FF2B5EF4-FFF2-40B4-BE49-F238E27FC236}">
                <a16:creationId xmlns:a16="http://schemas.microsoft.com/office/drawing/2014/main" id="{310B2EFC-1683-4689-B182-32A1BD4A7C56}"/>
              </a:ext>
            </a:extLst>
          </p:cNvPr>
          <p:cNvSpPr/>
          <p:nvPr/>
        </p:nvSpPr>
        <p:spPr>
          <a:xfrm>
            <a:off x="5886450" y="5914073"/>
            <a:ext cx="1238250" cy="639127"/>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 name="Straight Arrow Connector 7">
            <a:extLst>
              <a:ext uri="{FF2B5EF4-FFF2-40B4-BE49-F238E27FC236}">
                <a16:creationId xmlns:a16="http://schemas.microsoft.com/office/drawing/2014/main" id="{9C4EB9F8-971D-44D2-9949-553218F858B3}"/>
              </a:ext>
            </a:extLst>
          </p:cNvPr>
          <p:cNvCxnSpPr>
            <a:cxnSpLocks/>
            <a:endCxn id="6" idx="1"/>
          </p:cNvCxnSpPr>
          <p:nvPr/>
        </p:nvCxnSpPr>
        <p:spPr>
          <a:xfrm flipV="1">
            <a:off x="6572250" y="4019550"/>
            <a:ext cx="1514475" cy="1894524"/>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059517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AD1EC572-74C9-481C-AD6B-475A69B245C8}"/>
              </a:ext>
            </a:extLst>
          </p:cNvPr>
          <p:cNvSpPr>
            <a:spLocks noGrp="1"/>
          </p:cNvSpPr>
          <p:nvPr>
            <p:ph type="title"/>
          </p:nvPr>
        </p:nvSpPr>
        <p:spPr>
          <a:xfrm>
            <a:off x="554483" y="86677"/>
            <a:ext cx="10515600" cy="1325563"/>
          </a:xfrm>
        </p:spPr>
        <p:txBody>
          <a:bodyPr>
            <a:normAutofit fontScale="90000"/>
          </a:bodyPr>
          <a:lstStyle/>
          <a:p>
            <a:r>
              <a:rPr lang="en-SG" sz="5400" dirty="0"/>
              <a:t>Shopify Apps </a:t>
            </a:r>
            <a:br>
              <a:rPr lang="en-SG" sz="5400" dirty="0"/>
            </a:br>
            <a:r>
              <a:rPr lang="en-SG" sz="4000" dirty="0">
                <a:solidFill>
                  <a:schemeClr val="accent5">
                    <a:lumMod val="75000"/>
                  </a:schemeClr>
                </a:solidFill>
              </a:rPr>
              <a:t>(Product Review App Installed)</a:t>
            </a:r>
          </a:p>
        </p:txBody>
      </p:sp>
      <p:pic>
        <p:nvPicPr>
          <p:cNvPr id="2" name="Picture 1">
            <a:extLst>
              <a:ext uri="{FF2B5EF4-FFF2-40B4-BE49-F238E27FC236}">
                <a16:creationId xmlns:a16="http://schemas.microsoft.com/office/drawing/2014/main" id="{C3E6F68B-A168-41F1-9E2E-784859034ED6}"/>
              </a:ext>
            </a:extLst>
          </p:cNvPr>
          <p:cNvPicPr>
            <a:picLocks noChangeAspect="1"/>
          </p:cNvPicPr>
          <p:nvPr/>
        </p:nvPicPr>
        <p:blipFill rotWithShape="1">
          <a:blip r:embed="rId2"/>
          <a:srcRect l="17583" t="18370" r="1833" b="27408"/>
          <a:stretch/>
        </p:blipFill>
        <p:spPr>
          <a:xfrm>
            <a:off x="842773" y="1583690"/>
            <a:ext cx="10737594" cy="4064074"/>
          </a:xfrm>
          <a:prstGeom prst="rect">
            <a:avLst/>
          </a:prstGeom>
        </p:spPr>
      </p:pic>
      <p:sp>
        <p:nvSpPr>
          <p:cNvPr id="9" name="TextBox 8">
            <a:extLst>
              <a:ext uri="{FF2B5EF4-FFF2-40B4-BE49-F238E27FC236}">
                <a16:creationId xmlns:a16="http://schemas.microsoft.com/office/drawing/2014/main" id="{CB896675-091C-427F-A123-BC4E27D8EA4A}"/>
              </a:ext>
            </a:extLst>
          </p:cNvPr>
          <p:cNvSpPr txBox="1"/>
          <p:nvPr/>
        </p:nvSpPr>
        <p:spPr>
          <a:xfrm>
            <a:off x="1352549" y="5819214"/>
            <a:ext cx="9934575" cy="446276"/>
          </a:xfrm>
          <a:prstGeom prst="rect">
            <a:avLst/>
          </a:prstGeom>
          <a:solidFill>
            <a:schemeClr val="accent4">
              <a:lumMod val="60000"/>
              <a:lumOff val="40000"/>
            </a:schemeClr>
          </a:solidFill>
        </p:spPr>
        <p:txBody>
          <a:bodyPr wrap="square" rtlCol="0">
            <a:spAutoFit/>
          </a:bodyPr>
          <a:lstStyle/>
          <a:p>
            <a:r>
              <a:rPr lang="en-US" sz="2300" dirty="0"/>
              <a:t>List all the reviews from the customers of the Shopify site. </a:t>
            </a:r>
            <a:endParaRPr lang="en-SG" sz="2300" dirty="0"/>
          </a:p>
        </p:txBody>
      </p:sp>
    </p:spTree>
    <p:extLst>
      <p:ext uri="{BB962C8B-B14F-4D97-AF65-F5344CB8AC3E}">
        <p14:creationId xmlns:p14="http://schemas.microsoft.com/office/powerpoint/2010/main" val="355580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AD1EC572-74C9-481C-AD6B-475A69B245C8}"/>
              </a:ext>
            </a:extLst>
          </p:cNvPr>
          <p:cNvSpPr>
            <a:spLocks noGrp="1"/>
          </p:cNvSpPr>
          <p:nvPr>
            <p:ph type="title"/>
          </p:nvPr>
        </p:nvSpPr>
        <p:spPr>
          <a:xfrm>
            <a:off x="554483" y="86677"/>
            <a:ext cx="10515600" cy="1325563"/>
          </a:xfrm>
        </p:spPr>
        <p:txBody>
          <a:bodyPr>
            <a:normAutofit fontScale="90000"/>
          </a:bodyPr>
          <a:lstStyle/>
          <a:p>
            <a:r>
              <a:rPr lang="en-SG" sz="5400" dirty="0"/>
              <a:t>Shopify Apps </a:t>
            </a:r>
            <a:br>
              <a:rPr lang="en-SG" sz="5400" dirty="0"/>
            </a:br>
            <a:r>
              <a:rPr lang="en-SG" sz="4000" dirty="0">
                <a:solidFill>
                  <a:schemeClr val="accent5">
                    <a:lumMod val="75000"/>
                  </a:schemeClr>
                </a:solidFill>
              </a:rPr>
              <a:t>(Product Review App Installed)</a:t>
            </a:r>
          </a:p>
        </p:txBody>
      </p:sp>
      <p:pic>
        <p:nvPicPr>
          <p:cNvPr id="3" name="Picture 2">
            <a:extLst>
              <a:ext uri="{FF2B5EF4-FFF2-40B4-BE49-F238E27FC236}">
                <a16:creationId xmlns:a16="http://schemas.microsoft.com/office/drawing/2014/main" id="{A8C36814-4F3C-4F72-B0A2-20D87701A861}"/>
              </a:ext>
            </a:extLst>
          </p:cNvPr>
          <p:cNvPicPr>
            <a:picLocks noChangeAspect="1"/>
          </p:cNvPicPr>
          <p:nvPr/>
        </p:nvPicPr>
        <p:blipFill rotWithShape="1">
          <a:blip r:embed="rId2"/>
          <a:srcRect l="48000" t="14074" r="10167" b="18667"/>
          <a:stretch/>
        </p:blipFill>
        <p:spPr>
          <a:xfrm>
            <a:off x="718441" y="1336040"/>
            <a:ext cx="5545434" cy="5015193"/>
          </a:xfrm>
          <a:prstGeom prst="rect">
            <a:avLst/>
          </a:prstGeom>
        </p:spPr>
      </p:pic>
      <p:pic>
        <p:nvPicPr>
          <p:cNvPr id="4" name="Picture 3">
            <a:extLst>
              <a:ext uri="{FF2B5EF4-FFF2-40B4-BE49-F238E27FC236}">
                <a16:creationId xmlns:a16="http://schemas.microsoft.com/office/drawing/2014/main" id="{5BDEA8FD-7694-4206-9ECD-677F8B755523}"/>
              </a:ext>
            </a:extLst>
          </p:cNvPr>
          <p:cNvPicPr>
            <a:picLocks noChangeAspect="1"/>
          </p:cNvPicPr>
          <p:nvPr/>
        </p:nvPicPr>
        <p:blipFill rotWithShape="1">
          <a:blip r:embed="rId3"/>
          <a:srcRect l="49383" t="10288" r="17515" b="11249"/>
          <a:stretch/>
        </p:blipFill>
        <p:spPr>
          <a:xfrm>
            <a:off x="7359273" y="909177"/>
            <a:ext cx="4396610" cy="5862146"/>
          </a:xfrm>
          <a:prstGeom prst="rect">
            <a:avLst/>
          </a:prstGeom>
        </p:spPr>
      </p:pic>
      <p:sp>
        <p:nvSpPr>
          <p:cNvPr id="7" name="Rectangle 6">
            <a:extLst>
              <a:ext uri="{FF2B5EF4-FFF2-40B4-BE49-F238E27FC236}">
                <a16:creationId xmlns:a16="http://schemas.microsoft.com/office/drawing/2014/main" id="{6A02F866-B809-40FD-B607-FEC6E62BF310}"/>
              </a:ext>
            </a:extLst>
          </p:cNvPr>
          <p:cNvSpPr/>
          <p:nvPr/>
        </p:nvSpPr>
        <p:spPr>
          <a:xfrm>
            <a:off x="4783094" y="5202396"/>
            <a:ext cx="1238250" cy="639127"/>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 name="Straight Arrow Connector 7">
            <a:extLst>
              <a:ext uri="{FF2B5EF4-FFF2-40B4-BE49-F238E27FC236}">
                <a16:creationId xmlns:a16="http://schemas.microsoft.com/office/drawing/2014/main" id="{83CC8328-423A-48EB-93CC-5D6940FD82E8}"/>
              </a:ext>
            </a:extLst>
          </p:cNvPr>
          <p:cNvCxnSpPr>
            <a:cxnSpLocks/>
          </p:cNvCxnSpPr>
          <p:nvPr/>
        </p:nvCxnSpPr>
        <p:spPr>
          <a:xfrm flipV="1">
            <a:off x="5468894" y="3667125"/>
            <a:ext cx="2027281" cy="1535272"/>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951259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9.7</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9.7</a:t>
            </a:r>
          </a:p>
        </p:txBody>
      </p:sp>
    </p:spTree>
    <p:extLst>
      <p:ext uri="{BB962C8B-B14F-4D97-AF65-F5344CB8AC3E}">
        <p14:creationId xmlns:p14="http://schemas.microsoft.com/office/powerpoint/2010/main" val="42516249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normAutofit fontScale="90000"/>
          </a:bodyPr>
          <a:lstStyle/>
          <a:p>
            <a:r>
              <a:rPr lang="en-SG" sz="4900" b="1" u="sng" dirty="0"/>
              <a:t>Portfolio</a:t>
            </a:r>
            <a:r>
              <a:rPr lang="en-SG" sz="4900" dirty="0"/>
              <a:t> – </a:t>
            </a:r>
            <a:r>
              <a:rPr lang="en-US" sz="4900" dirty="0"/>
              <a:t>Other Shopify Settings, </a:t>
            </a:r>
            <a:br>
              <a:rPr lang="en-US" sz="4900" dirty="0"/>
            </a:br>
            <a:r>
              <a:rPr lang="en-US" sz="4900" dirty="0"/>
              <a:t>Configuration and Customization</a:t>
            </a:r>
            <a:br>
              <a:rPr lang="en-SG" dirty="0"/>
            </a:br>
            <a:endParaRPr lang="en-SG" dirty="0"/>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normAutofit fontScale="92500"/>
          </a:bodyPr>
          <a:lstStyle/>
          <a:p>
            <a:pPr marL="0" indent="0">
              <a:buNone/>
            </a:pPr>
            <a:r>
              <a:rPr lang="en-SG" dirty="0"/>
              <a:t>The contents of your portfolio for this lesson are the following:</a:t>
            </a:r>
          </a:p>
          <a:p>
            <a:pPr marL="0" indent="0">
              <a:buNone/>
            </a:pPr>
            <a:endParaRPr lang="en-SG" dirty="0"/>
          </a:p>
          <a:p>
            <a:r>
              <a:rPr lang="en-SG" dirty="0"/>
              <a:t>Two collections and added as the sub-menu of the products categories</a:t>
            </a:r>
          </a:p>
          <a:p>
            <a:r>
              <a:rPr lang="en-SG" dirty="0"/>
              <a:t>Three blogs and one of the blogs is featured in the Home page</a:t>
            </a:r>
          </a:p>
          <a:p>
            <a:r>
              <a:rPr lang="en-SG" dirty="0"/>
              <a:t>Configured other Shopify Settings (E.g. Shipping, Payments &amp; etc.)</a:t>
            </a:r>
          </a:p>
          <a:p>
            <a:r>
              <a:rPr lang="en-SG" dirty="0"/>
              <a:t> Fulfilled two sets of orders and perform checkout to simulate if transactions are successful or failed.</a:t>
            </a:r>
          </a:p>
          <a:p>
            <a:pPr lvl="0"/>
            <a:r>
              <a:rPr lang="en-SG" dirty="0"/>
              <a:t>Created an Automatic discount </a:t>
            </a:r>
          </a:p>
          <a:p>
            <a:pPr lvl="0"/>
            <a:r>
              <a:rPr lang="en-SG" dirty="0"/>
              <a:t>Installed one free app (E.g. Product Reviews, Order Printer &amp; etc.)</a:t>
            </a:r>
          </a:p>
          <a:p>
            <a:endParaRPr lang="en-SG" dirty="0"/>
          </a:p>
          <a:p>
            <a:pPr marL="0" indent="0">
              <a:buNone/>
            </a:pPr>
            <a:endParaRPr lang="en-SG" dirty="0"/>
          </a:p>
          <a:p>
            <a:pPr lvl="0"/>
            <a:endParaRPr lang="en-SG" dirty="0"/>
          </a:p>
        </p:txBody>
      </p:sp>
    </p:spTree>
    <p:extLst>
      <p:ext uri="{BB962C8B-B14F-4D97-AF65-F5344CB8AC3E}">
        <p14:creationId xmlns:p14="http://schemas.microsoft.com/office/powerpoint/2010/main" val="20538166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858</TotalTime>
  <Words>2664</Words>
  <Application>Microsoft Office PowerPoint</Application>
  <PresentationFormat>Widescreen</PresentationFormat>
  <Paragraphs>227</Paragraphs>
  <Slides>77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77</vt:i4>
      </vt:variant>
    </vt:vector>
  </HeadingPairs>
  <TitlesOfParts>
    <vt:vector size="82" baseType="lpstr">
      <vt:lpstr>Abadi</vt:lpstr>
      <vt:lpstr>Arial</vt:lpstr>
      <vt:lpstr>Calibri</vt:lpstr>
      <vt:lpstr>Calibri Light</vt:lpstr>
      <vt:lpstr>Office Theme</vt:lpstr>
      <vt:lpstr>Digital Business and               E-Commerce Management</vt:lpstr>
      <vt:lpstr>Setting a Shopify Site (B2C) Part 3</vt:lpstr>
      <vt:lpstr>Activity 9.1</vt:lpstr>
      <vt:lpstr>Manage Products 1 – Collections</vt:lpstr>
      <vt:lpstr>Manage Products 1 – Collections</vt:lpstr>
      <vt:lpstr>Manage Products 2 – Transfers </vt:lpstr>
      <vt:lpstr>Manage Products 3 – Inventory </vt:lpstr>
      <vt:lpstr>Manage Products 4 – Gift Cards</vt:lpstr>
      <vt:lpstr>Manage Blogs</vt:lpstr>
      <vt:lpstr>Activity 9.2</vt:lpstr>
      <vt:lpstr>Other Shopify Settings 1 - Shipping</vt:lpstr>
      <vt:lpstr>Other Shopify Settings 1 - Shipping</vt:lpstr>
      <vt:lpstr>Other Shopify Settings 1 – Shipping (Editing Zone)</vt:lpstr>
      <vt:lpstr>Other Shopify Settings 1 – Shipping (Editing Zone)</vt:lpstr>
      <vt:lpstr>Other Shopify Settings 1 – Shipping (Editing Rate)</vt:lpstr>
      <vt:lpstr>Other Shopify Settings 1 – Shipping (Editing Rate)</vt:lpstr>
      <vt:lpstr>Other Shopify Settings 1 – Shipping (Packages)</vt:lpstr>
      <vt:lpstr>Other Shopify Settings 1 – Shipping (Packing Slip Customization)</vt:lpstr>
      <vt:lpstr>Other Shopify Settings 1 – Shipping (Packing Slip Customization)</vt:lpstr>
      <vt:lpstr>Other Shopify Settings 1 – Shipping (Packing Slip Customization)</vt:lpstr>
      <vt:lpstr>Other Shopify Settings 1 – Shipping (Packing Slip Customization)</vt:lpstr>
      <vt:lpstr>Other Shopify Settings 1 – Shipping (Packing Slip Customization)</vt:lpstr>
      <vt:lpstr>Other Shopify Settings 1 – Shipping (Packing Slip Customization)</vt:lpstr>
      <vt:lpstr>Activity 9.3</vt:lpstr>
      <vt:lpstr>Other Shopify Settings 2 – Payment Providers</vt:lpstr>
      <vt:lpstr>Other Shopify Settings 2 – Payment Providers</vt:lpstr>
      <vt:lpstr>Other Shopify Settings 2 – Payment Providers</vt:lpstr>
      <vt:lpstr>Other Shopify Settings 2 – Payment Providers (Account Payment Setup)</vt:lpstr>
      <vt:lpstr>Other Shopify Settings 2 – Payment Providers (Account Payment Setup)</vt:lpstr>
      <vt:lpstr>Other Shopify Settings 2 – Payment Providers (Account Payment Setup)</vt:lpstr>
      <vt:lpstr>Other Shopify Settings 2 – Payment Providers (PayPal Complete Setup)</vt:lpstr>
      <vt:lpstr>Other Shopify Settings 2 – Payment Providers (PayPal Complete Setup)</vt:lpstr>
      <vt:lpstr>Other Shopify Settings 2 – Payment Providers (Alternative Payment Methods)</vt:lpstr>
      <vt:lpstr>Other Shopify Settings 2 – Payment Providers (Manual Payment Methods)</vt:lpstr>
      <vt:lpstr>Other Shopify Settings 2 – Payment Providers (Payment Capture)</vt:lpstr>
      <vt:lpstr>Activity 9.4</vt:lpstr>
      <vt:lpstr>Other Shopify Settings 3 – Checkout </vt:lpstr>
      <vt:lpstr>Other Shopify Settings 3 – Checkout </vt:lpstr>
      <vt:lpstr>Other Shopify Settings 3 – Checkout </vt:lpstr>
      <vt:lpstr>Other Shopify Settings 3 – Checkout (Customer Accounts)</vt:lpstr>
      <vt:lpstr>Other Shopify Settings 3 – Checkout (Customer Accounts)</vt:lpstr>
      <vt:lpstr>Other Shopify Settings 3 – Checkout (Form Options)</vt:lpstr>
      <vt:lpstr>Other Shopify Settings 3 – Checkout (Order Processing)</vt:lpstr>
      <vt:lpstr>Other Shopify Settings 3 – Checkout (Order Testing and Checkout)</vt:lpstr>
      <vt:lpstr>Other Shopify Settings 3 – Checkout (Order Testing and Checkout)</vt:lpstr>
      <vt:lpstr>Other Shopify Settings 3 – Checkout (Order Testing and Checkout)</vt:lpstr>
      <vt:lpstr>Other Shopify Settings 3 – Checkout (Order Testing and Checkout)</vt:lpstr>
      <vt:lpstr>Other Shopify Settings 4 – Taxes</vt:lpstr>
      <vt:lpstr>Other Shopify Settings 5 – Locations</vt:lpstr>
      <vt:lpstr>Other Shopify Settings 6 – Gift Cards</vt:lpstr>
      <vt:lpstr>Other Shopify Settings 7 – Notifications</vt:lpstr>
      <vt:lpstr>Other Shopify Settings 8 – Sales Channel</vt:lpstr>
      <vt:lpstr>Other Shopify Settings 9 – Plan and Permission</vt:lpstr>
      <vt:lpstr>Other Shopify Settings 9 – Plan and Permission</vt:lpstr>
      <vt:lpstr>Activity 9.5</vt:lpstr>
      <vt:lpstr>Manage Orders</vt:lpstr>
      <vt:lpstr>PowerPoint Presentation</vt:lpstr>
      <vt:lpstr>PowerPoint Presentation</vt:lpstr>
      <vt:lpstr>Manage Orders</vt:lpstr>
      <vt:lpstr>Manage Orders</vt:lpstr>
      <vt:lpstr>Manage Orders</vt:lpstr>
      <vt:lpstr>Activity 9.6</vt:lpstr>
      <vt:lpstr>Manage Customers</vt:lpstr>
      <vt:lpstr>Shopify Analytics</vt:lpstr>
      <vt:lpstr>Marketing</vt:lpstr>
      <vt:lpstr>Discounts</vt:lpstr>
      <vt:lpstr>Discounts  (Sample Automatic Discount)</vt:lpstr>
      <vt:lpstr>Discounts  (Sample Automatic Discount)</vt:lpstr>
      <vt:lpstr>Discounts  (Sample Automatic Discount)</vt:lpstr>
      <vt:lpstr>Discounts  (Sample Automatic Discount)</vt:lpstr>
      <vt:lpstr>Shopify Apps</vt:lpstr>
      <vt:lpstr>Shopify Apps  (Product Review App Installed)</vt:lpstr>
      <vt:lpstr>Shopify Apps  (Product Review App Installed)</vt:lpstr>
      <vt:lpstr>Shopify Apps  (Product Review App Installed)</vt:lpstr>
      <vt:lpstr>Shopify Apps  (Product Review App Installed)</vt:lpstr>
      <vt:lpstr>Activity 9.7</vt:lpstr>
      <vt:lpstr>Portfolio – Other Shopify Settings,  Configuration and Customization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Mathematics</dc:title>
  <dc:creator>Tony Toe</dc:creator>
  <cp:lastModifiedBy>Marie Chris Soque</cp:lastModifiedBy>
  <cp:revision>464</cp:revision>
  <dcterms:created xsi:type="dcterms:W3CDTF">2018-11-07T03:41:37Z</dcterms:created>
  <dcterms:modified xsi:type="dcterms:W3CDTF">2020-04-16T07:38:43Z</dcterms:modified>
</cp:coreProperties>
</file>